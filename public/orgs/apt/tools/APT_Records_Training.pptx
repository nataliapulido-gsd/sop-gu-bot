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3716000" cy="7715250"/>
  <p:notesSz cx="7715250" cy="13716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slideLayout" Target="../slideLayouts/slideLayout1.xml"/><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2.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2.png"/><Relationship Id="rId9" Type="http://schemas.openxmlformats.org/officeDocument/2006/relationships/image" Target="../media/image-3-9.png"/><Relationship Id="rId10" Type="http://schemas.openxmlformats.org/officeDocument/2006/relationships/image" Target="../media/image-3-6.png"/><Relationship Id="rId11" Type="http://schemas.openxmlformats.org/officeDocument/2006/relationships/image" Target="../media/image-3-3.png"/><Relationship Id="rId12" Type="http://schemas.openxmlformats.org/officeDocument/2006/relationships/slideLayout" Target="../slideLayouts/slideLayout1.xml"/><Relationship Id="rId1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2.png"/><Relationship Id="rId4" Type="http://schemas.openxmlformats.org/officeDocument/2006/relationships/image" Target="../media/image-4-2.png"/><Relationship Id="rId5" Type="http://schemas.openxmlformats.org/officeDocument/2006/relationships/image" Target="../media/image-4-2.png"/><Relationship Id="rId6" Type="http://schemas.openxmlformats.org/officeDocument/2006/relationships/image" Target="../media/image-4-2.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1.png"/><Relationship Id="rId3" Type="http://schemas.openxmlformats.org/officeDocument/2006/relationships/image" Target="../media/image-6-3.png"/><Relationship Id="rId4" Type="http://schemas.openxmlformats.org/officeDocument/2006/relationships/image" Target="../media/image-6-1.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3.png"/><Relationship Id="rId5" Type="http://schemas.openxmlformats.org/officeDocument/2006/relationships/image" Target="../media/image-7-3.png"/><Relationship Id="rId6" Type="http://schemas.openxmlformats.org/officeDocument/2006/relationships/image" Target="../media/image-7-3.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slideLayout" Target="../slideLayouts/slideLayout1.xml"/><Relationship Id="rId11"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4.pn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1.png"/><Relationship Id="rId3" Type="http://schemas.openxmlformats.org/officeDocument/2006/relationships/image" Target="../media/image-9-1.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4.png"/><Relationship Id="rId6" Type="http://schemas.openxmlformats.org/officeDocument/2006/relationships/image" Target="../media/image-11-4.png"/><Relationship Id="rId7" Type="http://schemas.openxmlformats.org/officeDocument/2006/relationships/slideLayout" Target="../slideLayouts/slideLayout1.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1.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e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7F2"/>
        </a:solidFill>
      </p:bgPr>
    </p:bg>
    <p:spTree>
      <p:nvGrpSpPr>
        <p:cNvPr id="1" name=""/>
        <p:cNvGrpSpPr/>
        <p:nvPr/>
      </p:nvGrpSpPr>
      <p:grpSpPr>
        <a:xfrm>
          <a:off x="0" y="0"/>
          <a:ext cx="0" cy="0"/>
          <a:chOff x="0" y="0"/>
          <a:chExt cx="0" cy="0"/>
        </a:xfrm>
      </p:grpSpPr>
      <p:pic>
        <p:nvPicPr>
          <p:cNvPr id="2" name="Image 0" descr="gen-dedup-83931f10b62b61724ab919b4c028db2a.png">    </p:cNvPr>
          <p:cNvPicPr>
            <a:picLocks noChangeAspect="1"/>
          </p:cNvPicPr>
          <p:nvPr/>
        </p:nvPicPr>
        <p:blipFill>
          <a:blip r:embed="rId1">
            <a:alphaModFix amt="60000"/>
          </a:blip>
          <a:srcRect l="0" r="0" t="0" b="0"/>
          <a:stretch/>
        </p:blipFill>
        <p:spPr>
          <a:xfrm>
            <a:off x="-2857500" y="-2476195"/>
            <a:ext cx="7429500" cy="7429500"/>
          </a:xfrm>
          <a:prstGeom prst="rect">
            <a:avLst/>
          </a:prstGeom>
        </p:spPr>
      </p:pic>
      <p:pic>
        <p:nvPicPr>
          <p:cNvPr id="3" name="Image 1" descr="gen-dedup-db85a298612bcb47d57b110eafaeeb75.png">    </p:cNvPr>
          <p:cNvPicPr>
            <a:picLocks noChangeAspect="1"/>
          </p:cNvPicPr>
          <p:nvPr/>
        </p:nvPicPr>
        <p:blipFill>
          <a:blip r:embed="rId2">
            <a:alphaModFix amt="55000"/>
          </a:blip>
          <a:srcRect l="0" r="0" t="0" b="0"/>
          <a:stretch/>
        </p:blipFill>
        <p:spPr>
          <a:xfrm>
            <a:off x="9714586" y="3905402"/>
            <a:ext cx="6095390" cy="6095390"/>
          </a:xfrm>
          <a:prstGeom prst="rect">
            <a:avLst/>
          </a:prstGeom>
        </p:spPr>
      </p:pic>
      <p:pic>
        <p:nvPicPr>
          <p:cNvPr id="4" name="Image 2" descr="gen-dedup-6e497a0294d159add614998f06c11b1f.png">    </p:cNvPr>
          <p:cNvPicPr>
            <a:picLocks noChangeAspect="1"/>
          </p:cNvPicPr>
          <p:nvPr/>
        </p:nvPicPr>
        <p:blipFill>
          <a:blip r:embed="rId3"/>
          <a:srcRect l="-80" r="-80" t="0" b="0"/>
          <a:stretch/>
        </p:blipFill>
        <p:spPr>
          <a:xfrm>
            <a:off x="1143000" y="1695298"/>
            <a:ext cx="571500" cy="47549"/>
          </a:xfrm>
          <a:prstGeom prst="rect">
            <a:avLst/>
          </a:prstGeom>
        </p:spPr>
      </p:pic>
      <p:pic>
        <p:nvPicPr>
          <p:cNvPr id="5" name="Image 3" descr="gen-dedup-4a395f5e3454ded10f1b49ac4acc0e35.png">    </p:cNvPr>
          <p:cNvPicPr>
            <a:picLocks noChangeAspect="1"/>
          </p:cNvPicPr>
          <p:nvPr/>
        </p:nvPicPr>
        <p:blipFill>
          <a:blip r:embed="rId4"/>
          <a:srcRect l="0" r="0" t="-12" b="-12"/>
          <a:stretch/>
        </p:blipFill>
        <p:spPr>
          <a:xfrm>
            <a:off x="9619488" y="1238098"/>
            <a:ext cx="3142793" cy="1619402"/>
          </a:xfrm>
          <a:prstGeom prst="rect">
            <a:avLst/>
          </a:prstGeom>
        </p:spPr>
      </p:pic>
      <p:sp>
        <p:nvSpPr>
          <p:cNvPr id="6" name="Text 0"/>
          <p:cNvSpPr txBox="1"/>
          <p:nvPr/>
        </p:nvSpPr>
        <p:spPr>
          <a:xfrm>
            <a:off x="9848088" y="1447495"/>
            <a:ext cx="2686507" cy="143561"/>
          </a:xfrm>
          <a:prstGeom prst="rect">
            <a:avLst/>
          </a:prstGeom>
          <a:noFill/>
          <a:ln/>
        </p:spPr>
        <p:txBody>
          <a:bodyPr wrap="none" lIns="0" tIns="0" rIns="0" bIns="0" rtlCol="0" anchor="ctr"/>
          <a:lstStyle/>
          <a:p>
            <a:pPr algn="l" indent="0" marL="0">
              <a:buNone/>
            </a:pPr>
            <a:r>
              <a:rPr lang="en-US" sz="825" b="1" spc="165" kern="0" dirty="0">
                <a:solidFill>
                  <a:srgbClr val="4B7FC2"/>
                </a:solidFill>
                <a:latin typeface="Nunito" pitchFamily="34" charset="0"/>
                <a:ea typeface="Nunito" pitchFamily="34" charset="-122"/>
                <a:cs typeface="Nunito" pitchFamily="34" charset="-120"/>
              </a:rPr>
              <a:t>What is this?</a:t>
            </a:r>
            <a:endParaRPr lang="en-US" sz="825" dirty="0"/>
          </a:p>
        </p:txBody>
      </p:sp>
      <p:sp>
        <p:nvSpPr>
          <p:cNvPr id="7" name="Text 1"/>
          <p:cNvSpPr txBox="1"/>
          <p:nvPr/>
        </p:nvSpPr>
        <p:spPr>
          <a:xfrm>
            <a:off x="9848088" y="1666951"/>
            <a:ext cx="2686507" cy="438912"/>
          </a:xfrm>
          <a:prstGeom prst="rect">
            <a:avLst/>
          </a:prstGeom>
          <a:noFill/>
          <a:ln/>
        </p:spPr>
        <p:txBody>
          <a:bodyPr wrap="square" lIns="0" tIns="0" rIns="0" bIns="0" rtlCol="0" anchor="ctr"/>
          <a:lstStyle/>
          <a:p>
            <a:pPr algn="l" indent="0" marL="0">
              <a:lnSpc>
                <a:spcPct val="120000"/>
              </a:lnSpc>
              <a:buNone/>
            </a:pPr>
            <a:r>
              <a:rPr lang="en-US" sz="1425" b="1" dirty="0">
                <a:solidFill>
                  <a:srgbClr val="2C4252"/>
                </a:solidFill>
                <a:latin typeface="Nunito" pitchFamily="34" charset="0"/>
                <a:ea typeface="Nunito" pitchFamily="34" charset="-122"/>
                <a:cs typeface="Nunito" pitchFamily="34" charset="-120"/>
              </a:rPr>
              <a:t>A simple follow-up process built around your log.</a:t>
            </a:r>
            <a:endParaRPr lang="en-US" sz="1425" dirty="0"/>
          </a:p>
        </p:txBody>
      </p:sp>
      <p:sp>
        <p:nvSpPr>
          <p:cNvPr id="8" name="Text 2"/>
          <p:cNvSpPr txBox="1"/>
          <p:nvPr/>
        </p:nvSpPr>
        <p:spPr>
          <a:xfrm>
            <a:off x="9848088" y="2157984"/>
            <a:ext cx="2686507" cy="171907"/>
          </a:xfrm>
          <a:prstGeom prst="rect">
            <a:avLst/>
          </a:prstGeom>
          <a:noFill/>
          <a:ln/>
        </p:spPr>
        <p:txBody>
          <a:bodyPr wrap="none" lIns="0" tIns="0" rIns="0" bIns="0" rtlCol="0" anchor="ctr"/>
          <a:lstStyle/>
          <a:p>
            <a:pPr algn="l" indent="0" marL="0">
              <a:buNone/>
            </a:pPr>
            <a:r>
              <a:rPr lang="en-US" sz="937" dirty="0">
                <a:solidFill>
                  <a:srgbClr val="5C6F7E"/>
                </a:solidFill>
                <a:latin typeface="Quicksand" pitchFamily="34" charset="0"/>
                <a:ea typeface="Quicksand" pitchFamily="34" charset="-122"/>
                <a:cs typeface="Quicksand" pitchFamily="34" charset="-120"/>
              </a:rPr>
              <a:t>The Hospital / Urgent Care 2025 log.</a:t>
            </a:r>
            <a:endParaRPr lang="en-US" sz="937" dirty="0"/>
          </a:p>
        </p:txBody>
      </p:sp>
      <p:pic>
        <p:nvPicPr>
          <p:cNvPr id="9" name="Image 4" descr="gen-dedup-77d048796bd907c5d86444b7d1306b0a.png">    </p:cNvPr>
          <p:cNvPicPr>
            <a:picLocks noChangeAspect="1"/>
          </p:cNvPicPr>
          <p:nvPr/>
        </p:nvPicPr>
        <p:blipFill>
          <a:blip r:embed="rId5"/>
          <a:srcRect l="0" r="0" t="-11" b="-11"/>
          <a:stretch/>
        </p:blipFill>
        <p:spPr>
          <a:xfrm>
            <a:off x="9619488" y="3142793"/>
            <a:ext cx="3142793" cy="2190902"/>
          </a:xfrm>
          <a:prstGeom prst="rect">
            <a:avLst/>
          </a:prstGeom>
        </p:spPr>
      </p:pic>
      <p:sp>
        <p:nvSpPr>
          <p:cNvPr id="10" name="Text 3"/>
          <p:cNvSpPr txBox="1"/>
          <p:nvPr/>
        </p:nvSpPr>
        <p:spPr>
          <a:xfrm>
            <a:off x="9848088" y="3352190"/>
            <a:ext cx="1295705" cy="324612"/>
          </a:xfrm>
          <a:prstGeom prst="rect">
            <a:avLst/>
          </a:prstGeom>
          <a:noFill/>
          <a:ln/>
        </p:spPr>
        <p:txBody>
          <a:bodyPr wrap="none" lIns="0" tIns="0" rIns="0" bIns="0" rtlCol="0" anchor="ctr"/>
          <a:lstStyle/>
          <a:p>
            <a:pPr algn="l" indent="0" marL="0">
              <a:buNone/>
            </a:pPr>
            <a:r>
              <a:rPr lang="en-US" sz="2550" b="1" dirty="0">
                <a:solidFill>
                  <a:srgbClr val="FFFFFF"/>
                </a:solidFill>
                <a:latin typeface="Nunito" pitchFamily="34" charset="0"/>
                <a:ea typeface="Nunito" pitchFamily="34" charset="-122"/>
                <a:cs typeface="Nunito" pitchFamily="34" charset="-120"/>
              </a:rPr>
              <a:t>100%</a:t>
            </a:r>
            <a:endParaRPr lang="en-US" sz="2550" dirty="0"/>
          </a:p>
        </p:txBody>
      </p:sp>
      <p:sp>
        <p:nvSpPr>
          <p:cNvPr id="11" name="Text 4"/>
          <p:cNvSpPr txBox="1"/>
          <p:nvPr/>
        </p:nvSpPr>
        <p:spPr>
          <a:xfrm>
            <a:off x="9848088" y="3714293"/>
            <a:ext cx="1295705" cy="133502"/>
          </a:xfrm>
          <a:prstGeom prst="rect">
            <a:avLst/>
          </a:prstGeom>
          <a:noFill/>
          <a:ln/>
        </p:spPr>
        <p:txBody>
          <a:bodyPr wrap="none" lIns="0" tIns="0" rIns="0" bIns="0" rtlCol="0" anchor="ctr"/>
          <a:lstStyle/>
          <a:p>
            <a:pPr algn="l" indent="0" marL="0">
              <a:buNone/>
            </a:pPr>
            <a:r>
              <a:rPr lang="en-US" sz="800" b="1" spc="90" kern="0" dirty="0">
                <a:solidFill>
                  <a:srgbClr val="BBDCC1"/>
                </a:solidFill>
                <a:latin typeface="Nunito" pitchFamily="34" charset="0"/>
                <a:ea typeface="Nunito" pitchFamily="34" charset="-122"/>
                <a:cs typeface="Nunito" pitchFamily="34" charset="-120"/>
              </a:rPr>
              <a:t>Detail</a:t>
            </a:r>
            <a:endParaRPr lang="en-US" sz="800" dirty="0"/>
          </a:p>
        </p:txBody>
      </p:sp>
      <p:sp>
        <p:nvSpPr>
          <p:cNvPr id="12" name="Text 5"/>
          <p:cNvSpPr txBox="1"/>
          <p:nvPr/>
        </p:nvSpPr>
        <p:spPr>
          <a:xfrm>
            <a:off x="11238890" y="3352190"/>
            <a:ext cx="1295705" cy="324612"/>
          </a:xfrm>
          <a:prstGeom prst="rect">
            <a:avLst/>
          </a:prstGeom>
          <a:noFill/>
          <a:ln/>
        </p:spPr>
        <p:txBody>
          <a:bodyPr wrap="none" lIns="0" tIns="0" rIns="0" bIns="0" rtlCol="0" anchor="ctr"/>
          <a:lstStyle/>
          <a:p>
            <a:pPr algn="l" indent="0" marL="0">
              <a:buNone/>
            </a:pPr>
            <a:r>
              <a:rPr lang="en-US" sz="2550" b="1" dirty="0">
                <a:solidFill>
                  <a:srgbClr val="FFFFFF"/>
                </a:solidFill>
                <a:latin typeface="Nunito" pitchFamily="34" charset="0"/>
                <a:ea typeface="Nunito" pitchFamily="34" charset="-122"/>
                <a:cs typeface="Nunito" pitchFamily="34" charset="-120"/>
              </a:rPr>
              <a:t>Daily</a:t>
            </a:r>
            <a:endParaRPr lang="en-US" sz="2550" dirty="0"/>
          </a:p>
        </p:txBody>
      </p:sp>
      <p:sp>
        <p:nvSpPr>
          <p:cNvPr id="13" name="Text 6"/>
          <p:cNvSpPr txBox="1"/>
          <p:nvPr/>
        </p:nvSpPr>
        <p:spPr>
          <a:xfrm>
            <a:off x="11238890" y="3714293"/>
            <a:ext cx="1295705" cy="133502"/>
          </a:xfrm>
          <a:prstGeom prst="rect">
            <a:avLst/>
          </a:prstGeom>
          <a:noFill/>
          <a:ln/>
        </p:spPr>
        <p:txBody>
          <a:bodyPr wrap="none" lIns="0" tIns="0" rIns="0" bIns="0" rtlCol="0" anchor="ctr"/>
          <a:lstStyle/>
          <a:p>
            <a:pPr algn="l" indent="0" marL="0">
              <a:buNone/>
            </a:pPr>
            <a:r>
              <a:rPr lang="en-US" sz="800" b="1" spc="90" kern="0" dirty="0">
                <a:solidFill>
                  <a:srgbClr val="BBDCC1"/>
                </a:solidFill>
                <a:latin typeface="Nunito" pitchFamily="34" charset="0"/>
                <a:ea typeface="Nunito" pitchFamily="34" charset="-122"/>
                <a:cs typeface="Nunito" pitchFamily="34" charset="-120"/>
              </a:rPr>
              <a:t>Follow-ups</a:t>
            </a:r>
            <a:endParaRPr lang="en-US" sz="800" dirty="0"/>
          </a:p>
        </p:txBody>
      </p:sp>
      <p:sp>
        <p:nvSpPr>
          <p:cNvPr id="14" name="Text 7"/>
          <p:cNvSpPr txBox="1"/>
          <p:nvPr/>
        </p:nvSpPr>
        <p:spPr>
          <a:xfrm>
            <a:off x="9848088" y="4019702"/>
            <a:ext cx="3196742" cy="219456"/>
          </a:xfrm>
          <a:prstGeom prst="rect">
            <a:avLst/>
          </a:prstGeom>
          <a:noFill/>
          <a:ln/>
        </p:spPr>
        <p:txBody>
          <a:bodyPr wrap="none" lIns="0" tIns="0" rIns="0" bIns="0" rtlCol="0" anchor="ctr"/>
          <a:lstStyle/>
          <a:p>
            <a:pPr algn="l" indent="0" marL="0">
              <a:buNone/>
            </a:pPr>
            <a:r>
              <a:rPr lang="en-US" sz="1500" b="1" dirty="0">
                <a:solidFill>
                  <a:srgbClr val="FFFFFF"/>
                </a:solidFill>
                <a:latin typeface="Nunito" pitchFamily="34" charset="0"/>
                <a:ea typeface="Nunito" pitchFamily="34" charset="-122"/>
                <a:cs typeface="Nunito" pitchFamily="34" charset="-120"/>
              </a:rPr>
              <a:t>Care. Clarity. Consistency.</a:t>
            </a:r>
            <a:endParaRPr lang="en-US" sz="1500" dirty="0"/>
          </a:p>
        </p:txBody>
      </p:sp>
      <p:sp>
        <p:nvSpPr>
          <p:cNvPr id="15" name="Text 8"/>
          <p:cNvSpPr txBox="1"/>
          <p:nvPr/>
        </p:nvSpPr>
        <p:spPr>
          <a:xfrm>
            <a:off x="9848088" y="4295851"/>
            <a:ext cx="2686507" cy="352958"/>
          </a:xfrm>
          <a:prstGeom prst="rect">
            <a:avLst/>
          </a:prstGeom>
          <a:noFill/>
          <a:ln/>
        </p:spPr>
        <p:txBody>
          <a:bodyPr wrap="square" lIns="0" tIns="0" rIns="0" bIns="0" rtlCol="0" anchor="ctr"/>
          <a:lstStyle/>
          <a:p>
            <a:pPr algn="l" indent="0" marL="0">
              <a:lnSpc>
                <a:spcPts val="1365"/>
              </a:lnSpc>
              <a:buNone/>
            </a:pPr>
            <a:r>
              <a:rPr lang="en-US" sz="975" dirty="0">
                <a:solidFill>
                  <a:srgbClr val="FFFFFF">
                    <a:alpha val="92000"/>
                  </a:srgbClr>
                </a:solidFill>
                <a:latin typeface="Quicksand" pitchFamily="34" charset="0"/>
                <a:ea typeface="Quicksand" pitchFamily="34" charset="-122"/>
                <a:cs typeface="Quicksand" pitchFamily="34" charset="-120"/>
              </a:rPr>
              <a:t>Every patient gets the records they need — on time, every time.</a:t>
            </a:r>
            <a:endParaRPr lang="en-US" sz="975" dirty="0"/>
          </a:p>
        </p:txBody>
      </p:sp>
      <p:sp>
        <p:nvSpPr>
          <p:cNvPr id="16" name="Text 9"/>
          <p:cNvSpPr txBox="1"/>
          <p:nvPr/>
        </p:nvSpPr>
        <p:spPr>
          <a:xfrm>
            <a:off x="1143000" y="1333195"/>
            <a:ext cx="3766414" cy="228600"/>
          </a:xfrm>
          <a:prstGeom prst="rect">
            <a:avLst/>
          </a:prstGeom>
          <a:noFill/>
          <a:ln/>
        </p:spPr>
        <p:txBody>
          <a:bodyPr wrap="none" lIns="0" tIns="0" rIns="0" bIns="0" rtlCol="0" anchor="ctr"/>
          <a:lstStyle/>
          <a:p>
            <a:pPr algn="l" indent="0" marL="0">
              <a:buNone/>
            </a:pPr>
            <a:r>
              <a:rPr lang="en-US" sz="1350" b="1" spc="432" kern="0" dirty="0">
                <a:solidFill>
                  <a:srgbClr val="4B7FC2"/>
                </a:solidFill>
                <a:latin typeface="Nunito" pitchFamily="34" charset="0"/>
                <a:ea typeface="Nunito" pitchFamily="34" charset="-122"/>
                <a:cs typeface="Nunito" pitchFamily="34" charset="-120"/>
              </a:rPr>
              <a:t>Active Physical Therapy</a:t>
            </a:r>
            <a:endParaRPr lang="en-US" sz="1350" dirty="0"/>
          </a:p>
        </p:txBody>
      </p:sp>
      <p:sp>
        <p:nvSpPr>
          <p:cNvPr id="17" name="Text 10"/>
          <p:cNvSpPr txBox="1"/>
          <p:nvPr/>
        </p:nvSpPr>
        <p:spPr>
          <a:xfrm>
            <a:off x="1143000" y="1999793"/>
            <a:ext cx="7429500" cy="762610"/>
          </a:xfrm>
          <a:prstGeom prst="rect">
            <a:avLst/>
          </a:prstGeom>
          <a:noFill/>
          <a:ln/>
        </p:spPr>
        <p:txBody>
          <a:bodyPr wrap="none" lIns="0" tIns="0" rIns="0" bIns="0" rtlCol="0" anchor="ctr"/>
          <a:lstStyle/>
          <a:p>
            <a:pPr algn="l" indent="0" marL="0">
              <a:buNone/>
            </a:pPr>
            <a:r>
              <a:rPr lang="en-US" sz="6000" b="1" spc="-120" kern="0" dirty="0">
                <a:solidFill>
                  <a:srgbClr val="2C4252"/>
                </a:solidFill>
                <a:latin typeface="Nunito" pitchFamily="34" charset="0"/>
                <a:ea typeface="Nunito" pitchFamily="34" charset="-122"/>
                <a:cs typeface="Nunito" pitchFamily="34" charset="-120"/>
              </a:rPr>
              <a:t>Records</a:t>
            </a:r>
            <a:endParaRPr lang="en-US" sz="6000" dirty="0"/>
          </a:p>
        </p:txBody>
      </p:sp>
      <p:sp>
        <p:nvSpPr>
          <p:cNvPr id="18" name="Text 11"/>
          <p:cNvSpPr txBox="1"/>
          <p:nvPr/>
        </p:nvSpPr>
        <p:spPr>
          <a:xfrm>
            <a:off x="1143000" y="2857500"/>
            <a:ext cx="7429500" cy="762610"/>
          </a:xfrm>
          <a:prstGeom prst="rect">
            <a:avLst/>
          </a:prstGeom>
          <a:noFill/>
          <a:ln/>
        </p:spPr>
        <p:txBody>
          <a:bodyPr wrap="none" lIns="0" tIns="0" rIns="0" bIns="0" rtlCol="0" anchor="ctr"/>
          <a:lstStyle/>
          <a:p>
            <a:pPr algn="l" indent="0" marL="0">
              <a:buNone/>
            </a:pPr>
            <a:r>
              <a:rPr lang="en-US" sz="6000" b="1" spc="-120" kern="0" dirty="0">
                <a:solidFill>
                  <a:srgbClr val="4B7FC2"/>
                </a:solidFill>
                <a:latin typeface="Nunito" pitchFamily="34" charset="0"/>
                <a:ea typeface="Nunito" pitchFamily="34" charset="-122"/>
                <a:cs typeface="Nunito" pitchFamily="34" charset="-120"/>
              </a:rPr>
              <a:t>Retrieval</a:t>
            </a:r>
            <a:endParaRPr lang="en-US" sz="6000" dirty="0"/>
          </a:p>
        </p:txBody>
      </p:sp>
      <p:sp>
        <p:nvSpPr>
          <p:cNvPr id="19" name="Text 12"/>
          <p:cNvSpPr txBox="1"/>
          <p:nvPr/>
        </p:nvSpPr>
        <p:spPr>
          <a:xfrm>
            <a:off x="1143000" y="3714293"/>
            <a:ext cx="7429500" cy="762610"/>
          </a:xfrm>
          <a:prstGeom prst="rect">
            <a:avLst/>
          </a:prstGeom>
          <a:noFill/>
          <a:ln/>
        </p:spPr>
        <p:txBody>
          <a:bodyPr wrap="none" lIns="0" tIns="0" rIns="0" bIns="0" rtlCol="0" anchor="ctr"/>
          <a:lstStyle/>
          <a:p>
            <a:pPr algn="l" indent="0" marL="0">
              <a:buNone/>
            </a:pPr>
            <a:r>
              <a:rPr lang="en-US" sz="6000" b="1" spc="-120" kern="0" dirty="0">
                <a:solidFill>
                  <a:srgbClr val="2C4252"/>
                </a:solidFill>
                <a:latin typeface="Nunito" pitchFamily="34" charset="0"/>
                <a:ea typeface="Nunito" pitchFamily="34" charset="-122"/>
                <a:cs typeface="Nunito" pitchFamily="34" charset="-120"/>
              </a:rPr>
              <a:t>Workflow.</a:t>
            </a:r>
            <a:endParaRPr lang="en-US" sz="6000" dirty="0"/>
          </a:p>
        </p:txBody>
      </p:sp>
      <p:sp>
        <p:nvSpPr>
          <p:cNvPr id="20" name="Text 13"/>
          <p:cNvSpPr txBox="1"/>
          <p:nvPr/>
        </p:nvSpPr>
        <p:spPr>
          <a:xfrm>
            <a:off x="1181405" y="4828946"/>
            <a:ext cx="7429500" cy="599846"/>
          </a:xfrm>
          <a:prstGeom prst="rect">
            <a:avLst/>
          </a:prstGeom>
          <a:noFill/>
          <a:ln/>
        </p:spPr>
        <p:txBody>
          <a:bodyPr wrap="square" lIns="0" tIns="0" rIns="0" bIns="0" rtlCol="0" anchor="t"/>
          <a:lstStyle/>
          <a:p>
            <a:pPr algn="l" indent="0" marL="0">
              <a:lnSpc>
                <a:spcPts val="2250"/>
              </a:lnSpc>
              <a:buNone/>
            </a:pPr>
            <a:r>
              <a:rPr lang="en-US" sz="1500" dirty="0">
                <a:solidFill>
                  <a:srgbClr val="5C6F7E"/>
                </a:solidFill>
                <a:latin typeface="Quicksand" pitchFamily="34" charset="0"/>
                <a:ea typeface="Quicksand" pitchFamily="34" charset="-122"/>
                <a:cs typeface="Quicksand" pitchFamily="34" charset="-120"/>
              </a:rPr>
              <a:t>A friendly walkthrough for our new team — handling every</a:t>
            </a:r>
            <a:pPr algn="l" indent="0" marL="0">
              <a:lnSpc>
                <a:spcPts val="2250"/>
              </a:lnSpc>
              <a:buNone/>
            </a:pPr>
            <a:endParaRPr lang="en-US" sz="1500" dirty="0"/>
          </a:p>
          <a:p>
            <a:pPr algn="l" indent="0" marL="0">
              <a:lnSpc>
                <a:spcPts val="2250"/>
              </a:lnSpc>
              <a:buNone/>
            </a:pPr>
            <a:r>
              <a:rPr lang="en-US" sz="1500" dirty="0">
                <a:solidFill>
                  <a:srgbClr val="5C6F7E"/>
                </a:solidFill>
                <a:latin typeface="Quicksand" pitchFamily="34" charset="0"/>
                <a:ea typeface="Quicksand" pitchFamily="34" charset="-122"/>
                <a:cs typeface="Quicksand" pitchFamily="34" charset="-120"/>
              </a:rPr>
              <a:t>follow-up with care, clarity, and confidence.</a:t>
            </a:r>
            <a:endParaRPr lang="en-US" sz="1500" dirty="0"/>
          </a:p>
        </p:txBody>
      </p:sp>
      <p:sp>
        <p:nvSpPr>
          <p:cNvPr id="21" name="Shape 14"/>
          <p:cNvSpPr/>
          <p:nvPr/>
        </p:nvSpPr>
        <p:spPr>
          <a:xfrm>
            <a:off x="1199693" y="5810098"/>
            <a:ext cx="1410005" cy="371246"/>
          </a:xfrm>
          <a:prstGeom prst="roundRect">
            <a:avLst>
              <a:gd name="adj" fmla="val 50000"/>
            </a:avLst>
          </a:prstGeom>
          <a:solidFill>
            <a:srgbClr val="BBDCC1"/>
          </a:solidFill>
          <a:ln w="12700">
            <a:solidFill>
              <a:srgbClr val="FFFFFF">
                <a:alpha val="0"/>
              </a:srgbClr>
            </a:solidFill>
            <a:prstDash val="solid"/>
          </a:ln>
        </p:spPr>
      </p:sp>
      <p:sp>
        <p:nvSpPr>
          <p:cNvPr id="22" name="Text 15"/>
          <p:cNvSpPr/>
          <p:nvPr/>
        </p:nvSpPr>
        <p:spPr>
          <a:xfrm>
            <a:off x="1199693" y="5810098"/>
            <a:ext cx="1410005" cy="372161"/>
          </a:xfrm>
          <a:prstGeom prst="rect">
            <a:avLst/>
          </a:prstGeom>
          <a:solidFill>
            <a:srgbClr val="FFFFFF">
              <a:alpha val="0"/>
            </a:srgbClr>
          </a:solidFill>
          <a:ln>
            <a:solidFill>
              <a:srgbClr val="FFFFFF">
                <a:alpha val="0"/>
              </a:srgbClr>
            </a:solidFill>
          </a:ln>
        </p:spPr>
        <p:txBody>
          <a:bodyPr wrap="none" lIns="203200" tIns="88900" rIns="203200" bIns="88900" rtlCol="0" anchor="ctr"/>
          <a:lstStyle/>
          <a:p>
            <a:pPr algn="ctr" indent="0" marL="0">
              <a:buNone/>
            </a:pPr>
            <a:r>
              <a:rPr lang="en-US" sz="1050" b="1" dirty="0">
                <a:solidFill>
                  <a:srgbClr val="2C4252"/>
                </a:solidFill>
                <a:latin typeface="Nunito" pitchFamily="34" charset="0"/>
                <a:ea typeface="Nunito" pitchFamily="34" charset="-122"/>
                <a:cs typeface="Nunito" pitchFamily="34" charset="-120"/>
              </a:rPr>
              <a:t>LOG &amp; COLORS</a:t>
            </a:r>
            <a:endParaRPr lang="en-US" sz="1050" dirty="0"/>
          </a:p>
        </p:txBody>
      </p:sp>
      <p:sp>
        <p:nvSpPr>
          <p:cNvPr id="23" name="Shape 16"/>
          <p:cNvSpPr/>
          <p:nvPr/>
        </p:nvSpPr>
        <p:spPr>
          <a:xfrm>
            <a:off x="2736799" y="5810098"/>
            <a:ext cx="1475842" cy="371246"/>
          </a:xfrm>
          <a:prstGeom prst="roundRect">
            <a:avLst>
              <a:gd name="adj" fmla="val 50000"/>
            </a:avLst>
          </a:prstGeom>
          <a:solidFill>
            <a:srgbClr val="BFD8E9"/>
          </a:solidFill>
          <a:ln w="12700">
            <a:solidFill>
              <a:srgbClr val="FFFFFF">
                <a:alpha val="0"/>
              </a:srgbClr>
            </a:solidFill>
            <a:prstDash val="solid"/>
          </a:ln>
        </p:spPr>
      </p:sp>
      <p:sp>
        <p:nvSpPr>
          <p:cNvPr id="24" name="Text 17"/>
          <p:cNvSpPr/>
          <p:nvPr/>
        </p:nvSpPr>
        <p:spPr>
          <a:xfrm>
            <a:off x="2736799" y="5810098"/>
            <a:ext cx="1476756" cy="372161"/>
          </a:xfrm>
          <a:prstGeom prst="rect">
            <a:avLst/>
          </a:prstGeom>
          <a:solidFill>
            <a:srgbClr val="FFFFFF">
              <a:alpha val="0"/>
            </a:srgbClr>
          </a:solidFill>
          <a:ln>
            <a:solidFill>
              <a:srgbClr val="FFFFFF">
                <a:alpha val="0"/>
              </a:srgbClr>
            </a:solidFill>
          </a:ln>
        </p:spPr>
        <p:txBody>
          <a:bodyPr wrap="none" lIns="203200" tIns="88900" rIns="203200" bIns="88900" rtlCol="0" anchor="ctr"/>
          <a:lstStyle/>
          <a:p>
            <a:pPr algn="ctr" indent="0" marL="0">
              <a:buNone/>
            </a:pPr>
            <a:r>
              <a:rPr lang="en-US" sz="1050" b="1" dirty="0">
                <a:solidFill>
                  <a:srgbClr val="2C4252"/>
                </a:solidFill>
                <a:latin typeface="Nunito" pitchFamily="34" charset="0"/>
                <a:ea typeface="Nunito" pitchFamily="34" charset="-122"/>
                <a:cs typeface="Nunito" pitchFamily="34" charset="-120"/>
              </a:rPr>
              <a:t>STEPS &amp; SCRIPT</a:t>
            </a:r>
            <a:endParaRPr lang="en-US" sz="1050" dirty="0"/>
          </a:p>
        </p:txBody>
      </p:sp>
      <p:sp>
        <p:nvSpPr>
          <p:cNvPr id="25" name="Shape 18"/>
          <p:cNvSpPr/>
          <p:nvPr/>
        </p:nvSpPr>
        <p:spPr>
          <a:xfrm>
            <a:off x="4345229" y="5810098"/>
            <a:ext cx="1390802" cy="371246"/>
          </a:xfrm>
          <a:prstGeom prst="roundRect">
            <a:avLst>
              <a:gd name="adj" fmla="val 50000"/>
            </a:avLst>
          </a:prstGeom>
          <a:solidFill>
            <a:srgbClr val="F4A78B"/>
          </a:solidFill>
          <a:ln w="12700">
            <a:solidFill>
              <a:srgbClr val="FFFFFF">
                <a:alpha val="0"/>
              </a:srgbClr>
            </a:solidFill>
            <a:prstDash val="solid"/>
          </a:ln>
        </p:spPr>
      </p:sp>
      <p:sp>
        <p:nvSpPr>
          <p:cNvPr id="26" name="Text 19"/>
          <p:cNvSpPr/>
          <p:nvPr/>
        </p:nvSpPr>
        <p:spPr>
          <a:xfrm>
            <a:off x="4345229" y="5810098"/>
            <a:ext cx="1390802" cy="372161"/>
          </a:xfrm>
          <a:prstGeom prst="rect">
            <a:avLst/>
          </a:prstGeom>
          <a:solidFill>
            <a:srgbClr val="FFFFFF">
              <a:alpha val="0"/>
            </a:srgbClr>
          </a:solidFill>
          <a:ln>
            <a:solidFill>
              <a:srgbClr val="FFFFFF">
                <a:alpha val="0"/>
              </a:srgbClr>
            </a:solidFill>
          </a:ln>
        </p:spPr>
        <p:txBody>
          <a:bodyPr wrap="none" lIns="203200" tIns="88900" rIns="203200" bIns="88900" rtlCol="0" anchor="ctr"/>
          <a:lstStyle/>
          <a:p>
            <a:pPr algn="ctr" indent="0" marL="0">
              <a:buNone/>
            </a:pPr>
            <a:r>
              <a:rPr lang="en-US" sz="1050" b="1" dirty="0">
                <a:solidFill>
                  <a:srgbClr val="7A2E1A"/>
                </a:solidFill>
                <a:latin typeface="Nunito" pitchFamily="34" charset="0"/>
                <a:ea typeface="Nunito" pitchFamily="34" charset="-122"/>
                <a:cs typeface="Nunito" pitchFamily="34" charset="-120"/>
              </a:rPr>
              <a:t>DENIED CASES</a:t>
            </a:r>
            <a:endParaRPr lang="en-US" sz="1050" dirty="0"/>
          </a:p>
        </p:txBody>
      </p:sp>
      <p:sp>
        <p:nvSpPr>
          <p:cNvPr id="27" name="Text 20"/>
          <p:cNvSpPr txBox="1"/>
          <p:nvPr/>
        </p:nvSpPr>
        <p:spPr>
          <a:xfrm>
            <a:off x="1143000" y="7200900"/>
            <a:ext cx="2561234" cy="171907"/>
          </a:xfrm>
          <a:prstGeom prst="rect">
            <a:avLst/>
          </a:prstGeom>
          <a:noFill/>
          <a:ln/>
        </p:spPr>
        <p:txBody>
          <a:bodyPr wrap="none" lIns="0" tIns="0" rIns="0" bIns="0" rtlCol="0" anchor="ctr"/>
          <a:lstStyle/>
          <a:p>
            <a:pPr algn="l" indent="0" marL="0">
              <a:buNone/>
            </a:pPr>
            <a:r>
              <a:rPr lang="en-US" sz="975" b="1" spc="214" kern="0" dirty="0">
                <a:solidFill>
                  <a:srgbClr val="5C6F7E"/>
                </a:solidFill>
                <a:latin typeface="Nunito" pitchFamily="34" charset="0"/>
                <a:ea typeface="Nunito" pitchFamily="34" charset="-122"/>
                <a:cs typeface="Nunito" pitchFamily="34" charset="-120"/>
              </a:rPr>
              <a:t>2025 · Internal Training</a:t>
            </a:r>
            <a:endParaRPr lang="en-US" sz="975" dirty="0"/>
          </a:p>
        </p:txBody>
      </p:sp>
      <p:pic>
        <p:nvPicPr>
          <p:cNvPr id="28" name="Image 5" descr="gen-dedup-60557d628ad89719d4eb10a403a9ccc8.png">    </p:cNvPr>
          <p:cNvPicPr>
            <a:picLocks noChangeAspect="1"/>
          </p:cNvPicPr>
          <p:nvPr/>
        </p:nvPicPr>
        <p:blipFill>
          <a:blip r:embed="rId6"/>
          <a:srcRect l="0" r="0" t="-1" b="-1"/>
          <a:stretch/>
        </p:blipFill>
        <p:spPr>
          <a:xfrm>
            <a:off x="9619488" y="5618988"/>
            <a:ext cx="3142793" cy="1238098"/>
          </a:xfrm>
          <a:prstGeom prst="rect">
            <a:avLst/>
          </a:prstGeom>
        </p:spPr>
      </p:pic>
      <p:sp>
        <p:nvSpPr>
          <p:cNvPr id="29" name="Text 21"/>
          <p:cNvSpPr txBox="1"/>
          <p:nvPr/>
        </p:nvSpPr>
        <p:spPr>
          <a:xfrm>
            <a:off x="9828886" y="6114593"/>
            <a:ext cx="2723998" cy="219456"/>
          </a:xfrm>
          <a:prstGeom prst="rect">
            <a:avLst/>
          </a:prstGeom>
          <a:noFill/>
          <a:ln/>
        </p:spPr>
        <p:txBody>
          <a:bodyPr wrap="none" lIns="0" tIns="0" rIns="0" bIns="0" rtlCol="0" anchor="ctr"/>
          <a:lstStyle/>
          <a:p>
            <a:pPr algn="l" indent="0" marL="0">
              <a:buNone/>
            </a:pPr>
            <a:r>
              <a:rPr lang="en-US" sz="1500" b="1" dirty="0">
                <a:solidFill>
                  <a:srgbClr val="FFFFFF"/>
                </a:solidFill>
                <a:latin typeface="Nunito" pitchFamily="34" charset="0"/>
                <a:ea typeface="Nunito" pitchFamily="34" charset="-122"/>
                <a:cs typeface="Nunito" pitchFamily="34" charset="-120"/>
              </a:rPr>
              <a:t>Welcome to the team.</a:t>
            </a:r>
            <a:endParaRPr lang="en-US" sz="1500" dirty="0"/>
          </a:p>
        </p:txBody>
      </p:sp>
      <p:sp>
        <p:nvSpPr>
          <p:cNvPr id="30" name="Shape 22"/>
          <p:cNvSpPr/>
          <p:nvPr/>
        </p:nvSpPr>
        <p:spPr>
          <a:xfrm>
            <a:off x="9828886" y="5810098"/>
            <a:ext cx="1771193" cy="209398"/>
          </a:xfrm>
          <a:prstGeom prst="roundRect">
            <a:avLst>
              <a:gd name="adj" fmla="val 50218"/>
            </a:avLst>
          </a:prstGeom>
          <a:solidFill>
            <a:srgbClr val="BBDCC1"/>
          </a:solidFill>
          <a:ln w="12700">
            <a:solidFill>
              <a:srgbClr val="FFFFFF">
                <a:alpha val="0"/>
              </a:srgbClr>
            </a:solidFill>
            <a:prstDash val="solid"/>
          </a:ln>
        </p:spPr>
      </p:sp>
      <p:sp>
        <p:nvSpPr>
          <p:cNvPr id="31" name="Text 23"/>
          <p:cNvSpPr/>
          <p:nvPr/>
        </p:nvSpPr>
        <p:spPr>
          <a:xfrm>
            <a:off x="9828886" y="5810098"/>
            <a:ext cx="1772107" cy="210312"/>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ctr" indent="0" marL="0">
              <a:buNone/>
            </a:pPr>
            <a:r>
              <a:rPr lang="en-US" sz="800" b="1" spc="120" kern="0" dirty="0">
                <a:solidFill>
                  <a:srgbClr val="2C4252"/>
                </a:solidFill>
                <a:latin typeface="Nunito" pitchFamily="34" charset="0"/>
                <a:ea typeface="Nunito" pitchFamily="34" charset="-122"/>
                <a:cs typeface="Nunito" pitchFamily="34" charset="-120"/>
              </a:rPr>
              <a:t>You are in good hands</a:t>
            </a:r>
            <a:endParaRPr lang="en-US" sz="800" dirty="0"/>
          </a:p>
        </p:txBody>
      </p:sp>
      <p:sp>
        <p:nvSpPr>
          <p:cNvPr id="32" name="Text 24"/>
          <p:cNvSpPr txBox="1"/>
          <p:nvPr/>
        </p:nvSpPr>
        <p:spPr>
          <a:xfrm>
            <a:off x="9828886" y="6353251"/>
            <a:ext cx="2723998" cy="162763"/>
          </a:xfrm>
          <a:prstGeom prst="rect">
            <a:avLst/>
          </a:prstGeom>
          <a:noFill/>
          <a:ln/>
        </p:spPr>
        <p:txBody>
          <a:bodyPr wrap="none" lIns="0" tIns="0" rIns="0" bIns="0" rtlCol="0" anchor="ctr"/>
          <a:lstStyle/>
          <a:p>
            <a:pPr algn="l" indent="0" marL="0">
              <a:buNone/>
            </a:pPr>
            <a:r>
              <a:rPr lang="en-US" sz="900" dirty="0">
                <a:solidFill>
                  <a:srgbClr val="FFFFFF">
                    <a:alpha val="85000"/>
                  </a:srgbClr>
                </a:solidFill>
                <a:latin typeface="Quicksand" pitchFamily="34" charset="0"/>
                <a:ea typeface="Quicksand" pitchFamily="34" charset="-122"/>
                <a:cs typeface="Quicksand" pitchFamily="34" charset="-120"/>
              </a:rPr>
              <a:t>Let's get you set up for success.</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7F2"/>
        </a:solidFill>
      </p:bgPr>
    </p:bg>
    <p:spTree>
      <p:nvGrpSpPr>
        <p:cNvPr id="1" name=""/>
        <p:cNvGrpSpPr/>
        <p:nvPr/>
      </p:nvGrpSpPr>
      <p:grpSpPr>
        <a:xfrm>
          <a:off x="0" y="0"/>
          <a:ext cx="0" cy="0"/>
          <a:chOff x="0" y="0"/>
          <a:chExt cx="0" cy="0"/>
        </a:xfrm>
      </p:grpSpPr>
      <p:sp>
        <p:nvSpPr>
          <p:cNvPr id="2" name="Shape 0"/>
          <p:cNvSpPr/>
          <p:nvPr/>
        </p:nvSpPr>
        <p:spPr>
          <a:xfrm>
            <a:off x="11143793" y="-1428293"/>
            <a:ext cx="4000500" cy="4000500"/>
          </a:xfrm>
          <a:prstGeom prst="ellipse">
            <a:avLst/>
          </a:prstGeom>
          <a:solidFill>
            <a:srgbClr val="BFD8E9">
              <a:alpha val="40000"/>
            </a:srgbClr>
          </a:solidFill>
          <a:ln w="12700">
            <a:solidFill>
              <a:srgbClr val="FFFFFF">
                <a:alpha val="0"/>
              </a:srgbClr>
            </a:solidFill>
            <a:prstDash val="solid"/>
          </a:ln>
        </p:spPr>
      </p:sp>
      <p:pic>
        <p:nvPicPr>
          <p:cNvPr id="3" name="Image 0" descr="gen-dedup-a8d66687e04e004c0d5d56e5d9fd1326.png">    </p:cNvPr>
          <p:cNvPicPr>
            <a:picLocks noChangeAspect="1"/>
          </p:cNvPicPr>
          <p:nvPr/>
        </p:nvPicPr>
        <p:blipFill>
          <a:blip r:embed="rId1"/>
          <a:srcRect l="0" r="0" t="-1" b="-1"/>
          <a:stretch/>
        </p:blipFill>
        <p:spPr>
          <a:xfrm>
            <a:off x="0" y="0"/>
            <a:ext cx="3619195" cy="7714793"/>
          </a:xfrm>
          <a:prstGeom prst="rect">
            <a:avLst/>
          </a:prstGeom>
        </p:spPr>
      </p:pic>
      <p:sp>
        <p:nvSpPr>
          <p:cNvPr id="4" name="Text 1"/>
          <p:cNvSpPr txBox="1"/>
          <p:nvPr/>
        </p:nvSpPr>
        <p:spPr>
          <a:xfrm>
            <a:off x="571500" y="1333195"/>
            <a:ext cx="2820010" cy="2286000"/>
          </a:xfrm>
          <a:prstGeom prst="rect">
            <a:avLst/>
          </a:prstGeom>
          <a:noFill/>
          <a:ln/>
        </p:spPr>
        <p:txBody>
          <a:bodyPr wrap="none" lIns="0" tIns="0" rIns="0" bIns="0" rtlCol="0" anchor="ctr"/>
          <a:lstStyle/>
          <a:p>
            <a:pPr algn="l" indent="0" marL="0">
              <a:buNone/>
            </a:pPr>
            <a:r>
              <a:rPr lang="en-US" sz="17999" b="1" spc="-900" kern="0" dirty="0">
                <a:solidFill>
                  <a:srgbClr val="4B7FC2">
                    <a:alpha val="18000"/>
                  </a:srgbClr>
                </a:solidFill>
                <a:latin typeface="Nunito" pitchFamily="34" charset="0"/>
                <a:ea typeface="Nunito" pitchFamily="34" charset="-122"/>
                <a:cs typeface="Nunito" pitchFamily="34" charset="-120"/>
              </a:rPr>
              <a:t>01</a:t>
            </a:r>
            <a:endParaRPr lang="en-US" sz="17999" dirty="0"/>
          </a:p>
        </p:txBody>
      </p:sp>
      <p:sp>
        <p:nvSpPr>
          <p:cNvPr id="5" name="Text 2"/>
          <p:cNvSpPr txBox="1"/>
          <p:nvPr/>
        </p:nvSpPr>
        <p:spPr>
          <a:xfrm>
            <a:off x="571500" y="5333695"/>
            <a:ext cx="1943100" cy="181051"/>
          </a:xfrm>
          <a:prstGeom prst="rect">
            <a:avLst/>
          </a:prstGeom>
          <a:noFill/>
          <a:ln/>
        </p:spPr>
        <p:txBody>
          <a:bodyPr wrap="none" lIns="0" tIns="0" rIns="0" bIns="0" rtlCol="0" anchor="ctr"/>
          <a:lstStyle/>
          <a:p>
            <a:pPr algn="l" indent="0" marL="0">
              <a:buNone/>
            </a:pPr>
            <a:r>
              <a:rPr lang="en-US" sz="1050" b="1" spc="294" kern="0" dirty="0">
                <a:solidFill>
                  <a:srgbClr val="2C4252"/>
                </a:solidFill>
                <a:latin typeface="Nunito" pitchFamily="34" charset="0"/>
                <a:ea typeface="Nunito" pitchFamily="34" charset="-122"/>
                <a:cs typeface="Nunito" pitchFamily="34" charset="-120"/>
              </a:rPr>
              <a:t>Why this matters</a:t>
            </a:r>
            <a:endParaRPr lang="en-US" sz="1050" dirty="0"/>
          </a:p>
        </p:txBody>
      </p:sp>
      <p:sp>
        <p:nvSpPr>
          <p:cNvPr id="6" name="Text 3"/>
          <p:cNvSpPr txBox="1"/>
          <p:nvPr/>
        </p:nvSpPr>
        <p:spPr>
          <a:xfrm>
            <a:off x="571500" y="5600700"/>
            <a:ext cx="2667305" cy="924458"/>
          </a:xfrm>
          <a:prstGeom prst="rect">
            <a:avLst/>
          </a:prstGeom>
          <a:noFill/>
          <a:ln/>
        </p:spPr>
        <p:txBody>
          <a:bodyPr wrap="square" lIns="0" tIns="0" rIns="0" bIns="0" rtlCol="0" anchor="ctr"/>
          <a:lstStyle/>
          <a:p>
            <a:pPr algn="l" indent="0" marL="0">
              <a:lnSpc>
                <a:spcPct val="105000"/>
              </a:lnSpc>
              <a:buNone/>
            </a:pPr>
            <a:r>
              <a:rPr lang="en-US" sz="3450" b="1" spc="-69" kern="0" dirty="0">
                <a:solidFill>
                  <a:srgbClr val="2C4252"/>
                </a:solidFill>
                <a:latin typeface="Nunito" pitchFamily="34" charset="0"/>
                <a:ea typeface="Nunito" pitchFamily="34" charset="-122"/>
                <a:cs typeface="Nunito" pitchFamily="34" charset="-120"/>
              </a:rPr>
              <a:t>Care that continues.</a:t>
            </a:r>
            <a:endParaRPr lang="en-US" sz="3450" dirty="0"/>
          </a:p>
        </p:txBody>
      </p:sp>
      <p:sp>
        <p:nvSpPr>
          <p:cNvPr id="7" name="Text 4"/>
          <p:cNvSpPr txBox="1"/>
          <p:nvPr/>
        </p:nvSpPr>
        <p:spPr>
          <a:xfrm>
            <a:off x="571500" y="6666890"/>
            <a:ext cx="2762402" cy="428854"/>
          </a:xfrm>
          <a:prstGeom prst="rect">
            <a:avLst/>
          </a:prstGeom>
          <a:noFill/>
          <a:ln/>
        </p:spPr>
        <p:txBody>
          <a:bodyPr wrap="square" lIns="0" tIns="0" rIns="0" bIns="0" rtlCol="0" anchor="ctr"/>
          <a:lstStyle/>
          <a:p>
            <a:pPr algn="l" indent="0" marL="0">
              <a:lnSpc>
                <a:spcPts val="1680"/>
              </a:lnSpc>
              <a:buNone/>
            </a:pPr>
            <a:r>
              <a:rPr lang="en-US" sz="1200" dirty="0">
                <a:solidFill>
                  <a:srgbClr val="3F5566"/>
                </a:solidFill>
                <a:latin typeface="Quicksand" pitchFamily="34" charset="0"/>
                <a:ea typeface="Quicksand" pitchFamily="34" charset="-122"/>
                <a:cs typeface="Quicksand" pitchFamily="34" charset="-120"/>
              </a:rPr>
              <a:t>You help every patient get back to their everyday life.</a:t>
            </a:r>
            <a:endParaRPr lang="en-US" sz="1200" dirty="0"/>
          </a:p>
        </p:txBody>
      </p:sp>
      <p:sp>
        <p:nvSpPr>
          <p:cNvPr id="8" name="Text 5"/>
          <p:cNvSpPr txBox="1"/>
          <p:nvPr/>
        </p:nvSpPr>
        <p:spPr>
          <a:xfrm>
            <a:off x="4190695" y="705002"/>
            <a:ext cx="4301338" cy="181051"/>
          </a:xfrm>
          <a:prstGeom prst="rect">
            <a:avLst/>
          </a:prstGeom>
          <a:noFill/>
          <a:ln/>
        </p:spPr>
        <p:txBody>
          <a:bodyPr wrap="none" lIns="0" tIns="0" rIns="0" bIns="0" rtlCol="0" anchor="ctr"/>
          <a:lstStyle/>
          <a:p>
            <a:pPr algn="l" indent="0" marL="0">
              <a:buNone/>
            </a:pPr>
            <a:r>
              <a:rPr lang="en-US" sz="1050" b="1" spc="294" kern="0" dirty="0">
                <a:solidFill>
                  <a:srgbClr val="4B7FC2"/>
                </a:solidFill>
                <a:latin typeface="Nunito" pitchFamily="34" charset="0"/>
                <a:ea typeface="Nunito" pitchFamily="34" charset="-122"/>
                <a:cs typeface="Nunito" pitchFamily="34" charset="-120"/>
              </a:rPr>
              <a:t>You're joining — and this is the why</a:t>
            </a:r>
            <a:endParaRPr lang="en-US" sz="1050" dirty="0"/>
          </a:p>
        </p:txBody>
      </p:sp>
      <p:pic>
        <p:nvPicPr>
          <p:cNvPr id="9" name="Image 1" descr="gen-dedup-826e3ee7614ff564fbb6457d75dfa6aa.png">    </p:cNvPr>
          <p:cNvPicPr>
            <a:picLocks noChangeAspect="1"/>
          </p:cNvPicPr>
          <p:nvPr/>
        </p:nvPicPr>
        <p:blipFill>
          <a:blip r:embed="rId2"/>
          <a:srcRect l="0" r="0" t="-384" b="-384"/>
          <a:stretch/>
        </p:blipFill>
        <p:spPr>
          <a:xfrm>
            <a:off x="4190695" y="990295"/>
            <a:ext cx="476402" cy="38405"/>
          </a:xfrm>
          <a:prstGeom prst="rect">
            <a:avLst/>
          </a:prstGeom>
        </p:spPr>
      </p:pic>
      <p:sp>
        <p:nvSpPr>
          <p:cNvPr id="10" name="Text 6"/>
          <p:cNvSpPr txBox="1"/>
          <p:nvPr/>
        </p:nvSpPr>
        <p:spPr>
          <a:xfrm>
            <a:off x="4190695" y="1238098"/>
            <a:ext cx="8762695" cy="1181405"/>
          </a:xfrm>
          <a:prstGeom prst="rect">
            <a:avLst/>
          </a:prstGeom>
          <a:noFill/>
          <a:ln/>
        </p:spPr>
        <p:txBody>
          <a:bodyPr wrap="square" lIns="0" tIns="0" rIns="0" bIns="0" rtlCol="0" anchor="t"/>
          <a:lstStyle/>
          <a:p>
            <a:pPr algn="l" indent="0" marL="0">
              <a:lnSpc>
                <a:spcPct val="110000"/>
              </a:lnSpc>
              <a:buNone/>
            </a:pPr>
            <a:r>
              <a:rPr lang="en-US" sz="4200" b="1" spc="-84" kern="0" dirty="0">
                <a:solidFill>
                  <a:srgbClr val="2C4252"/>
                </a:solidFill>
                <a:latin typeface="Nunito" pitchFamily="34" charset="0"/>
                <a:ea typeface="Nunito" pitchFamily="34" charset="-122"/>
                <a:cs typeface="Nunito" pitchFamily="34" charset="-120"/>
              </a:rPr>
              <a:t>Records for every </a:t>
            </a:r>
            <a:pPr algn="l" indent="0" marL="0">
              <a:lnSpc>
                <a:spcPct val="110000"/>
              </a:lnSpc>
              <a:buNone/>
            </a:pPr>
            <a:r>
              <a:rPr lang="en-US" sz="4200" b="1" spc="-84" kern="0" dirty="0">
                <a:solidFill>
                  <a:srgbClr val="4B7FC2"/>
                </a:solidFill>
                <a:latin typeface="Nunito" pitchFamily="34" charset="0"/>
                <a:ea typeface="Nunito" pitchFamily="34" charset="-122"/>
                <a:cs typeface="Nunito" pitchFamily="34" charset="-120"/>
              </a:rPr>
              <a:t>accident &amp; injury</a:t>
            </a:r>
            <a:pPr algn="l" indent="0" marL="0">
              <a:lnSpc>
                <a:spcPct val="110000"/>
              </a:lnSpc>
              <a:buNone/>
            </a:pPr>
            <a:endParaRPr lang="en-US" sz="4200" dirty="0"/>
          </a:p>
          <a:p>
            <a:pPr algn="l" indent="0" marL="0">
              <a:lnSpc>
                <a:spcPct val="110000"/>
              </a:lnSpc>
              <a:buNone/>
            </a:pPr>
            <a:r>
              <a:rPr lang="en-US" sz="4200" b="1" spc="-84" kern="0" dirty="0">
                <a:solidFill>
                  <a:srgbClr val="2C4252"/>
                </a:solidFill>
                <a:latin typeface="Nunito" pitchFamily="34" charset="0"/>
                <a:ea typeface="Nunito" pitchFamily="34" charset="-122"/>
                <a:cs typeface="Nunito" pitchFamily="34" charset="-120"/>
              </a:rPr>
              <a:t>patient we serve.</a:t>
            </a:r>
            <a:endParaRPr lang="en-US" sz="4200" dirty="0"/>
          </a:p>
        </p:txBody>
      </p:sp>
      <p:sp>
        <p:nvSpPr>
          <p:cNvPr id="11" name="Text 7"/>
          <p:cNvSpPr txBox="1"/>
          <p:nvPr/>
        </p:nvSpPr>
        <p:spPr>
          <a:xfrm>
            <a:off x="4190695" y="2857500"/>
            <a:ext cx="8953805" cy="590702"/>
          </a:xfrm>
          <a:prstGeom prst="rect">
            <a:avLst/>
          </a:prstGeom>
          <a:noFill/>
          <a:ln/>
        </p:spPr>
        <p:txBody>
          <a:bodyPr wrap="square" lIns="0" tIns="0" rIns="0" bIns="0" rtlCol="0" anchor="ctr"/>
          <a:lstStyle/>
          <a:p>
            <a:pPr algn="l" indent="0" marL="0">
              <a:lnSpc>
                <a:spcPts val="2325"/>
              </a:lnSpc>
              <a:buNone/>
            </a:pPr>
            <a:r>
              <a:rPr lang="en-US" sz="1500" dirty="0">
                <a:solidFill>
                  <a:srgbClr val="3F5566"/>
                </a:solidFill>
                <a:latin typeface="Quicksand" pitchFamily="34" charset="0"/>
                <a:ea typeface="Quicksand" pitchFamily="34" charset="-122"/>
                <a:cs typeface="Quicksand" pitchFamily="34" charset="-120"/>
              </a:rPr>
              <a:t>Every patient we work with was injured in an auto or work-related accident. We manage their scheduling so they can recover and return to the life they had before.</a:t>
            </a:r>
            <a:endParaRPr lang="en-US" sz="1500" dirty="0"/>
          </a:p>
        </p:txBody>
      </p:sp>
      <p:sp>
        <p:nvSpPr>
          <p:cNvPr id="12" name="Text 8"/>
          <p:cNvSpPr txBox="1"/>
          <p:nvPr/>
        </p:nvSpPr>
        <p:spPr>
          <a:xfrm>
            <a:off x="4190695" y="3599993"/>
            <a:ext cx="8953805" cy="590702"/>
          </a:xfrm>
          <a:prstGeom prst="rect">
            <a:avLst/>
          </a:prstGeom>
          <a:noFill/>
          <a:ln/>
        </p:spPr>
        <p:txBody>
          <a:bodyPr wrap="square" lIns="0" tIns="0" rIns="0" bIns="0" rtlCol="0" anchor="ctr"/>
          <a:lstStyle/>
          <a:p>
            <a:pPr algn="l" indent="0" marL="0">
              <a:lnSpc>
                <a:spcPts val="2325"/>
              </a:lnSpc>
              <a:buNone/>
            </a:pPr>
            <a:r>
              <a:rPr lang="en-US" sz="1500" dirty="0">
                <a:solidFill>
                  <a:srgbClr val="3F5566"/>
                </a:solidFill>
                <a:latin typeface="Quicksand" pitchFamily="34" charset="0"/>
                <a:ea typeface="Quicksand" pitchFamily="34" charset="-122"/>
                <a:cs typeface="Quicksand" pitchFamily="34" charset="-120"/>
              </a:rPr>
              <a:t>Most seek care right away at a hospital or urgent care. Our medical providers need those records — so we retrieve them.</a:t>
            </a:r>
            <a:endParaRPr lang="en-US" sz="1500" dirty="0"/>
          </a:p>
        </p:txBody>
      </p:sp>
      <p:sp>
        <p:nvSpPr>
          <p:cNvPr id="13" name="Text 9"/>
          <p:cNvSpPr txBox="1"/>
          <p:nvPr/>
        </p:nvSpPr>
        <p:spPr>
          <a:xfrm>
            <a:off x="4190695" y="4343400"/>
            <a:ext cx="8953805" cy="590702"/>
          </a:xfrm>
          <a:prstGeom prst="rect">
            <a:avLst/>
          </a:prstGeom>
          <a:noFill/>
          <a:ln/>
        </p:spPr>
        <p:txBody>
          <a:bodyPr wrap="square" lIns="0" tIns="0" rIns="0" bIns="0" rtlCol="0" anchor="ctr"/>
          <a:lstStyle/>
          <a:p>
            <a:pPr algn="l" indent="0" marL="0">
              <a:lnSpc>
                <a:spcPts val="2325"/>
              </a:lnSpc>
              <a:buNone/>
            </a:pPr>
            <a:r>
              <a:rPr lang="en-US" sz="1500" dirty="0">
                <a:solidFill>
                  <a:srgbClr val="3F5566"/>
                </a:solidFill>
                <a:latin typeface="Quicksand" pitchFamily="34" charset="0"/>
                <a:ea typeface="Quicksand" pitchFamily="34" charset="-122"/>
                <a:cs typeface="Quicksand" pitchFamily="34" charset="-120"/>
              </a:rPr>
              <a:t>You'll join us to </a:t>
            </a:r>
            <a:pPr algn="l" indent="0" marL="0">
              <a:lnSpc>
                <a:spcPts val="2325"/>
              </a:lnSpc>
              <a:buNone/>
            </a:pPr>
            <a:r>
              <a:rPr lang="en-US" sz="1500" b="1" dirty="0">
                <a:solidFill>
                  <a:srgbClr val="2C4252"/>
                </a:solidFill>
                <a:latin typeface="Quicksand" pitchFamily="34" charset="0"/>
                <a:ea typeface="Quicksand" pitchFamily="34" charset="-122"/>
                <a:cs typeface="Quicksand" pitchFamily="34" charset="-120"/>
              </a:rPr>
              <a:t>follow-up on the records that weren't sent after the initial request</a:t>
            </a:r>
            <a:pPr algn="l" indent="0" marL="0">
              <a:lnSpc>
                <a:spcPts val="2325"/>
              </a:lnSpc>
              <a:buNone/>
            </a:pPr>
            <a:r>
              <a:rPr lang="en-US" sz="1500" dirty="0">
                <a:solidFill>
                  <a:srgbClr val="3F5566"/>
                </a:solidFill>
                <a:latin typeface="Quicksand" pitchFamily="34" charset="0"/>
                <a:ea typeface="Quicksand" pitchFamily="34" charset="-122"/>
                <a:cs typeface="Quicksand" pitchFamily="34" charset="-120"/>
              </a:rPr>
              <a:t> — every patient is logged in the Hospital/Urgent Care log for tracking.</a:t>
            </a:r>
            <a:endParaRPr lang="en-US" sz="1500" dirty="0"/>
          </a:p>
        </p:txBody>
      </p:sp>
      <p:pic>
        <p:nvPicPr>
          <p:cNvPr id="14" name="Image 2" descr="gen-dedup-6d4a7d4e9a2df28c7ecbbf3f4b05c59e.png">    </p:cNvPr>
          <p:cNvPicPr>
            <a:picLocks noChangeAspect="1"/>
          </p:cNvPicPr>
          <p:nvPr/>
        </p:nvPicPr>
        <p:blipFill>
          <a:blip r:embed="rId3"/>
          <a:srcRect l="0" r="0" t="-4" b="-4"/>
          <a:stretch/>
        </p:blipFill>
        <p:spPr>
          <a:xfrm>
            <a:off x="4190695" y="6476695"/>
            <a:ext cx="2151583" cy="705002"/>
          </a:xfrm>
          <a:prstGeom prst="rect">
            <a:avLst/>
          </a:prstGeom>
        </p:spPr>
      </p:pic>
      <p:sp>
        <p:nvSpPr>
          <p:cNvPr id="15" name="Shape 10"/>
          <p:cNvSpPr/>
          <p:nvPr/>
        </p:nvSpPr>
        <p:spPr>
          <a:xfrm>
            <a:off x="4380890" y="6629400"/>
            <a:ext cx="399593" cy="399593"/>
          </a:xfrm>
          <a:prstGeom prst="roundRect">
            <a:avLst>
              <a:gd name="adj" fmla="val 28604"/>
            </a:avLst>
          </a:prstGeom>
          <a:solidFill>
            <a:srgbClr val="4B7FC2"/>
          </a:solidFill>
          <a:ln w="12700">
            <a:solidFill>
              <a:srgbClr val="FFFFFF">
                <a:alpha val="0"/>
              </a:srgbClr>
            </a:solidFill>
            <a:prstDash val="solid"/>
          </a:ln>
        </p:spPr>
      </p:sp>
      <p:sp>
        <p:nvSpPr>
          <p:cNvPr id="16" name="Text 11"/>
          <p:cNvSpPr txBox="1"/>
          <p:nvPr/>
        </p:nvSpPr>
        <p:spPr>
          <a:xfrm>
            <a:off x="4380890" y="6629400"/>
            <a:ext cx="400507" cy="400507"/>
          </a:xfrm>
          <a:prstGeom prst="rect">
            <a:avLst/>
          </a:prstGeom>
          <a:solidFill>
            <a:srgbClr val="FFFFFF">
              <a:alpha val="0"/>
            </a:srgbClr>
          </a:solidFill>
          <a:ln>
            <a:solidFill>
              <a:srgbClr val="FFFFFF">
                <a:alpha val="0"/>
              </a:srgbClr>
            </a:solidFill>
          </a:ln>
        </p:spPr>
        <p:txBody>
          <a:bodyPr wrap="square" lIns="0" tIns="0" rIns="0" bIns="0" rtlCol="0" anchor="ctr"/>
          <a:lstStyle/>
          <a:p>
            <a:pPr algn="ctr" indent="0" marL="0">
              <a:buNone/>
            </a:pPr>
            <a:r>
              <a:rPr lang="en-US" sz="1200" b="1" dirty="0">
                <a:solidFill>
                  <a:srgbClr val="FFFFFF"/>
                </a:solidFill>
                <a:latin typeface="Nunito" pitchFamily="34" charset="0"/>
                <a:ea typeface="Nunito" pitchFamily="34" charset="-122"/>
                <a:cs typeface="Nunito" pitchFamily="34" charset="-120"/>
              </a:rPr>
              <a:t>+</a:t>
            </a:r>
            <a:endParaRPr lang="en-US" sz="1200" dirty="0"/>
          </a:p>
        </p:txBody>
      </p:sp>
      <p:sp>
        <p:nvSpPr>
          <p:cNvPr id="17" name="Text 12"/>
          <p:cNvSpPr txBox="1"/>
          <p:nvPr/>
        </p:nvSpPr>
        <p:spPr>
          <a:xfrm>
            <a:off x="4895698" y="6666890"/>
            <a:ext cx="1496873" cy="191110"/>
          </a:xfrm>
          <a:prstGeom prst="rect">
            <a:avLst/>
          </a:prstGeom>
          <a:noFill/>
          <a:ln/>
        </p:spPr>
        <p:txBody>
          <a:bodyPr wrap="none" lIns="0" tIns="0" rIns="0" bIns="0" rtlCol="0" anchor="ctr"/>
          <a:lstStyle/>
          <a:p>
            <a:pPr algn="l" indent="0" marL="0">
              <a:buNone/>
            </a:pPr>
            <a:r>
              <a:rPr lang="en-US" sz="1125" b="1" dirty="0">
                <a:solidFill>
                  <a:srgbClr val="2C4252"/>
                </a:solidFill>
                <a:latin typeface="Nunito" pitchFamily="34" charset="0"/>
                <a:ea typeface="Nunito" pitchFamily="34" charset="-122"/>
                <a:cs typeface="Nunito" pitchFamily="34" charset="-120"/>
              </a:rPr>
              <a:t>Auto &amp; work injury</a:t>
            </a:r>
            <a:endParaRPr lang="en-US" sz="1125" dirty="0"/>
          </a:p>
        </p:txBody>
      </p:sp>
      <p:sp>
        <p:nvSpPr>
          <p:cNvPr id="18" name="Text 13"/>
          <p:cNvSpPr txBox="1"/>
          <p:nvPr/>
        </p:nvSpPr>
        <p:spPr>
          <a:xfrm>
            <a:off x="4895698" y="6858000"/>
            <a:ext cx="1387145" cy="133502"/>
          </a:xfrm>
          <a:prstGeom prst="rect">
            <a:avLst/>
          </a:prstGeom>
          <a:noFill/>
          <a:ln/>
        </p:spPr>
        <p:txBody>
          <a:bodyPr wrap="none" lIns="0" tIns="0" rIns="0" bIns="0" rtlCol="0" anchor="ctr"/>
          <a:lstStyle/>
          <a:p>
            <a:pPr algn="l" indent="0" marL="0">
              <a:buNone/>
            </a:pPr>
            <a:r>
              <a:rPr lang="en-US" sz="825" dirty="0">
                <a:solidFill>
                  <a:srgbClr val="5C6F7E"/>
                </a:solidFill>
                <a:latin typeface="Quicksand" pitchFamily="34" charset="0"/>
                <a:ea typeface="Quicksand" pitchFamily="34" charset="-122"/>
                <a:cs typeface="Quicksand" pitchFamily="34" charset="-120"/>
              </a:rPr>
              <a:t>Every patient we serve</a:t>
            </a:r>
            <a:endParaRPr lang="en-US" sz="825" dirty="0"/>
          </a:p>
        </p:txBody>
      </p:sp>
      <p:pic>
        <p:nvPicPr>
          <p:cNvPr id="19" name="Image 3" descr="gen-dedup-17e01261e2e0bcc1701216bfe8ab04a6.png">    </p:cNvPr>
          <p:cNvPicPr>
            <a:picLocks noChangeAspect="1"/>
          </p:cNvPicPr>
          <p:nvPr/>
        </p:nvPicPr>
        <p:blipFill>
          <a:blip r:embed="rId4"/>
          <a:srcRect l="0" r="0" t="-8" b="-8"/>
          <a:stretch/>
        </p:blipFill>
        <p:spPr>
          <a:xfrm>
            <a:off x="6474866" y="6476695"/>
            <a:ext cx="2279599" cy="705002"/>
          </a:xfrm>
          <a:prstGeom prst="rect">
            <a:avLst/>
          </a:prstGeom>
        </p:spPr>
      </p:pic>
      <p:sp>
        <p:nvSpPr>
          <p:cNvPr id="20" name="Shape 14"/>
          <p:cNvSpPr/>
          <p:nvPr/>
        </p:nvSpPr>
        <p:spPr>
          <a:xfrm>
            <a:off x="6665976" y="6629400"/>
            <a:ext cx="399593" cy="399593"/>
          </a:xfrm>
          <a:prstGeom prst="roundRect">
            <a:avLst>
              <a:gd name="adj" fmla="val 28604"/>
            </a:avLst>
          </a:prstGeom>
          <a:solidFill>
            <a:srgbClr val="BBDCC1"/>
          </a:solidFill>
          <a:ln w="12700">
            <a:solidFill>
              <a:srgbClr val="FFFFFF">
                <a:alpha val="0"/>
              </a:srgbClr>
            </a:solidFill>
            <a:prstDash val="solid"/>
          </a:ln>
        </p:spPr>
      </p:sp>
      <p:sp>
        <p:nvSpPr>
          <p:cNvPr id="21" name="Text 15"/>
          <p:cNvSpPr txBox="1"/>
          <p:nvPr/>
        </p:nvSpPr>
        <p:spPr>
          <a:xfrm>
            <a:off x="6665976" y="6629400"/>
            <a:ext cx="400507" cy="400507"/>
          </a:xfrm>
          <a:prstGeom prst="rect">
            <a:avLst/>
          </a:prstGeom>
          <a:solidFill>
            <a:srgbClr val="FFFFFF">
              <a:alpha val="0"/>
            </a:srgbClr>
          </a:solidFill>
          <a:ln>
            <a:solidFill>
              <a:srgbClr val="FFFFFF">
                <a:alpha val="0"/>
              </a:srgbClr>
            </a:solidFill>
          </a:ln>
        </p:spPr>
        <p:txBody>
          <a:bodyPr wrap="square" lIns="0" tIns="0" rIns="0" bIns="0" rtlCol="0" anchor="ctr"/>
          <a:lstStyle/>
          <a:p>
            <a:pPr algn="ctr" indent="0" marL="0">
              <a:buNone/>
            </a:pPr>
            <a:r>
              <a:rPr lang="en-US" sz="1200" b="1" dirty="0">
                <a:solidFill>
                  <a:srgbClr val="2C4252"/>
                </a:solidFill>
                <a:latin typeface="Nunito" pitchFamily="34" charset="0"/>
                <a:ea typeface="Nunito" pitchFamily="34" charset="-122"/>
                <a:cs typeface="Nunito" pitchFamily="34" charset="-120"/>
              </a:rPr>
              <a:t>✓</a:t>
            </a:r>
            <a:endParaRPr lang="en-US" sz="1200" dirty="0"/>
          </a:p>
        </p:txBody>
      </p:sp>
      <p:sp>
        <p:nvSpPr>
          <p:cNvPr id="22" name="Text 16"/>
          <p:cNvSpPr txBox="1"/>
          <p:nvPr/>
        </p:nvSpPr>
        <p:spPr>
          <a:xfrm>
            <a:off x="7179869" y="6666890"/>
            <a:ext cx="1390802" cy="191110"/>
          </a:xfrm>
          <a:prstGeom prst="rect">
            <a:avLst/>
          </a:prstGeom>
          <a:noFill/>
          <a:ln/>
        </p:spPr>
        <p:txBody>
          <a:bodyPr wrap="none" lIns="0" tIns="0" rIns="0" bIns="0" rtlCol="0" anchor="ctr"/>
          <a:lstStyle/>
          <a:p>
            <a:pPr algn="l" indent="0" marL="0">
              <a:buNone/>
            </a:pPr>
            <a:r>
              <a:rPr lang="en-US" sz="1125" b="1" dirty="0">
                <a:solidFill>
                  <a:srgbClr val="2C4252"/>
                </a:solidFill>
                <a:latin typeface="Nunito" pitchFamily="34" charset="0"/>
                <a:ea typeface="Nunito" pitchFamily="34" charset="-122"/>
                <a:cs typeface="Nunito" pitchFamily="34" charset="-120"/>
              </a:rPr>
              <a:t>Logged &amp; tracked</a:t>
            </a:r>
            <a:endParaRPr lang="en-US" sz="1125" dirty="0"/>
          </a:p>
        </p:txBody>
      </p:sp>
      <p:sp>
        <p:nvSpPr>
          <p:cNvPr id="23" name="Text 17"/>
          <p:cNvSpPr txBox="1"/>
          <p:nvPr/>
        </p:nvSpPr>
        <p:spPr>
          <a:xfrm>
            <a:off x="7179869" y="6858000"/>
            <a:ext cx="1655064" cy="133502"/>
          </a:xfrm>
          <a:prstGeom prst="rect">
            <a:avLst/>
          </a:prstGeom>
          <a:noFill/>
          <a:ln/>
        </p:spPr>
        <p:txBody>
          <a:bodyPr wrap="none" lIns="0" tIns="0" rIns="0" bIns="0" rtlCol="0" anchor="ctr"/>
          <a:lstStyle/>
          <a:p>
            <a:pPr algn="l" indent="0" marL="0">
              <a:buNone/>
            </a:pPr>
            <a:r>
              <a:rPr lang="en-US" sz="825" dirty="0">
                <a:solidFill>
                  <a:srgbClr val="5C6F7E"/>
                </a:solidFill>
                <a:latin typeface="Quicksand" pitchFamily="34" charset="0"/>
                <a:ea typeface="Quicksand" pitchFamily="34" charset="-122"/>
                <a:cs typeface="Quicksand" pitchFamily="34" charset="-120"/>
              </a:rPr>
              <a:t>Hospital / Urgent Care 2025</a:t>
            </a:r>
            <a:endParaRPr lang="en-US" sz="825" dirty="0"/>
          </a:p>
        </p:txBody>
      </p:sp>
      <p:pic>
        <p:nvPicPr>
          <p:cNvPr id="24" name="Image 4" descr="gen-dedup-b9deb0a63dcd4131aaddf88a0f1127a5.png">    </p:cNvPr>
          <p:cNvPicPr>
            <a:picLocks noChangeAspect="1"/>
          </p:cNvPicPr>
          <p:nvPr/>
        </p:nvPicPr>
        <p:blipFill>
          <a:blip r:embed="rId5"/>
          <a:srcRect l="0" r="0" t="-20" b="-20"/>
          <a:stretch/>
        </p:blipFill>
        <p:spPr>
          <a:xfrm>
            <a:off x="8887968" y="6476695"/>
            <a:ext cx="2218334" cy="705002"/>
          </a:xfrm>
          <a:prstGeom prst="rect">
            <a:avLst/>
          </a:prstGeom>
        </p:spPr>
      </p:pic>
      <p:sp>
        <p:nvSpPr>
          <p:cNvPr id="25" name="Shape 18"/>
          <p:cNvSpPr/>
          <p:nvPr/>
        </p:nvSpPr>
        <p:spPr>
          <a:xfrm>
            <a:off x="9078163" y="6629400"/>
            <a:ext cx="399593" cy="399593"/>
          </a:xfrm>
          <a:prstGeom prst="roundRect">
            <a:avLst>
              <a:gd name="adj" fmla="val 28604"/>
            </a:avLst>
          </a:prstGeom>
          <a:solidFill>
            <a:srgbClr val="F4A78B"/>
          </a:solidFill>
          <a:ln w="12700">
            <a:solidFill>
              <a:srgbClr val="FFFFFF">
                <a:alpha val="0"/>
              </a:srgbClr>
            </a:solidFill>
            <a:prstDash val="solid"/>
          </a:ln>
        </p:spPr>
      </p:sp>
      <p:sp>
        <p:nvSpPr>
          <p:cNvPr id="26" name="Text 19"/>
          <p:cNvSpPr txBox="1"/>
          <p:nvPr/>
        </p:nvSpPr>
        <p:spPr>
          <a:xfrm>
            <a:off x="9078163" y="6629400"/>
            <a:ext cx="400507" cy="400507"/>
          </a:xfrm>
          <a:prstGeom prst="rect">
            <a:avLst/>
          </a:prstGeom>
          <a:solidFill>
            <a:srgbClr val="FFFFFF">
              <a:alpha val="0"/>
            </a:srgbClr>
          </a:solidFill>
          <a:ln>
            <a:solidFill>
              <a:srgbClr val="FFFFFF">
                <a:alpha val="0"/>
              </a:srgbClr>
            </a:solidFill>
          </a:ln>
        </p:spPr>
        <p:txBody>
          <a:bodyPr wrap="square" lIns="0" tIns="0" rIns="0" bIns="0" rtlCol="0" anchor="ctr"/>
          <a:lstStyle/>
          <a:p>
            <a:pPr algn="ctr" indent="0" marL="0">
              <a:buNone/>
            </a:pPr>
            <a:r>
              <a:rPr lang="en-US" sz="1200" b="1" dirty="0">
                <a:solidFill>
                  <a:srgbClr val="7A2E1A"/>
                </a:solidFill>
                <a:latin typeface="Nunito" pitchFamily="34" charset="0"/>
                <a:ea typeface="Nunito" pitchFamily="34" charset="-122"/>
                <a:cs typeface="Nunito" pitchFamily="34" charset="-120"/>
              </a:rPr>
              <a:t>⤴</a:t>
            </a:r>
            <a:endParaRPr lang="en-US" sz="1200" dirty="0"/>
          </a:p>
        </p:txBody>
      </p:sp>
      <p:sp>
        <p:nvSpPr>
          <p:cNvPr id="27" name="Text 20"/>
          <p:cNvSpPr txBox="1"/>
          <p:nvPr/>
        </p:nvSpPr>
        <p:spPr>
          <a:xfrm>
            <a:off x="9592970" y="6666890"/>
            <a:ext cx="1575511" cy="191110"/>
          </a:xfrm>
          <a:prstGeom prst="rect">
            <a:avLst/>
          </a:prstGeom>
          <a:noFill/>
          <a:ln/>
        </p:spPr>
        <p:txBody>
          <a:bodyPr wrap="none" lIns="0" tIns="0" rIns="0" bIns="0" rtlCol="0" anchor="ctr"/>
          <a:lstStyle/>
          <a:p>
            <a:pPr algn="l" indent="0" marL="0">
              <a:buNone/>
            </a:pPr>
            <a:r>
              <a:rPr lang="en-US" sz="1125" b="1" dirty="0">
                <a:solidFill>
                  <a:srgbClr val="2C4252"/>
                </a:solidFill>
                <a:latin typeface="Nunito" pitchFamily="34" charset="0"/>
                <a:ea typeface="Nunito" pitchFamily="34" charset="-122"/>
                <a:cs typeface="Nunito" pitchFamily="34" charset="-120"/>
              </a:rPr>
              <a:t>Your role: follow-up</a:t>
            </a:r>
            <a:endParaRPr lang="en-US" sz="1125" dirty="0"/>
          </a:p>
        </p:txBody>
      </p:sp>
      <p:sp>
        <p:nvSpPr>
          <p:cNvPr id="28" name="Text 21"/>
          <p:cNvSpPr txBox="1"/>
          <p:nvPr/>
        </p:nvSpPr>
        <p:spPr>
          <a:xfrm>
            <a:off x="9592970" y="6858000"/>
            <a:ext cx="1324051" cy="133502"/>
          </a:xfrm>
          <a:prstGeom prst="rect">
            <a:avLst/>
          </a:prstGeom>
          <a:noFill/>
          <a:ln/>
        </p:spPr>
        <p:txBody>
          <a:bodyPr wrap="none" lIns="0" tIns="0" rIns="0" bIns="0" rtlCol="0" anchor="ctr"/>
          <a:lstStyle/>
          <a:p>
            <a:pPr algn="l" indent="0" marL="0">
              <a:buNone/>
            </a:pPr>
            <a:r>
              <a:rPr lang="en-US" sz="825" dirty="0">
                <a:solidFill>
                  <a:srgbClr val="5C6F7E"/>
                </a:solidFill>
                <a:latin typeface="Quicksand" pitchFamily="34" charset="0"/>
                <a:ea typeface="Quicksand" pitchFamily="34" charset="-122"/>
                <a:cs typeface="Quicksand" pitchFamily="34" charset="-120"/>
              </a:rPr>
              <a:t>Close the loop</a:t>
            </a:r>
            <a:endParaRPr lang="en-US" sz="82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7F2"/>
        </a:solidFill>
      </p:bgPr>
    </p:bg>
    <p:spTree>
      <p:nvGrpSpPr>
        <p:cNvPr id="1" name=""/>
        <p:cNvGrpSpPr/>
        <p:nvPr/>
      </p:nvGrpSpPr>
      <p:grpSpPr>
        <a:xfrm>
          <a:off x="0" y="0"/>
          <a:ext cx="0" cy="0"/>
          <a:chOff x="0" y="0"/>
          <a:chExt cx="0" cy="0"/>
        </a:xfrm>
      </p:grpSpPr>
      <p:pic>
        <p:nvPicPr>
          <p:cNvPr id="2" name="Image 0" descr="gen-dedup-3762d744227bbad51cfad7612f33c0ef.png">    </p:cNvPr>
          <p:cNvPicPr>
            <a:picLocks noChangeAspect="1"/>
          </p:cNvPicPr>
          <p:nvPr/>
        </p:nvPicPr>
        <p:blipFill>
          <a:blip r:embed="rId1">
            <a:alphaModFix amt="55000"/>
          </a:blip>
          <a:srcRect l="0" r="0" t="0" b="0"/>
          <a:stretch/>
        </p:blipFill>
        <p:spPr>
          <a:xfrm>
            <a:off x="11238890" y="-1524305"/>
            <a:ext cx="4000500" cy="4000500"/>
          </a:xfrm>
          <a:prstGeom prst="rect">
            <a:avLst/>
          </a:prstGeom>
        </p:spPr>
      </p:pic>
      <p:sp>
        <p:nvSpPr>
          <p:cNvPr id="3" name="Shape 0"/>
          <p:cNvSpPr/>
          <p:nvPr/>
        </p:nvSpPr>
        <p:spPr>
          <a:xfrm>
            <a:off x="856793" y="705002"/>
            <a:ext cx="2038198" cy="323698"/>
          </a:xfrm>
          <a:prstGeom prst="roundRect">
            <a:avLst>
              <a:gd name="adj" fmla="val 50000"/>
            </a:avLst>
          </a:prstGeom>
          <a:solidFill>
            <a:srgbClr val="BBDCC1"/>
          </a:solidFill>
          <a:ln w="12700">
            <a:solidFill>
              <a:srgbClr val="FFFFFF">
                <a:alpha val="0"/>
              </a:srgbClr>
            </a:solidFill>
            <a:prstDash val="solid"/>
          </a:ln>
        </p:spPr>
      </p:sp>
      <p:sp>
        <p:nvSpPr>
          <p:cNvPr id="4" name="Text 1"/>
          <p:cNvSpPr/>
          <p:nvPr/>
        </p:nvSpPr>
        <p:spPr>
          <a:xfrm>
            <a:off x="856793" y="705002"/>
            <a:ext cx="2039112" cy="324612"/>
          </a:xfrm>
          <a:prstGeom prst="rect">
            <a:avLst/>
          </a:prstGeom>
          <a:solidFill>
            <a:srgbClr val="FFFFFF">
              <a:alpha val="0"/>
            </a:srgbClr>
          </a:solidFill>
          <a:ln>
            <a:solidFill>
              <a:srgbClr val="FFFFFF">
                <a:alpha val="0"/>
              </a:srgbClr>
            </a:solidFill>
          </a:ln>
        </p:spPr>
        <p:txBody>
          <a:bodyPr wrap="none" lIns="190500" tIns="76200" rIns="190500" bIns="76200" rtlCol="0" anchor="ctr"/>
          <a:lstStyle/>
          <a:p>
            <a:pPr algn="ctr" indent="0" marL="0">
              <a:buNone/>
            </a:pPr>
            <a:r>
              <a:rPr lang="en-US" sz="975" b="1" spc="214" kern="0" dirty="0">
                <a:solidFill>
                  <a:srgbClr val="2C4252"/>
                </a:solidFill>
                <a:latin typeface="Nunito" pitchFamily="34" charset="0"/>
                <a:ea typeface="Nunito" pitchFamily="34" charset="-122"/>
                <a:cs typeface="Nunito" pitchFamily="34" charset="-120"/>
              </a:rPr>
              <a:t>Section · The Log</a:t>
            </a:r>
            <a:endParaRPr lang="en-US" sz="975" dirty="0"/>
          </a:p>
        </p:txBody>
      </p:sp>
      <p:sp>
        <p:nvSpPr>
          <p:cNvPr id="5" name="Text 2"/>
          <p:cNvSpPr txBox="1"/>
          <p:nvPr/>
        </p:nvSpPr>
        <p:spPr>
          <a:xfrm>
            <a:off x="856793" y="1238098"/>
            <a:ext cx="10477195" cy="648310"/>
          </a:xfrm>
          <a:prstGeom prst="rect">
            <a:avLst/>
          </a:prstGeom>
          <a:noFill/>
          <a:ln/>
        </p:spPr>
        <p:txBody>
          <a:bodyPr wrap="none" lIns="0" tIns="0" rIns="0" bIns="0" rtlCol="0" anchor="ctr"/>
          <a:lstStyle/>
          <a:p>
            <a:pPr algn="l" indent="0" marL="0">
              <a:buNone/>
            </a:pPr>
            <a:r>
              <a:rPr lang="en-US" sz="4800" b="1" spc="-96" kern="0" dirty="0">
                <a:solidFill>
                  <a:srgbClr val="2C4252"/>
                </a:solidFill>
                <a:latin typeface="Nunito" pitchFamily="34" charset="0"/>
                <a:ea typeface="Nunito" pitchFamily="34" charset="-122"/>
                <a:cs typeface="Nunito" pitchFamily="34" charset="-120"/>
              </a:rPr>
              <a:t>How to understand the </a:t>
            </a:r>
            <a:pPr algn="l" indent="0" marL="0">
              <a:buNone/>
            </a:pPr>
            <a:r>
              <a:rPr lang="en-US" sz="4800" b="1" spc="-96" kern="0" dirty="0">
                <a:solidFill>
                  <a:srgbClr val="4B7FC2"/>
                </a:solidFill>
                <a:latin typeface="Nunito" pitchFamily="34" charset="0"/>
                <a:ea typeface="Nunito" pitchFamily="34" charset="-122"/>
                <a:cs typeface="Nunito" pitchFamily="34" charset="-120"/>
              </a:rPr>
              <a:t>log</a:t>
            </a:r>
            <a:pPr algn="l" indent="0" marL="0">
              <a:buNone/>
            </a:pPr>
            <a:r>
              <a:rPr lang="en-US" sz="4800" b="1" spc="-96" kern="0" dirty="0">
                <a:solidFill>
                  <a:srgbClr val="2C4252"/>
                </a:solidFill>
                <a:latin typeface="Nunito" pitchFamily="34" charset="0"/>
                <a:ea typeface="Nunito" pitchFamily="34" charset="-122"/>
                <a:cs typeface="Nunito" pitchFamily="34" charset="-120"/>
              </a:rPr>
              <a:t>.</a:t>
            </a:r>
            <a:endParaRPr lang="en-US" sz="4800" dirty="0"/>
          </a:p>
        </p:txBody>
      </p:sp>
      <p:sp>
        <p:nvSpPr>
          <p:cNvPr id="6" name="Text 3"/>
          <p:cNvSpPr txBox="1"/>
          <p:nvPr/>
        </p:nvSpPr>
        <p:spPr>
          <a:xfrm>
            <a:off x="856793" y="2333549"/>
            <a:ext cx="8191195" cy="590702"/>
          </a:xfrm>
          <a:prstGeom prst="rect">
            <a:avLst/>
          </a:prstGeom>
          <a:noFill/>
          <a:ln/>
        </p:spPr>
        <p:txBody>
          <a:bodyPr wrap="square" lIns="0" tIns="0" rIns="0" bIns="0" rtlCol="0" anchor="ctr"/>
          <a:lstStyle/>
          <a:p>
            <a:pPr algn="l" indent="0" marL="0">
              <a:lnSpc>
                <a:spcPts val="2325"/>
              </a:lnSpc>
              <a:buNone/>
            </a:pPr>
            <a:r>
              <a:rPr lang="en-US" sz="1500" dirty="0">
                <a:solidFill>
                  <a:srgbClr val="3F5566"/>
                </a:solidFill>
                <a:latin typeface="Quicksand" pitchFamily="34" charset="0"/>
                <a:ea typeface="Quicksand" pitchFamily="34" charset="-122"/>
                <a:cs typeface="Quicksand" pitchFamily="34" charset="-120"/>
              </a:rPr>
              <a:t>Every patient we request records on is logged in the </a:t>
            </a:r>
            <a:pPr algn="l" indent="0" marL="0">
              <a:lnSpc>
                <a:spcPts val="2325"/>
              </a:lnSpc>
              <a:buNone/>
            </a:pPr>
            <a:r>
              <a:rPr lang="en-US" sz="1500" b="1" dirty="0">
                <a:solidFill>
                  <a:srgbClr val="2C4252"/>
                </a:solidFill>
                <a:latin typeface="Quicksand" pitchFamily="34" charset="0"/>
                <a:ea typeface="Quicksand" pitchFamily="34" charset="-122"/>
                <a:cs typeface="Quicksand" pitchFamily="34" charset="-120"/>
              </a:rPr>
              <a:t>Hospital/Urgent Care log 2025</a:t>
            </a:r>
            <a:pPr algn="l" indent="0" marL="0">
              <a:lnSpc>
                <a:spcPts val="2325"/>
              </a:lnSpc>
              <a:buNone/>
            </a:pPr>
            <a:r>
              <a:rPr lang="en-US" sz="1500" dirty="0">
                <a:solidFill>
                  <a:srgbClr val="3F5566"/>
                </a:solidFill>
                <a:latin typeface="Quicksand" pitchFamily="34" charset="0"/>
                <a:ea typeface="Quicksand" pitchFamily="34" charset="-122"/>
                <a:cs typeface="Quicksand" pitchFamily="34" charset="-120"/>
              </a:rPr>
              <a:t> for tracking. These are the columns you'll use every day.</a:t>
            </a:r>
            <a:endParaRPr lang="en-US" sz="1500" dirty="0"/>
          </a:p>
        </p:txBody>
      </p:sp>
      <p:pic>
        <p:nvPicPr>
          <p:cNvPr id="7" name="Image 1" descr="gen-dedup-db415c93c8bd41874bb2cb7476fdd70d.png">    </p:cNvPr>
          <p:cNvPicPr>
            <a:picLocks noChangeAspect="1"/>
          </p:cNvPicPr>
          <p:nvPr/>
        </p:nvPicPr>
        <p:blipFill>
          <a:blip r:embed="rId2"/>
          <a:srcRect l="-13" r="-13" t="0" b="0"/>
          <a:stretch/>
        </p:blipFill>
        <p:spPr>
          <a:xfrm>
            <a:off x="856793" y="3429000"/>
            <a:ext cx="2263140" cy="1546250"/>
          </a:xfrm>
          <a:prstGeom prst="rect">
            <a:avLst/>
          </a:prstGeom>
        </p:spPr>
      </p:pic>
      <p:sp>
        <p:nvSpPr>
          <p:cNvPr id="8" name="Shape 4"/>
          <p:cNvSpPr/>
          <p:nvPr/>
        </p:nvSpPr>
        <p:spPr>
          <a:xfrm>
            <a:off x="856793" y="3429000"/>
            <a:ext cx="56693" cy="1546250"/>
          </a:xfrm>
          <a:prstGeom prst="rect">
            <a:avLst/>
          </a:prstGeom>
          <a:solidFill>
            <a:srgbClr val="4B7FC2"/>
          </a:solidFill>
          <a:ln w="12700">
            <a:solidFill>
              <a:srgbClr val="FFFFFF">
                <a:alpha val="0"/>
              </a:srgbClr>
            </a:solidFill>
            <a:prstDash val="solid"/>
          </a:ln>
        </p:spPr>
      </p:sp>
      <p:pic>
        <p:nvPicPr>
          <p:cNvPr id="9" name="Image 2" descr="gen-dedup-a62bba2c7e97162d5741ab3e3cc94e3a.png">    </p:cNvPr>
          <p:cNvPicPr>
            <a:picLocks noChangeAspect="1"/>
          </p:cNvPicPr>
          <p:nvPr/>
        </p:nvPicPr>
        <p:blipFill>
          <a:blip r:embed="rId3"/>
          <a:srcRect l="0" r="0" t="-391" b="-391"/>
          <a:stretch/>
        </p:blipFill>
        <p:spPr>
          <a:xfrm>
            <a:off x="856793" y="3429000"/>
            <a:ext cx="56693" cy="1546250"/>
          </a:xfrm>
          <a:prstGeom prst="rect">
            <a:avLst/>
          </a:prstGeom>
        </p:spPr>
      </p:pic>
      <p:sp>
        <p:nvSpPr>
          <p:cNvPr id="10" name="Text 5"/>
          <p:cNvSpPr txBox="1"/>
          <p:nvPr/>
        </p:nvSpPr>
        <p:spPr>
          <a:xfrm>
            <a:off x="1047902" y="3657600"/>
            <a:ext cx="1886407" cy="171907"/>
          </a:xfrm>
          <a:prstGeom prst="rect">
            <a:avLst/>
          </a:prstGeom>
          <a:noFill/>
          <a:ln/>
        </p:spPr>
        <p:txBody>
          <a:bodyPr wrap="none" lIns="0" tIns="0" rIns="0" bIns="0" rtlCol="0" anchor="ctr"/>
          <a:lstStyle/>
          <a:p>
            <a:pPr algn="l" indent="0" marL="0">
              <a:buNone/>
            </a:pPr>
            <a:r>
              <a:rPr lang="en-US" sz="975" b="1" spc="146" kern="0" dirty="0">
                <a:solidFill>
                  <a:srgbClr val="4B7FC2"/>
                </a:solidFill>
                <a:latin typeface="Nunito" pitchFamily="34" charset="0"/>
                <a:ea typeface="Nunito" pitchFamily="34" charset="-122"/>
                <a:cs typeface="Nunito" pitchFamily="34" charset="-120"/>
              </a:rPr>
              <a:t>COL · A</a:t>
            </a:r>
            <a:endParaRPr lang="en-US" sz="975" dirty="0"/>
          </a:p>
        </p:txBody>
      </p:sp>
      <p:sp>
        <p:nvSpPr>
          <p:cNvPr id="11" name="Text 6"/>
          <p:cNvSpPr txBox="1"/>
          <p:nvPr/>
        </p:nvSpPr>
        <p:spPr>
          <a:xfrm>
            <a:off x="1047902" y="3905402"/>
            <a:ext cx="1886407" cy="210312"/>
          </a:xfrm>
          <a:prstGeom prst="rect">
            <a:avLst/>
          </a:prstGeom>
          <a:noFill/>
          <a:ln/>
        </p:spPr>
        <p:txBody>
          <a:bodyPr wrap="none" lIns="0" tIns="0" rIns="0" bIns="0" rtlCol="0" anchor="ctr"/>
          <a:lstStyle/>
          <a:p>
            <a:pPr algn="l" indent="0" marL="0">
              <a:buNone/>
            </a:pPr>
            <a:r>
              <a:rPr lang="en-US" sz="1425" b="1" dirty="0">
                <a:solidFill>
                  <a:srgbClr val="2C4252"/>
                </a:solidFill>
                <a:latin typeface="Nunito" pitchFamily="34" charset="0"/>
                <a:ea typeface="Nunito" pitchFamily="34" charset="-122"/>
                <a:cs typeface="Nunito" pitchFamily="34" charset="-120"/>
              </a:rPr>
              <a:t>Date</a:t>
            </a:r>
            <a:endParaRPr lang="en-US" sz="1425" dirty="0"/>
          </a:p>
        </p:txBody>
      </p:sp>
      <p:sp>
        <p:nvSpPr>
          <p:cNvPr id="12" name="Text 7"/>
          <p:cNvSpPr txBox="1"/>
          <p:nvPr/>
        </p:nvSpPr>
        <p:spPr>
          <a:xfrm>
            <a:off x="1047902" y="4188866"/>
            <a:ext cx="1886407" cy="362102"/>
          </a:xfrm>
          <a:prstGeom prst="rect">
            <a:avLst/>
          </a:prstGeom>
          <a:noFill/>
          <a:ln/>
        </p:spPr>
        <p:txBody>
          <a:bodyPr wrap="square" lIns="0" tIns="0" rIns="0" bIns="0" rtlCol="0" anchor="ctr"/>
          <a:lstStyle/>
          <a:p>
            <a:pPr algn="l" indent="0" marL="0">
              <a:lnSpc>
                <a:spcPts val="1414"/>
              </a:lnSpc>
              <a:buNone/>
            </a:pPr>
            <a:r>
              <a:rPr lang="en-US" sz="975" dirty="0">
                <a:solidFill>
                  <a:srgbClr val="5C6F7E"/>
                </a:solidFill>
                <a:latin typeface="Quicksand" pitchFamily="34" charset="0"/>
                <a:ea typeface="Quicksand" pitchFamily="34" charset="-122"/>
                <a:cs typeface="Quicksand" pitchFamily="34" charset="-120"/>
              </a:rPr>
              <a:t>The day the patient was scheduled and added to the log.</a:t>
            </a:r>
            <a:endParaRPr lang="en-US" sz="975" dirty="0"/>
          </a:p>
        </p:txBody>
      </p:sp>
      <p:pic>
        <p:nvPicPr>
          <p:cNvPr id="13" name="Image 3" descr="gen-dedup-db415c93c8bd41874bb2cb7476fdd70d.png">    </p:cNvPr>
          <p:cNvPicPr>
            <a:picLocks noChangeAspect="1"/>
          </p:cNvPicPr>
          <p:nvPr/>
        </p:nvPicPr>
        <p:blipFill>
          <a:blip r:embed="rId4"/>
          <a:srcRect l="-13" r="-13" t="0" b="0"/>
          <a:stretch/>
        </p:blipFill>
        <p:spPr>
          <a:xfrm>
            <a:off x="3291840" y="3429000"/>
            <a:ext cx="2263140" cy="1546250"/>
          </a:xfrm>
          <a:prstGeom prst="rect">
            <a:avLst/>
          </a:prstGeom>
        </p:spPr>
      </p:pic>
      <p:sp>
        <p:nvSpPr>
          <p:cNvPr id="14" name="Shape 8"/>
          <p:cNvSpPr/>
          <p:nvPr/>
        </p:nvSpPr>
        <p:spPr>
          <a:xfrm>
            <a:off x="3291840" y="3429000"/>
            <a:ext cx="56693" cy="1546250"/>
          </a:xfrm>
          <a:prstGeom prst="rect">
            <a:avLst/>
          </a:prstGeom>
          <a:solidFill>
            <a:srgbClr val="4B7FC2"/>
          </a:solidFill>
          <a:ln w="12700">
            <a:solidFill>
              <a:srgbClr val="FFFFFF">
                <a:alpha val="0"/>
              </a:srgbClr>
            </a:solidFill>
            <a:prstDash val="solid"/>
          </a:ln>
        </p:spPr>
      </p:sp>
      <p:pic>
        <p:nvPicPr>
          <p:cNvPr id="15" name="Image 4" descr="gen-dedup-bf894e82809b871489b5d6368f77963b.png">    </p:cNvPr>
          <p:cNvPicPr>
            <a:picLocks noChangeAspect="1"/>
          </p:cNvPicPr>
          <p:nvPr/>
        </p:nvPicPr>
        <p:blipFill>
          <a:blip r:embed="rId5"/>
          <a:srcRect l="0" r="0" t="-391" b="-391"/>
          <a:stretch/>
        </p:blipFill>
        <p:spPr>
          <a:xfrm>
            <a:off x="3291840" y="3429000"/>
            <a:ext cx="56693" cy="1546250"/>
          </a:xfrm>
          <a:prstGeom prst="rect">
            <a:avLst/>
          </a:prstGeom>
        </p:spPr>
      </p:pic>
      <p:sp>
        <p:nvSpPr>
          <p:cNvPr id="16" name="Text 9"/>
          <p:cNvSpPr txBox="1"/>
          <p:nvPr/>
        </p:nvSpPr>
        <p:spPr>
          <a:xfrm>
            <a:off x="3482035" y="3657600"/>
            <a:ext cx="1886407" cy="171907"/>
          </a:xfrm>
          <a:prstGeom prst="rect">
            <a:avLst/>
          </a:prstGeom>
          <a:noFill/>
          <a:ln/>
        </p:spPr>
        <p:txBody>
          <a:bodyPr wrap="none" lIns="0" tIns="0" rIns="0" bIns="0" rtlCol="0" anchor="ctr"/>
          <a:lstStyle/>
          <a:p>
            <a:pPr algn="l" indent="0" marL="0">
              <a:buNone/>
            </a:pPr>
            <a:r>
              <a:rPr lang="en-US" sz="975" b="1" spc="146" kern="0" dirty="0">
                <a:solidFill>
                  <a:srgbClr val="3F7E5A"/>
                </a:solidFill>
                <a:latin typeface="Nunito" pitchFamily="34" charset="0"/>
                <a:ea typeface="Nunito" pitchFamily="34" charset="-122"/>
                <a:cs typeface="Nunito" pitchFamily="34" charset="-120"/>
              </a:rPr>
              <a:t>COL · B</a:t>
            </a:r>
            <a:endParaRPr lang="en-US" sz="975" dirty="0"/>
          </a:p>
        </p:txBody>
      </p:sp>
      <p:sp>
        <p:nvSpPr>
          <p:cNvPr id="17" name="Text 10"/>
          <p:cNvSpPr txBox="1"/>
          <p:nvPr/>
        </p:nvSpPr>
        <p:spPr>
          <a:xfrm>
            <a:off x="3482035" y="3905402"/>
            <a:ext cx="1886407" cy="210312"/>
          </a:xfrm>
          <a:prstGeom prst="rect">
            <a:avLst/>
          </a:prstGeom>
          <a:noFill/>
          <a:ln/>
        </p:spPr>
        <p:txBody>
          <a:bodyPr wrap="none" lIns="0" tIns="0" rIns="0" bIns="0" rtlCol="0" anchor="ctr"/>
          <a:lstStyle/>
          <a:p>
            <a:pPr algn="l" indent="0" marL="0">
              <a:buNone/>
            </a:pPr>
            <a:r>
              <a:rPr lang="en-US" sz="1425" b="1" dirty="0">
                <a:solidFill>
                  <a:srgbClr val="2C4252"/>
                </a:solidFill>
                <a:latin typeface="Nunito" pitchFamily="34" charset="0"/>
                <a:ea typeface="Nunito" pitchFamily="34" charset="-122"/>
                <a:cs typeface="Nunito" pitchFamily="34" charset="-120"/>
              </a:rPr>
              <a:t>Patient info</a:t>
            </a:r>
            <a:endParaRPr lang="en-US" sz="1425" dirty="0"/>
          </a:p>
        </p:txBody>
      </p:sp>
      <p:sp>
        <p:nvSpPr>
          <p:cNvPr id="18" name="Text 11"/>
          <p:cNvSpPr txBox="1"/>
          <p:nvPr/>
        </p:nvSpPr>
        <p:spPr>
          <a:xfrm>
            <a:off x="3482035" y="4188866"/>
            <a:ext cx="1886407" cy="362102"/>
          </a:xfrm>
          <a:prstGeom prst="rect">
            <a:avLst/>
          </a:prstGeom>
          <a:noFill/>
          <a:ln/>
        </p:spPr>
        <p:txBody>
          <a:bodyPr wrap="square" lIns="0" tIns="0" rIns="0" bIns="0" rtlCol="0" anchor="ctr"/>
          <a:lstStyle/>
          <a:p>
            <a:pPr algn="l" indent="0" marL="0">
              <a:lnSpc>
                <a:spcPts val="1414"/>
              </a:lnSpc>
              <a:buNone/>
            </a:pPr>
            <a:r>
              <a:rPr lang="en-US" sz="975" dirty="0">
                <a:solidFill>
                  <a:srgbClr val="5C6F7E"/>
                </a:solidFill>
                <a:latin typeface="Quicksand" pitchFamily="34" charset="0"/>
                <a:ea typeface="Quicksand" pitchFamily="34" charset="-122"/>
                <a:cs typeface="Quicksand" pitchFamily="34" charset="-120"/>
              </a:rPr>
              <a:t>Name, DOB and DOI (date of injury).</a:t>
            </a:r>
            <a:endParaRPr lang="en-US" sz="975" dirty="0"/>
          </a:p>
        </p:txBody>
      </p:sp>
      <p:pic>
        <p:nvPicPr>
          <p:cNvPr id="19" name="Image 5" descr="gen-dedup-59eaaf72605b61bb651cb77b2a691498.png">    </p:cNvPr>
          <p:cNvPicPr>
            <a:picLocks noChangeAspect="1"/>
          </p:cNvPicPr>
          <p:nvPr/>
        </p:nvPicPr>
        <p:blipFill>
          <a:blip r:embed="rId6"/>
          <a:srcRect l="-10" r="-10" t="0" b="0"/>
          <a:stretch/>
        </p:blipFill>
        <p:spPr>
          <a:xfrm>
            <a:off x="5725973" y="3429000"/>
            <a:ext cx="2263140" cy="1546250"/>
          </a:xfrm>
          <a:prstGeom prst="rect">
            <a:avLst/>
          </a:prstGeom>
        </p:spPr>
      </p:pic>
      <p:sp>
        <p:nvSpPr>
          <p:cNvPr id="20" name="Shape 12"/>
          <p:cNvSpPr/>
          <p:nvPr/>
        </p:nvSpPr>
        <p:spPr>
          <a:xfrm>
            <a:off x="5725973" y="3429000"/>
            <a:ext cx="56693" cy="1546250"/>
          </a:xfrm>
          <a:prstGeom prst="rect">
            <a:avLst/>
          </a:prstGeom>
          <a:solidFill>
            <a:srgbClr val="4B7FC2"/>
          </a:solidFill>
          <a:ln w="12700">
            <a:solidFill>
              <a:srgbClr val="FFFFFF">
                <a:alpha val="0"/>
              </a:srgbClr>
            </a:solidFill>
            <a:prstDash val="solid"/>
          </a:ln>
        </p:spPr>
      </p:sp>
      <p:pic>
        <p:nvPicPr>
          <p:cNvPr id="21" name="Image 6" descr="gen-dedup-f174503b9f330686d5ace33e177a7e29.png">    </p:cNvPr>
          <p:cNvPicPr>
            <a:picLocks noChangeAspect="1"/>
          </p:cNvPicPr>
          <p:nvPr/>
        </p:nvPicPr>
        <p:blipFill>
          <a:blip r:embed="rId7"/>
          <a:srcRect l="0" r="0" t="-391" b="-391"/>
          <a:stretch/>
        </p:blipFill>
        <p:spPr>
          <a:xfrm>
            <a:off x="5725973" y="3429000"/>
            <a:ext cx="56693" cy="1546250"/>
          </a:xfrm>
          <a:prstGeom prst="rect">
            <a:avLst/>
          </a:prstGeom>
        </p:spPr>
      </p:pic>
      <p:sp>
        <p:nvSpPr>
          <p:cNvPr id="22" name="Text 13"/>
          <p:cNvSpPr txBox="1"/>
          <p:nvPr/>
        </p:nvSpPr>
        <p:spPr>
          <a:xfrm>
            <a:off x="5916168" y="3657600"/>
            <a:ext cx="1886407" cy="171907"/>
          </a:xfrm>
          <a:prstGeom prst="rect">
            <a:avLst/>
          </a:prstGeom>
          <a:noFill/>
          <a:ln/>
        </p:spPr>
        <p:txBody>
          <a:bodyPr wrap="none" lIns="0" tIns="0" rIns="0" bIns="0" rtlCol="0" anchor="ctr"/>
          <a:lstStyle/>
          <a:p>
            <a:pPr algn="l" indent="0" marL="0">
              <a:buNone/>
            </a:pPr>
            <a:r>
              <a:rPr lang="en-US" sz="975" b="1" spc="146" kern="0" dirty="0">
                <a:solidFill>
                  <a:srgbClr val="C75C2E"/>
                </a:solidFill>
                <a:latin typeface="Nunito" pitchFamily="34" charset="0"/>
                <a:ea typeface="Nunito" pitchFamily="34" charset="-122"/>
                <a:cs typeface="Nunito" pitchFamily="34" charset="-120"/>
              </a:rPr>
              <a:t>COL · C</a:t>
            </a:r>
            <a:endParaRPr lang="en-US" sz="975" dirty="0"/>
          </a:p>
        </p:txBody>
      </p:sp>
      <p:sp>
        <p:nvSpPr>
          <p:cNvPr id="23" name="Text 14"/>
          <p:cNvSpPr txBox="1"/>
          <p:nvPr/>
        </p:nvSpPr>
        <p:spPr>
          <a:xfrm>
            <a:off x="5916168" y="3905402"/>
            <a:ext cx="1886407" cy="210312"/>
          </a:xfrm>
          <a:prstGeom prst="rect">
            <a:avLst/>
          </a:prstGeom>
          <a:noFill/>
          <a:ln/>
        </p:spPr>
        <p:txBody>
          <a:bodyPr wrap="none" lIns="0" tIns="0" rIns="0" bIns="0" rtlCol="0" anchor="ctr"/>
          <a:lstStyle/>
          <a:p>
            <a:pPr algn="l" indent="0" marL="0">
              <a:buNone/>
            </a:pPr>
            <a:r>
              <a:rPr lang="en-US" sz="1425" b="1" dirty="0">
                <a:solidFill>
                  <a:srgbClr val="2C4252"/>
                </a:solidFill>
                <a:latin typeface="Nunito" pitchFamily="34" charset="0"/>
                <a:ea typeface="Nunito" pitchFamily="34" charset="-122"/>
                <a:cs typeface="Nunito" pitchFamily="34" charset="-120"/>
              </a:rPr>
              <a:t>Treating facility</a:t>
            </a:r>
            <a:endParaRPr lang="en-US" sz="1425" dirty="0"/>
          </a:p>
        </p:txBody>
      </p:sp>
      <p:sp>
        <p:nvSpPr>
          <p:cNvPr id="24" name="Text 15"/>
          <p:cNvSpPr txBox="1"/>
          <p:nvPr/>
        </p:nvSpPr>
        <p:spPr>
          <a:xfrm>
            <a:off x="5916168" y="4188866"/>
            <a:ext cx="1886407" cy="362102"/>
          </a:xfrm>
          <a:prstGeom prst="rect">
            <a:avLst/>
          </a:prstGeom>
          <a:noFill/>
          <a:ln/>
        </p:spPr>
        <p:txBody>
          <a:bodyPr wrap="square" lIns="0" tIns="0" rIns="0" bIns="0" rtlCol="0" anchor="ctr"/>
          <a:lstStyle/>
          <a:p>
            <a:pPr algn="l" indent="0" marL="0">
              <a:lnSpc>
                <a:spcPts val="1414"/>
              </a:lnSpc>
              <a:buNone/>
            </a:pPr>
            <a:r>
              <a:rPr lang="en-US" sz="975" dirty="0">
                <a:solidFill>
                  <a:srgbClr val="5C6F7E"/>
                </a:solidFill>
                <a:latin typeface="Quicksand" pitchFamily="34" charset="0"/>
                <a:ea typeface="Quicksand" pitchFamily="34" charset="-122"/>
                <a:cs typeface="Quicksand" pitchFamily="34" charset="-120"/>
              </a:rPr>
              <a:t>Name of facility scheduled, location &amp; appointment date.</a:t>
            </a:r>
            <a:endParaRPr lang="en-US" sz="975" dirty="0"/>
          </a:p>
        </p:txBody>
      </p:sp>
      <p:pic>
        <p:nvPicPr>
          <p:cNvPr id="25" name="Image 7" descr="gen-dedup-db415c93c8bd41874bb2cb7476fdd70d.png">    </p:cNvPr>
          <p:cNvPicPr>
            <a:picLocks noChangeAspect="1"/>
          </p:cNvPicPr>
          <p:nvPr/>
        </p:nvPicPr>
        <p:blipFill>
          <a:blip r:embed="rId8"/>
          <a:srcRect l="-13" r="-13" t="0" b="0"/>
          <a:stretch/>
        </p:blipFill>
        <p:spPr>
          <a:xfrm>
            <a:off x="8160106" y="3429000"/>
            <a:ext cx="2263140" cy="1546250"/>
          </a:xfrm>
          <a:prstGeom prst="rect">
            <a:avLst/>
          </a:prstGeom>
        </p:spPr>
      </p:pic>
      <p:sp>
        <p:nvSpPr>
          <p:cNvPr id="26" name="Shape 16"/>
          <p:cNvSpPr/>
          <p:nvPr/>
        </p:nvSpPr>
        <p:spPr>
          <a:xfrm>
            <a:off x="8160106" y="3429000"/>
            <a:ext cx="56693" cy="1546250"/>
          </a:xfrm>
          <a:prstGeom prst="rect">
            <a:avLst/>
          </a:prstGeom>
          <a:solidFill>
            <a:srgbClr val="4B7FC2"/>
          </a:solidFill>
          <a:ln w="12700">
            <a:solidFill>
              <a:srgbClr val="FFFFFF">
                <a:alpha val="0"/>
              </a:srgbClr>
            </a:solidFill>
            <a:prstDash val="solid"/>
          </a:ln>
        </p:spPr>
      </p:sp>
      <p:pic>
        <p:nvPicPr>
          <p:cNvPr id="27" name="Image 8" descr="gen-dedup-72363881db552b6e39f917b5ad6b2b67.png">    </p:cNvPr>
          <p:cNvPicPr>
            <a:picLocks noChangeAspect="1"/>
          </p:cNvPicPr>
          <p:nvPr/>
        </p:nvPicPr>
        <p:blipFill>
          <a:blip r:embed="rId9"/>
          <a:srcRect l="0" r="0" t="-391" b="-391"/>
          <a:stretch/>
        </p:blipFill>
        <p:spPr>
          <a:xfrm>
            <a:off x="8160106" y="3429000"/>
            <a:ext cx="56693" cy="1546250"/>
          </a:xfrm>
          <a:prstGeom prst="rect">
            <a:avLst/>
          </a:prstGeom>
        </p:spPr>
      </p:pic>
      <p:sp>
        <p:nvSpPr>
          <p:cNvPr id="28" name="Text 17"/>
          <p:cNvSpPr txBox="1"/>
          <p:nvPr/>
        </p:nvSpPr>
        <p:spPr>
          <a:xfrm>
            <a:off x="8351215" y="3657600"/>
            <a:ext cx="1886407" cy="171907"/>
          </a:xfrm>
          <a:prstGeom prst="rect">
            <a:avLst/>
          </a:prstGeom>
          <a:noFill/>
          <a:ln/>
        </p:spPr>
        <p:txBody>
          <a:bodyPr wrap="none" lIns="0" tIns="0" rIns="0" bIns="0" rtlCol="0" anchor="ctr"/>
          <a:lstStyle/>
          <a:p>
            <a:pPr algn="l" indent="0" marL="0">
              <a:buNone/>
            </a:pPr>
            <a:r>
              <a:rPr lang="en-US" sz="975" b="1" spc="146" kern="0" dirty="0">
                <a:solidFill>
                  <a:srgbClr val="2C4252"/>
                </a:solidFill>
                <a:latin typeface="Nunito" pitchFamily="34" charset="0"/>
                <a:ea typeface="Nunito" pitchFamily="34" charset="-122"/>
                <a:cs typeface="Nunito" pitchFamily="34" charset="-120"/>
              </a:rPr>
              <a:t>COL · D &amp; 5</a:t>
            </a:r>
            <a:endParaRPr lang="en-US" sz="975" dirty="0"/>
          </a:p>
        </p:txBody>
      </p:sp>
      <p:sp>
        <p:nvSpPr>
          <p:cNvPr id="29" name="Text 18"/>
          <p:cNvSpPr txBox="1"/>
          <p:nvPr/>
        </p:nvSpPr>
        <p:spPr>
          <a:xfrm>
            <a:off x="8351215" y="3905402"/>
            <a:ext cx="1886407" cy="210312"/>
          </a:xfrm>
          <a:prstGeom prst="rect">
            <a:avLst/>
          </a:prstGeom>
          <a:noFill/>
          <a:ln/>
        </p:spPr>
        <p:txBody>
          <a:bodyPr wrap="none" lIns="0" tIns="0" rIns="0" bIns="0" rtlCol="0" anchor="ctr"/>
          <a:lstStyle/>
          <a:p>
            <a:pPr algn="l" indent="0" marL="0">
              <a:buNone/>
            </a:pPr>
            <a:r>
              <a:rPr lang="en-US" sz="1425" b="1" dirty="0">
                <a:solidFill>
                  <a:srgbClr val="2C4252"/>
                </a:solidFill>
                <a:latin typeface="Nunito" pitchFamily="34" charset="0"/>
                <a:ea typeface="Nunito" pitchFamily="34" charset="-122"/>
                <a:cs typeface="Nunito" pitchFamily="34" charset="-120"/>
              </a:rPr>
              <a:t>Hospital / UC</a:t>
            </a:r>
            <a:endParaRPr lang="en-US" sz="1425" dirty="0"/>
          </a:p>
        </p:txBody>
      </p:sp>
      <p:sp>
        <p:nvSpPr>
          <p:cNvPr id="30" name="Text 19"/>
          <p:cNvSpPr txBox="1"/>
          <p:nvPr/>
        </p:nvSpPr>
        <p:spPr>
          <a:xfrm>
            <a:off x="8351215" y="4188866"/>
            <a:ext cx="1886407" cy="543154"/>
          </a:xfrm>
          <a:prstGeom prst="rect">
            <a:avLst/>
          </a:prstGeom>
          <a:noFill/>
          <a:ln/>
        </p:spPr>
        <p:txBody>
          <a:bodyPr wrap="square" lIns="0" tIns="0" rIns="0" bIns="0" rtlCol="0" anchor="ctr"/>
          <a:lstStyle/>
          <a:p>
            <a:pPr algn="l" indent="0" marL="0">
              <a:lnSpc>
                <a:spcPts val="1414"/>
              </a:lnSpc>
              <a:buNone/>
            </a:pPr>
            <a:r>
              <a:rPr lang="en-US" sz="975" dirty="0">
                <a:solidFill>
                  <a:srgbClr val="5C6F7E"/>
                </a:solidFill>
                <a:latin typeface="Quicksand" pitchFamily="34" charset="0"/>
                <a:ea typeface="Quicksand" pitchFamily="34" charset="-122"/>
                <a:cs typeface="Quicksand" pitchFamily="34" charset="-120"/>
              </a:rPr>
              <a:t>Where the patient was seen + how the request was sent (fax # or email).</a:t>
            </a:r>
            <a:endParaRPr lang="en-US" sz="975" dirty="0"/>
          </a:p>
        </p:txBody>
      </p:sp>
      <p:pic>
        <p:nvPicPr>
          <p:cNvPr id="31" name="Image 9" descr="gen-dedup-59eaaf72605b61bb651cb77b2a691498.png">    </p:cNvPr>
          <p:cNvPicPr>
            <a:picLocks noChangeAspect="1"/>
          </p:cNvPicPr>
          <p:nvPr/>
        </p:nvPicPr>
        <p:blipFill>
          <a:blip r:embed="rId10"/>
          <a:srcRect l="-10" r="-10" t="0" b="0"/>
          <a:stretch/>
        </p:blipFill>
        <p:spPr>
          <a:xfrm>
            <a:off x="10595153" y="3429000"/>
            <a:ext cx="2263140" cy="1546250"/>
          </a:xfrm>
          <a:prstGeom prst="rect">
            <a:avLst/>
          </a:prstGeom>
        </p:spPr>
      </p:pic>
      <p:sp>
        <p:nvSpPr>
          <p:cNvPr id="32" name="Shape 20"/>
          <p:cNvSpPr/>
          <p:nvPr/>
        </p:nvSpPr>
        <p:spPr>
          <a:xfrm>
            <a:off x="10595153" y="3429000"/>
            <a:ext cx="56693" cy="1546250"/>
          </a:xfrm>
          <a:prstGeom prst="rect">
            <a:avLst/>
          </a:prstGeom>
          <a:solidFill>
            <a:srgbClr val="4B7FC2"/>
          </a:solidFill>
          <a:ln w="12700">
            <a:solidFill>
              <a:srgbClr val="FFFFFF">
                <a:alpha val="0"/>
              </a:srgbClr>
            </a:solidFill>
            <a:prstDash val="solid"/>
          </a:ln>
        </p:spPr>
      </p:sp>
      <p:pic>
        <p:nvPicPr>
          <p:cNvPr id="33" name="Image 10" descr="gen-dedup-a62bba2c7e97162d5741ab3e3cc94e3a.png">    </p:cNvPr>
          <p:cNvPicPr>
            <a:picLocks noChangeAspect="1"/>
          </p:cNvPicPr>
          <p:nvPr/>
        </p:nvPicPr>
        <p:blipFill>
          <a:blip r:embed="rId11"/>
          <a:srcRect l="0" r="0" t="-391" b="-391"/>
          <a:stretch/>
        </p:blipFill>
        <p:spPr>
          <a:xfrm>
            <a:off x="10595153" y="3429000"/>
            <a:ext cx="56693" cy="1546250"/>
          </a:xfrm>
          <a:prstGeom prst="rect">
            <a:avLst/>
          </a:prstGeom>
        </p:spPr>
      </p:pic>
      <p:sp>
        <p:nvSpPr>
          <p:cNvPr id="34" name="Text 21"/>
          <p:cNvSpPr txBox="1"/>
          <p:nvPr/>
        </p:nvSpPr>
        <p:spPr>
          <a:xfrm>
            <a:off x="10785348" y="3657600"/>
            <a:ext cx="1886407" cy="171907"/>
          </a:xfrm>
          <a:prstGeom prst="rect">
            <a:avLst/>
          </a:prstGeom>
          <a:noFill/>
          <a:ln/>
        </p:spPr>
        <p:txBody>
          <a:bodyPr wrap="none" lIns="0" tIns="0" rIns="0" bIns="0" rtlCol="0" anchor="ctr"/>
          <a:lstStyle/>
          <a:p>
            <a:pPr algn="l" indent="0" marL="0">
              <a:buNone/>
            </a:pPr>
            <a:r>
              <a:rPr lang="en-US" sz="975" b="1" spc="146" kern="0" dirty="0">
                <a:solidFill>
                  <a:srgbClr val="4B7FC2"/>
                </a:solidFill>
                <a:latin typeface="Nunito" pitchFamily="34" charset="0"/>
                <a:ea typeface="Nunito" pitchFamily="34" charset="-122"/>
                <a:cs typeface="Nunito" pitchFamily="34" charset="-120"/>
              </a:rPr>
              <a:t>NOTES</a:t>
            </a:r>
            <a:endParaRPr lang="en-US" sz="975" dirty="0"/>
          </a:p>
        </p:txBody>
      </p:sp>
      <p:sp>
        <p:nvSpPr>
          <p:cNvPr id="35" name="Text 22"/>
          <p:cNvSpPr txBox="1"/>
          <p:nvPr/>
        </p:nvSpPr>
        <p:spPr>
          <a:xfrm>
            <a:off x="10785348" y="3905402"/>
            <a:ext cx="2244852" cy="210312"/>
          </a:xfrm>
          <a:prstGeom prst="rect">
            <a:avLst/>
          </a:prstGeom>
          <a:noFill/>
          <a:ln/>
        </p:spPr>
        <p:txBody>
          <a:bodyPr wrap="none" lIns="0" tIns="0" rIns="0" bIns="0" rtlCol="0" anchor="ctr"/>
          <a:lstStyle/>
          <a:p>
            <a:pPr algn="l" indent="0" marL="0">
              <a:buNone/>
            </a:pPr>
            <a:r>
              <a:rPr lang="en-US" sz="1425" b="1" dirty="0">
                <a:solidFill>
                  <a:srgbClr val="2C4252"/>
                </a:solidFill>
                <a:latin typeface="Nunito" pitchFamily="34" charset="0"/>
                <a:ea typeface="Nunito" pitchFamily="34" charset="-122"/>
                <a:cs typeface="Nunito" pitchFamily="34" charset="-120"/>
              </a:rPr>
              <a:t>Updates + follow-ups</a:t>
            </a:r>
            <a:endParaRPr lang="en-US" sz="1425" dirty="0"/>
          </a:p>
        </p:txBody>
      </p:sp>
      <p:sp>
        <p:nvSpPr>
          <p:cNvPr id="36" name="Text 23"/>
          <p:cNvSpPr txBox="1"/>
          <p:nvPr/>
        </p:nvSpPr>
        <p:spPr>
          <a:xfrm>
            <a:off x="10785348" y="4188866"/>
            <a:ext cx="1886407" cy="543154"/>
          </a:xfrm>
          <a:prstGeom prst="rect">
            <a:avLst/>
          </a:prstGeom>
          <a:noFill/>
          <a:ln/>
        </p:spPr>
        <p:txBody>
          <a:bodyPr wrap="square" lIns="0" tIns="0" rIns="0" bIns="0" rtlCol="0" anchor="ctr"/>
          <a:lstStyle/>
          <a:p>
            <a:pPr algn="l" indent="0" marL="0">
              <a:lnSpc>
                <a:spcPts val="1414"/>
              </a:lnSpc>
              <a:buNone/>
            </a:pPr>
            <a:r>
              <a:rPr lang="en-US" sz="975" dirty="0">
                <a:solidFill>
                  <a:srgbClr val="5C6F7E"/>
                </a:solidFill>
                <a:latin typeface="Quicksand" pitchFamily="34" charset="0"/>
                <a:ea typeface="Quicksand" pitchFamily="34" charset="-122"/>
                <a:cs typeface="Quicksand" pitchFamily="34" charset="-120"/>
              </a:rPr>
              <a:t>Every call, contact name and detail — latest first, never delete old.</a:t>
            </a:r>
            <a:endParaRPr lang="en-US" sz="975" dirty="0"/>
          </a:p>
        </p:txBody>
      </p:sp>
      <p:sp>
        <p:nvSpPr>
          <p:cNvPr id="37" name="Shape 24"/>
          <p:cNvSpPr/>
          <p:nvPr/>
        </p:nvSpPr>
        <p:spPr>
          <a:xfrm>
            <a:off x="856793" y="6966814"/>
            <a:ext cx="95098" cy="95098"/>
          </a:xfrm>
          <a:prstGeom prst="ellipse">
            <a:avLst/>
          </a:prstGeom>
          <a:solidFill>
            <a:srgbClr val="4B7FC2"/>
          </a:solidFill>
          <a:ln w="12700">
            <a:solidFill>
              <a:srgbClr val="FFFFFF">
                <a:alpha val="0"/>
              </a:srgbClr>
            </a:solidFill>
            <a:prstDash val="solid"/>
          </a:ln>
        </p:spPr>
      </p:sp>
      <p:sp>
        <p:nvSpPr>
          <p:cNvPr id="38" name="Text 25"/>
          <p:cNvSpPr txBox="1"/>
          <p:nvPr/>
        </p:nvSpPr>
        <p:spPr>
          <a:xfrm>
            <a:off x="1085393" y="6923837"/>
            <a:ext cx="4791456" cy="181051"/>
          </a:xfrm>
          <a:prstGeom prst="rect">
            <a:avLst/>
          </a:prstGeom>
          <a:noFill/>
          <a:ln/>
        </p:spPr>
        <p:txBody>
          <a:bodyPr wrap="none" lIns="0" tIns="0" rIns="0" bIns="0" rtlCol="0" anchor="ctr"/>
          <a:lstStyle/>
          <a:p>
            <a:pPr algn="l" indent="0" marL="0">
              <a:buNone/>
            </a:pPr>
            <a:r>
              <a:rPr lang="en-US" sz="1050" b="1" spc="189" kern="0" dirty="0">
                <a:solidFill>
                  <a:srgbClr val="3F5566"/>
                </a:solidFill>
                <a:latin typeface="Nunito" pitchFamily="34" charset="0"/>
                <a:ea typeface="Nunito" pitchFamily="34" charset="-122"/>
                <a:cs typeface="Nunito" pitchFamily="34" charset="-120"/>
              </a:rPr>
              <a:t>You always work the oldest pending rows first</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7F2"/>
        </a:solidFill>
      </p:bgPr>
    </p:bg>
    <p:spTree>
      <p:nvGrpSpPr>
        <p:cNvPr id="1" name=""/>
        <p:cNvGrpSpPr/>
        <p:nvPr/>
      </p:nvGrpSpPr>
      <p:grpSpPr>
        <a:xfrm>
          <a:off x="0" y="0"/>
          <a:ext cx="0" cy="0"/>
          <a:chOff x="0" y="0"/>
          <a:chExt cx="0" cy="0"/>
        </a:xfrm>
      </p:grpSpPr>
      <p:pic>
        <p:nvPicPr>
          <p:cNvPr id="2" name="Image 0" descr="gen-dedup-b772c727692b4ebbacc9f8cc513c6330.png">    </p:cNvPr>
          <p:cNvPicPr>
            <a:picLocks noChangeAspect="1"/>
          </p:cNvPicPr>
          <p:nvPr/>
        </p:nvPicPr>
        <p:blipFill>
          <a:blip r:embed="rId1">
            <a:alphaModFix amt="50000"/>
          </a:blip>
          <a:srcRect l="0" r="0" t="0" b="0"/>
          <a:stretch/>
        </p:blipFill>
        <p:spPr>
          <a:xfrm>
            <a:off x="-1714500" y="5428793"/>
            <a:ext cx="4000500" cy="4000500"/>
          </a:xfrm>
          <a:prstGeom prst="rect">
            <a:avLst/>
          </a:prstGeom>
        </p:spPr>
      </p:pic>
      <p:sp>
        <p:nvSpPr>
          <p:cNvPr id="3" name="Shape 0"/>
          <p:cNvSpPr/>
          <p:nvPr/>
        </p:nvSpPr>
        <p:spPr>
          <a:xfrm>
            <a:off x="856793" y="705002"/>
            <a:ext cx="4000500" cy="323698"/>
          </a:xfrm>
          <a:prstGeom prst="roundRect">
            <a:avLst>
              <a:gd name="adj" fmla="val 50000"/>
            </a:avLst>
          </a:prstGeom>
          <a:solidFill>
            <a:srgbClr val="BBDCC1"/>
          </a:solidFill>
          <a:ln w="12700">
            <a:solidFill>
              <a:srgbClr val="FFFFFF">
                <a:alpha val="0"/>
              </a:srgbClr>
            </a:solidFill>
            <a:prstDash val="solid"/>
          </a:ln>
        </p:spPr>
      </p:sp>
      <p:sp>
        <p:nvSpPr>
          <p:cNvPr id="4" name="Text 1"/>
          <p:cNvSpPr/>
          <p:nvPr/>
        </p:nvSpPr>
        <p:spPr>
          <a:xfrm>
            <a:off x="856793" y="705002"/>
            <a:ext cx="4000500" cy="324612"/>
          </a:xfrm>
          <a:prstGeom prst="rect">
            <a:avLst/>
          </a:prstGeom>
          <a:solidFill>
            <a:srgbClr val="FFFFFF">
              <a:alpha val="0"/>
            </a:srgbClr>
          </a:solidFill>
          <a:ln>
            <a:solidFill>
              <a:srgbClr val="FFFFFF">
                <a:alpha val="0"/>
              </a:srgbClr>
            </a:solidFill>
          </a:ln>
        </p:spPr>
        <p:txBody>
          <a:bodyPr wrap="none" lIns="190500" tIns="76200" rIns="190500" bIns="76200" rtlCol="0" anchor="ctr"/>
          <a:lstStyle/>
          <a:p>
            <a:pPr algn="ctr" indent="0" marL="0">
              <a:buNone/>
            </a:pPr>
            <a:r>
              <a:rPr lang="en-US" sz="975" b="1" spc="214" kern="0" dirty="0">
                <a:solidFill>
                  <a:srgbClr val="2C4252"/>
                </a:solidFill>
                <a:latin typeface="Nunito" pitchFamily="34" charset="0"/>
                <a:ea typeface="Nunito" pitchFamily="34" charset="-122"/>
                <a:cs typeface="Nunito" pitchFamily="34" charset="-120"/>
              </a:rPr>
              <a:t>Reference · What each row tells you</a:t>
            </a:r>
            <a:endParaRPr lang="en-US" sz="975" dirty="0"/>
          </a:p>
        </p:txBody>
      </p:sp>
      <p:sp>
        <p:nvSpPr>
          <p:cNvPr id="5" name="Text 2"/>
          <p:cNvSpPr txBox="1"/>
          <p:nvPr/>
        </p:nvSpPr>
        <p:spPr>
          <a:xfrm>
            <a:off x="856793" y="1238098"/>
            <a:ext cx="11810390" cy="562356"/>
          </a:xfrm>
          <a:prstGeom prst="rect">
            <a:avLst/>
          </a:prstGeom>
          <a:noFill/>
          <a:ln/>
        </p:spPr>
        <p:txBody>
          <a:bodyPr wrap="none" lIns="0" tIns="0" rIns="0" bIns="0" rtlCol="0" anchor="ctr"/>
          <a:lstStyle/>
          <a:p>
            <a:pPr algn="l" indent="0" marL="0">
              <a:buNone/>
            </a:pPr>
            <a:r>
              <a:rPr lang="en-US" sz="4200" b="1" spc="-84" kern="0" dirty="0">
                <a:solidFill>
                  <a:srgbClr val="2C4252"/>
                </a:solidFill>
                <a:latin typeface="Nunito" pitchFamily="34" charset="0"/>
                <a:ea typeface="Nunito" pitchFamily="34" charset="-122"/>
                <a:cs typeface="Nunito" pitchFamily="34" charset="-120"/>
              </a:rPr>
              <a:t>A column for </a:t>
            </a:r>
            <a:pPr algn="l" indent="0" marL="0">
              <a:buNone/>
            </a:pPr>
            <a:r>
              <a:rPr lang="en-US" sz="4200" b="1" spc="-84" kern="0" dirty="0">
                <a:solidFill>
                  <a:srgbClr val="4B7FC2"/>
                </a:solidFill>
                <a:latin typeface="Nunito" pitchFamily="34" charset="0"/>
                <a:ea typeface="Nunito" pitchFamily="34" charset="-122"/>
                <a:cs typeface="Nunito" pitchFamily="34" charset="-120"/>
              </a:rPr>
              <a:t>every detail</a:t>
            </a:r>
            <a:pPr algn="l" indent="0" marL="0">
              <a:buNone/>
            </a:pPr>
            <a:r>
              <a:rPr lang="en-US" sz="4200" b="1" spc="-84" kern="0" dirty="0">
                <a:solidFill>
                  <a:srgbClr val="2C4252"/>
                </a:solidFill>
                <a:latin typeface="Nunito" pitchFamily="34" charset="0"/>
                <a:ea typeface="Nunito" pitchFamily="34" charset="-122"/>
                <a:cs typeface="Nunito" pitchFamily="34" charset="-120"/>
              </a:rPr>
              <a:t> you need.</a:t>
            </a:r>
            <a:endParaRPr lang="en-US" sz="4200" dirty="0"/>
          </a:p>
        </p:txBody>
      </p:sp>
      <p:pic>
        <p:nvPicPr>
          <p:cNvPr id="6" name="Image 1" descr="gen-dedup-b1d46a520e8352122d450e54e461de01.png">    </p:cNvPr>
          <p:cNvPicPr>
            <a:picLocks noChangeAspect="1"/>
          </p:cNvPicPr>
          <p:nvPr/>
        </p:nvPicPr>
        <p:blipFill>
          <a:blip r:embed="rId2"/>
          <a:srcRect l="0" r="0" t="-4" b="-4"/>
          <a:stretch/>
        </p:blipFill>
        <p:spPr>
          <a:xfrm>
            <a:off x="856793" y="2190902"/>
            <a:ext cx="12000586" cy="914400"/>
          </a:xfrm>
          <a:prstGeom prst="rect">
            <a:avLst/>
          </a:prstGeom>
        </p:spPr>
      </p:pic>
      <p:sp>
        <p:nvSpPr>
          <p:cNvPr id="7" name="Shape 3"/>
          <p:cNvSpPr/>
          <p:nvPr/>
        </p:nvSpPr>
        <p:spPr>
          <a:xfrm>
            <a:off x="1104595" y="2381098"/>
            <a:ext cx="914400" cy="533095"/>
          </a:xfrm>
          <a:prstGeom prst="roundRect">
            <a:avLst>
              <a:gd name="adj" fmla="val 25043"/>
            </a:avLst>
          </a:prstGeom>
          <a:solidFill>
            <a:srgbClr val="BFD8E9"/>
          </a:solidFill>
          <a:ln w="12700">
            <a:solidFill>
              <a:srgbClr val="FFFFFF">
                <a:alpha val="0"/>
              </a:srgbClr>
            </a:solidFill>
            <a:prstDash val="solid"/>
          </a:ln>
        </p:spPr>
      </p:sp>
      <p:sp>
        <p:nvSpPr>
          <p:cNvPr id="8" name="Text 4"/>
          <p:cNvSpPr txBox="1"/>
          <p:nvPr/>
        </p:nvSpPr>
        <p:spPr>
          <a:xfrm>
            <a:off x="1104595" y="2381098"/>
            <a:ext cx="914400" cy="534010"/>
          </a:xfrm>
          <a:prstGeom prst="rect">
            <a:avLst/>
          </a:prstGeom>
          <a:solidFill>
            <a:srgbClr val="FFFFFF">
              <a:alpha val="0"/>
            </a:srgbClr>
          </a:solidFill>
          <a:ln>
            <a:solidFill>
              <a:srgbClr val="FFFFFF">
                <a:alpha val="0"/>
              </a:srgbClr>
            </a:solidFill>
          </a:ln>
        </p:spPr>
        <p:txBody>
          <a:bodyPr wrap="square" lIns="0" tIns="0" rIns="0" bIns="0" rtlCol="0" anchor="ctr"/>
          <a:lstStyle/>
          <a:p>
            <a:pPr algn="ctr" indent="0" marL="0">
              <a:buNone/>
            </a:pPr>
            <a:r>
              <a:rPr lang="en-US" sz="1275" b="1" dirty="0">
                <a:solidFill>
                  <a:srgbClr val="2C4252"/>
                </a:solidFill>
                <a:latin typeface="Nunito" pitchFamily="34" charset="0"/>
                <a:ea typeface="Nunito" pitchFamily="34" charset="-122"/>
                <a:cs typeface="Nunito" pitchFamily="34" charset="-120"/>
              </a:rPr>
              <a:t>A · Date</a:t>
            </a:r>
            <a:endParaRPr lang="en-US" sz="1275" dirty="0"/>
          </a:p>
        </p:txBody>
      </p:sp>
      <p:sp>
        <p:nvSpPr>
          <p:cNvPr id="9" name="Text 5"/>
          <p:cNvSpPr txBox="1"/>
          <p:nvPr/>
        </p:nvSpPr>
        <p:spPr>
          <a:xfrm>
            <a:off x="2228393" y="2465222"/>
            <a:ext cx="10382098" cy="143561"/>
          </a:xfrm>
          <a:prstGeom prst="rect">
            <a:avLst/>
          </a:prstGeom>
          <a:noFill/>
          <a:ln/>
        </p:spPr>
        <p:txBody>
          <a:bodyPr wrap="none" lIns="0" tIns="0" rIns="0" bIns="0" rtlCol="0" anchor="ctr"/>
          <a:lstStyle/>
          <a:p>
            <a:pPr algn="l" indent="0" marL="0">
              <a:buNone/>
            </a:pPr>
            <a:r>
              <a:rPr lang="en-US" sz="825" b="1" spc="132" kern="0" dirty="0">
                <a:solidFill>
                  <a:srgbClr val="4B7FC2"/>
                </a:solidFill>
                <a:latin typeface="Nunito" pitchFamily="34" charset="0"/>
                <a:ea typeface="Nunito" pitchFamily="34" charset="-122"/>
                <a:cs typeface="Nunito" pitchFamily="34" charset="-120"/>
              </a:rPr>
              <a:t>When it was logged</a:t>
            </a:r>
            <a:endParaRPr lang="en-US" sz="825" dirty="0"/>
          </a:p>
        </p:txBody>
      </p:sp>
      <p:sp>
        <p:nvSpPr>
          <p:cNvPr id="10" name="Text 6"/>
          <p:cNvSpPr txBox="1"/>
          <p:nvPr/>
        </p:nvSpPr>
        <p:spPr>
          <a:xfrm>
            <a:off x="2228393" y="2636215"/>
            <a:ext cx="10382098" cy="200254"/>
          </a:xfrm>
          <a:prstGeom prst="rect">
            <a:avLst/>
          </a:prstGeom>
          <a:noFill/>
          <a:ln/>
        </p:spPr>
        <p:txBody>
          <a:bodyPr wrap="none" lIns="0" tIns="0" rIns="0" bIns="0" rtlCol="0" anchor="ctr"/>
          <a:lstStyle/>
          <a:p>
            <a:pPr algn="l" indent="0" marL="0">
              <a:buNone/>
            </a:pPr>
            <a:r>
              <a:rPr lang="en-US" sz="1275" b="1" dirty="0">
                <a:solidFill>
                  <a:srgbClr val="2C4252"/>
                </a:solidFill>
                <a:latin typeface="Nunito" pitchFamily="34" charset="0"/>
                <a:ea typeface="Nunito" pitchFamily="34" charset="-122"/>
                <a:cs typeface="Nunito" pitchFamily="34" charset="-120"/>
              </a:rPr>
              <a:t>The day the patient was scheduled and added to the log.</a:t>
            </a:r>
            <a:endParaRPr lang="en-US" sz="1275" dirty="0"/>
          </a:p>
        </p:txBody>
      </p:sp>
      <p:pic>
        <p:nvPicPr>
          <p:cNvPr id="11" name="Image 2" descr="gen-dedup-b1d46a520e8352122d450e54e461de01.png">    </p:cNvPr>
          <p:cNvPicPr>
            <a:picLocks noChangeAspect="1"/>
          </p:cNvPicPr>
          <p:nvPr/>
        </p:nvPicPr>
        <p:blipFill>
          <a:blip r:embed="rId3"/>
          <a:srcRect l="0" r="0" t="-4" b="-4"/>
          <a:stretch/>
        </p:blipFill>
        <p:spPr>
          <a:xfrm>
            <a:off x="856793" y="3237890"/>
            <a:ext cx="12000586" cy="914400"/>
          </a:xfrm>
          <a:prstGeom prst="rect">
            <a:avLst/>
          </a:prstGeom>
        </p:spPr>
      </p:pic>
      <p:sp>
        <p:nvSpPr>
          <p:cNvPr id="12" name="Shape 7"/>
          <p:cNvSpPr/>
          <p:nvPr/>
        </p:nvSpPr>
        <p:spPr>
          <a:xfrm>
            <a:off x="1104595" y="3429000"/>
            <a:ext cx="914400" cy="533095"/>
          </a:xfrm>
          <a:prstGeom prst="roundRect">
            <a:avLst>
              <a:gd name="adj" fmla="val 25043"/>
            </a:avLst>
          </a:prstGeom>
          <a:solidFill>
            <a:srgbClr val="BBDCC1"/>
          </a:solidFill>
          <a:ln w="12700">
            <a:solidFill>
              <a:srgbClr val="FFFFFF">
                <a:alpha val="0"/>
              </a:srgbClr>
            </a:solidFill>
            <a:prstDash val="solid"/>
          </a:ln>
        </p:spPr>
      </p:sp>
      <p:sp>
        <p:nvSpPr>
          <p:cNvPr id="13" name="Text 8"/>
          <p:cNvSpPr txBox="1"/>
          <p:nvPr/>
        </p:nvSpPr>
        <p:spPr>
          <a:xfrm>
            <a:off x="1104595" y="3429000"/>
            <a:ext cx="914400" cy="534010"/>
          </a:xfrm>
          <a:prstGeom prst="rect">
            <a:avLst/>
          </a:prstGeom>
          <a:solidFill>
            <a:srgbClr val="FFFFFF">
              <a:alpha val="0"/>
            </a:srgbClr>
          </a:solidFill>
          <a:ln>
            <a:solidFill>
              <a:srgbClr val="FFFFFF">
                <a:alpha val="0"/>
              </a:srgbClr>
            </a:solidFill>
          </a:ln>
        </p:spPr>
        <p:txBody>
          <a:bodyPr wrap="square" lIns="0" tIns="0" rIns="0" bIns="0" rtlCol="0" anchor="ctr"/>
          <a:lstStyle/>
          <a:p>
            <a:pPr algn="ctr" indent="0" marL="0">
              <a:buNone/>
            </a:pPr>
            <a:r>
              <a:rPr lang="en-US" sz="1275" b="1" dirty="0">
                <a:solidFill>
                  <a:srgbClr val="2C4252"/>
                </a:solidFill>
                <a:latin typeface="Nunito" pitchFamily="34" charset="0"/>
                <a:ea typeface="Nunito" pitchFamily="34" charset="-122"/>
                <a:cs typeface="Nunito" pitchFamily="34" charset="-120"/>
              </a:rPr>
              <a:t>B · Patient</a:t>
            </a:r>
            <a:endParaRPr lang="en-US" sz="1275" dirty="0"/>
          </a:p>
        </p:txBody>
      </p:sp>
      <p:sp>
        <p:nvSpPr>
          <p:cNvPr id="14" name="Text 9"/>
          <p:cNvSpPr txBox="1"/>
          <p:nvPr/>
        </p:nvSpPr>
        <p:spPr>
          <a:xfrm>
            <a:off x="2228393" y="3512210"/>
            <a:ext cx="10382098" cy="143561"/>
          </a:xfrm>
          <a:prstGeom prst="rect">
            <a:avLst/>
          </a:prstGeom>
          <a:noFill/>
          <a:ln/>
        </p:spPr>
        <p:txBody>
          <a:bodyPr wrap="none" lIns="0" tIns="0" rIns="0" bIns="0" rtlCol="0" anchor="ctr"/>
          <a:lstStyle/>
          <a:p>
            <a:pPr algn="l" indent="0" marL="0">
              <a:buNone/>
            </a:pPr>
            <a:r>
              <a:rPr lang="en-US" sz="825" b="1" spc="132" kern="0" dirty="0">
                <a:solidFill>
                  <a:srgbClr val="3F7E5A"/>
                </a:solidFill>
                <a:latin typeface="Nunito" pitchFamily="34" charset="0"/>
                <a:ea typeface="Nunito" pitchFamily="34" charset="-122"/>
                <a:cs typeface="Nunito" pitchFamily="34" charset="-120"/>
              </a:rPr>
              <a:t>Who you're calling about</a:t>
            </a:r>
            <a:endParaRPr lang="en-US" sz="825" dirty="0"/>
          </a:p>
        </p:txBody>
      </p:sp>
      <p:sp>
        <p:nvSpPr>
          <p:cNvPr id="15" name="Text 10"/>
          <p:cNvSpPr txBox="1"/>
          <p:nvPr/>
        </p:nvSpPr>
        <p:spPr>
          <a:xfrm>
            <a:off x="2228393" y="3684118"/>
            <a:ext cx="10382098" cy="200254"/>
          </a:xfrm>
          <a:prstGeom prst="rect">
            <a:avLst/>
          </a:prstGeom>
          <a:noFill/>
          <a:ln/>
        </p:spPr>
        <p:txBody>
          <a:bodyPr wrap="none" lIns="0" tIns="0" rIns="0" bIns="0" rtlCol="0" anchor="ctr"/>
          <a:lstStyle/>
          <a:p>
            <a:pPr algn="l" indent="0" marL="0">
              <a:buNone/>
            </a:pPr>
            <a:r>
              <a:rPr lang="en-US" sz="1275" b="1" dirty="0">
                <a:solidFill>
                  <a:srgbClr val="2C4252"/>
                </a:solidFill>
                <a:latin typeface="Nunito" pitchFamily="34" charset="0"/>
                <a:ea typeface="Nunito" pitchFamily="34" charset="-122"/>
                <a:cs typeface="Nunito" pitchFamily="34" charset="-120"/>
              </a:rPr>
              <a:t>Name, DOB and DOI in one place.</a:t>
            </a:r>
            <a:endParaRPr lang="en-US" sz="1275" dirty="0"/>
          </a:p>
        </p:txBody>
      </p:sp>
      <p:pic>
        <p:nvPicPr>
          <p:cNvPr id="16" name="Image 3" descr="gen-dedup-b1d46a520e8352122d450e54e461de01.png">    </p:cNvPr>
          <p:cNvPicPr>
            <a:picLocks noChangeAspect="1"/>
          </p:cNvPicPr>
          <p:nvPr/>
        </p:nvPicPr>
        <p:blipFill>
          <a:blip r:embed="rId4"/>
          <a:srcRect l="0" r="0" t="-4" b="-4"/>
          <a:stretch/>
        </p:blipFill>
        <p:spPr>
          <a:xfrm>
            <a:off x="856793" y="4285793"/>
            <a:ext cx="12000586" cy="914400"/>
          </a:xfrm>
          <a:prstGeom prst="rect">
            <a:avLst/>
          </a:prstGeom>
        </p:spPr>
      </p:pic>
      <p:sp>
        <p:nvSpPr>
          <p:cNvPr id="17" name="Shape 11"/>
          <p:cNvSpPr/>
          <p:nvPr/>
        </p:nvSpPr>
        <p:spPr>
          <a:xfrm>
            <a:off x="1104595" y="4476902"/>
            <a:ext cx="914400" cy="533095"/>
          </a:xfrm>
          <a:prstGeom prst="roundRect">
            <a:avLst>
              <a:gd name="adj" fmla="val 25043"/>
            </a:avLst>
          </a:prstGeom>
          <a:solidFill>
            <a:srgbClr val="F4A78B"/>
          </a:solidFill>
          <a:ln w="12700">
            <a:solidFill>
              <a:srgbClr val="FFFFFF">
                <a:alpha val="0"/>
              </a:srgbClr>
            </a:solidFill>
            <a:prstDash val="solid"/>
          </a:ln>
        </p:spPr>
      </p:sp>
      <p:sp>
        <p:nvSpPr>
          <p:cNvPr id="18" name="Text 12"/>
          <p:cNvSpPr txBox="1"/>
          <p:nvPr/>
        </p:nvSpPr>
        <p:spPr>
          <a:xfrm>
            <a:off x="1104595" y="4476902"/>
            <a:ext cx="914400" cy="534010"/>
          </a:xfrm>
          <a:prstGeom prst="rect">
            <a:avLst/>
          </a:prstGeom>
          <a:solidFill>
            <a:srgbClr val="FFFFFF">
              <a:alpha val="0"/>
            </a:srgbClr>
          </a:solidFill>
          <a:ln>
            <a:solidFill>
              <a:srgbClr val="FFFFFF">
                <a:alpha val="0"/>
              </a:srgbClr>
            </a:solidFill>
          </a:ln>
        </p:spPr>
        <p:txBody>
          <a:bodyPr wrap="square" lIns="0" tIns="0" rIns="0" bIns="0" rtlCol="0" anchor="ctr"/>
          <a:lstStyle/>
          <a:p>
            <a:pPr algn="ctr" indent="0" marL="0">
              <a:buNone/>
            </a:pPr>
            <a:r>
              <a:rPr lang="en-US" sz="1275" b="1" dirty="0">
                <a:solidFill>
                  <a:srgbClr val="7A2E1A"/>
                </a:solidFill>
                <a:latin typeface="Nunito" pitchFamily="34" charset="0"/>
                <a:ea typeface="Nunito" pitchFamily="34" charset="-122"/>
                <a:cs typeface="Nunito" pitchFamily="34" charset="-120"/>
              </a:rPr>
              <a:t>C · Facility</a:t>
            </a:r>
            <a:endParaRPr lang="en-US" sz="1275" dirty="0"/>
          </a:p>
        </p:txBody>
      </p:sp>
      <p:sp>
        <p:nvSpPr>
          <p:cNvPr id="19" name="Text 13"/>
          <p:cNvSpPr txBox="1"/>
          <p:nvPr/>
        </p:nvSpPr>
        <p:spPr>
          <a:xfrm>
            <a:off x="2228393" y="4560113"/>
            <a:ext cx="10382098" cy="143561"/>
          </a:xfrm>
          <a:prstGeom prst="rect">
            <a:avLst/>
          </a:prstGeom>
          <a:noFill/>
          <a:ln/>
        </p:spPr>
        <p:txBody>
          <a:bodyPr wrap="none" lIns="0" tIns="0" rIns="0" bIns="0" rtlCol="0" anchor="ctr"/>
          <a:lstStyle/>
          <a:p>
            <a:pPr algn="l" indent="0" marL="0">
              <a:buNone/>
            </a:pPr>
            <a:r>
              <a:rPr lang="en-US" sz="825" b="1" spc="132" kern="0" dirty="0">
                <a:solidFill>
                  <a:srgbClr val="C75C2E"/>
                </a:solidFill>
                <a:latin typeface="Nunito" pitchFamily="34" charset="0"/>
                <a:ea typeface="Nunito" pitchFamily="34" charset="-122"/>
                <a:cs typeface="Nunito" pitchFamily="34" charset="-120"/>
              </a:rPr>
              <a:t>Where they're being treated</a:t>
            </a:r>
            <a:endParaRPr lang="en-US" sz="825" dirty="0"/>
          </a:p>
        </p:txBody>
      </p:sp>
      <p:sp>
        <p:nvSpPr>
          <p:cNvPr id="20" name="Text 14"/>
          <p:cNvSpPr txBox="1"/>
          <p:nvPr/>
        </p:nvSpPr>
        <p:spPr>
          <a:xfrm>
            <a:off x="2228393" y="4732020"/>
            <a:ext cx="10382098" cy="200254"/>
          </a:xfrm>
          <a:prstGeom prst="rect">
            <a:avLst/>
          </a:prstGeom>
          <a:noFill/>
          <a:ln/>
        </p:spPr>
        <p:txBody>
          <a:bodyPr wrap="none" lIns="0" tIns="0" rIns="0" bIns="0" rtlCol="0" anchor="ctr"/>
          <a:lstStyle/>
          <a:p>
            <a:pPr algn="l" indent="0" marL="0">
              <a:buNone/>
            </a:pPr>
            <a:r>
              <a:rPr lang="en-US" sz="1275" b="1" dirty="0">
                <a:solidFill>
                  <a:srgbClr val="2C4252"/>
                </a:solidFill>
                <a:latin typeface="Nunito" pitchFamily="34" charset="0"/>
                <a:ea typeface="Nunito" pitchFamily="34" charset="-122"/>
                <a:cs typeface="Nunito" pitchFamily="34" charset="-120"/>
              </a:rPr>
              <a:t>Treating facility name, location &amp; appointment date.</a:t>
            </a:r>
            <a:endParaRPr lang="en-US" sz="1275" dirty="0"/>
          </a:p>
        </p:txBody>
      </p:sp>
      <p:pic>
        <p:nvPicPr>
          <p:cNvPr id="21" name="Image 4" descr="gen-dedup-b1d46a520e8352122d450e54e461de01.png">    </p:cNvPr>
          <p:cNvPicPr>
            <a:picLocks noChangeAspect="1"/>
          </p:cNvPicPr>
          <p:nvPr/>
        </p:nvPicPr>
        <p:blipFill>
          <a:blip r:embed="rId5"/>
          <a:srcRect l="0" r="0" t="-4" b="-4"/>
          <a:stretch/>
        </p:blipFill>
        <p:spPr>
          <a:xfrm>
            <a:off x="856793" y="5333695"/>
            <a:ext cx="12000586" cy="914400"/>
          </a:xfrm>
          <a:prstGeom prst="rect">
            <a:avLst/>
          </a:prstGeom>
        </p:spPr>
      </p:pic>
      <p:sp>
        <p:nvSpPr>
          <p:cNvPr id="22" name="Shape 15"/>
          <p:cNvSpPr/>
          <p:nvPr/>
        </p:nvSpPr>
        <p:spPr>
          <a:xfrm>
            <a:off x="1104595" y="5523890"/>
            <a:ext cx="914400" cy="533095"/>
          </a:xfrm>
          <a:prstGeom prst="roundRect">
            <a:avLst>
              <a:gd name="adj" fmla="val 25043"/>
            </a:avLst>
          </a:prstGeom>
          <a:solidFill>
            <a:srgbClr val="2C4252"/>
          </a:solidFill>
          <a:ln w="12700">
            <a:solidFill>
              <a:srgbClr val="FFFFFF">
                <a:alpha val="0"/>
              </a:srgbClr>
            </a:solidFill>
            <a:prstDash val="solid"/>
          </a:ln>
        </p:spPr>
      </p:sp>
      <p:sp>
        <p:nvSpPr>
          <p:cNvPr id="23" name="Text 16"/>
          <p:cNvSpPr txBox="1"/>
          <p:nvPr/>
        </p:nvSpPr>
        <p:spPr>
          <a:xfrm>
            <a:off x="1104595" y="5523890"/>
            <a:ext cx="914400" cy="534010"/>
          </a:xfrm>
          <a:prstGeom prst="rect">
            <a:avLst/>
          </a:prstGeom>
          <a:solidFill>
            <a:srgbClr val="FFFFFF">
              <a:alpha val="0"/>
            </a:srgbClr>
          </a:solidFill>
          <a:ln>
            <a:solidFill>
              <a:srgbClr val="FFFFFF">
                <a:alpha val="0"/>
              </a:srgbClr>
            </a:solidFill>
          </a:ln>
        </p:spPr>
        <p:txBody>
          <a:bodyPr wrap="square" lIns="0" tIns="0" rIns="0" bIns="0" rtlCol="0" anchor="ctr"/>
          <a:lstStyle/>
          <a:p>
            <a:pPr algn="ctr" indent="0" marL="0">
              <a:buNone/>
            </a:pPr>
            <a:r>
              <a:rPr lang="en-US" sz="1275" b="1" dirty="0">
                <a:solidFill>
                  <a:srgbClr val="FFFFFF"/>
                </a:solidFill>
                <a:latin typeface="Nunito" pitchFamily="34" charset="0"/>
                <a:ea typeface="Nunito" pitchFamily="34" charset="-122"/>
                <a:cs typeface="Nunito" pitchFamily="34" charset="-120"/>
              </a:rPr>
              <a:t>D · H/UC</a:t>
            </a:r>
            <a:endParaRPr lang="en-US" sz="1275" dirty="0"/>
          </a:p>
        </p:txBody>
      </p:sp>
      <p:sp>
        <p:nvSpPr>
          <p:cNvPr id="24" name="Text 17"/>
          <p:cNvSpPr txBox="1"/>
          <p:nvPr/>
        </p:nvSpPr>
        <p:spPr>
          <a:xfrm>
            <a:off x="2228393" y="5608015"/>
            <a:ext cx="10382098" cy="143561"/>
          </a:xfrm>
          <a:prstGeom prst="rect">
            <a:avLst/>
          </a:prstGeom>
          <a:noFill/>
          <a:ln/>
        </p:spPr>
        <p:txBody>
          <a:bodyPr wrap="none" lIns="0" tIns="0" rIns="0" bIns="0" rtlCol="0" anchor="ctr"/>
          <a:lstStyle/>
          <a:p>
            <a:pPr algn="l" indent="0" marL="0">
              <a:buNone/>
            </a:pPr>
            <a:r>
              <a:rPr lang="en-US" sz="825" b="1" spc="132" kern="0" dirty="0">
                <a:solidFill>
                  <a:srgbClr val="2C4252"/>
                </a:solidFill>
                <a:latin typeface="Nunito" pitchFamily="34" charset="0"/>
                <a:ea typeface="Nunito" pitchFamily="34" charset="-122"/>
                <a:cs typeface="Nunito" pitchFamily="34" charset="-120"/>
              </a:rPr>
              <a:t>Source facility</a:t>
            </a:r>
            <a:endParaRPr lang="en-US" sz="825" dirty="0"/>
          </a:p>
        </p:txBody>
      </p:sp>
      <p:sp>
        <p:nvSpPr>
          <p:cNvPr id="25" name="Text 18"/>
          <p:cNvSpPr txBox="1"/>
          <p:nvPr/>
        </p:nvSpPr>
        <p:spPr>
          <a:xfrm>
            <a:off x="2228393" y="5779008"/>
            <a:ext cx="10382098" cy="200254"/>
          </a:xfrm>
          <a:prstGeom prst="rect">
            <a:avLst/>
          </a:prstGeom>
          <a:noFill/>
          <a:ln/>
        </p:spPr>
        <p:txBody>
          <a:bodyPr wrap="none" lIns="0" tIns="0" rIns="0" bIns="0" rtlCol="0" anchor="ctr"/>
          <a:lstStyle/>
          <a:p>
            <a:pPr algn="l" indent="0" marL="0">
              <a:buNone/>
            </a:pPr>
            <a:r>
              <a:rPr lang="en-US" sz="1275" b="1" dirty="0">
                <a:solidFill>
                  <a:srgbClr val="2C4252"/>
                </a:solidFill>
                <a:latin typeface="Nunito" pitchFamily="34" charset="0"/>
                <a:ea typeface="Nunito" pitchFamily="34" charset="-122"/>
                <a:cs typeface="Nunito" pitchFamily="34" charset="-120"/>
              </a:rPr>
              <a:t>Hospital/Urgent Care the patient was seen at + how the request was sent.</a:t>
            </a:r>
            <a:endParaRPr lang="en-US" sz="1275" dirty="0"/>
          </a:p>
        </p:txBody>
      </p:sp>
      <p:pic>
        <p:nvPicPr>
          <p:cNvPr id="26" name="Image 5" descr="gen-dedup-b1d46a520e8352122d450e54e461de01.png">    </p:cNvPr>
          <p:cNvPicPr>
            <a:picLocks noChangeAspect="1"/>
          </p:cNvPicPr>
          <p:nvPr/>
        </p:nvPicPr>
        <p:blipFill>
          <a:blip r:embed="rId6"/>
          <a:srcRect l="0" r="0" t="-4" b="-4"/>
          <a:stretch/>
        </p:blipFill>
        <p:spPr>
          <a:xfrm>
            <a:off x="856793" y="6381598"/>
            <a:ext cx="12000586" cy="914400"/>
          </a:xfrm>
          <a:prstGeom prst="rect">
            <a:avLst/>
          </a:prstGeom>
        </p:spPr>
      </p:pic>
      <p:sp>
        <p:nvSpPr>
          <p:cNvPr id="27" name="Shape 19"/>
          <p:cNvSpPr/>
          <p:nvPr/>
        </p:nvSpPr>
        <p:spPr>
          <a:xfrm>
            <a:off x="1104595" y="6571793"/>
            <a:ext cx="914400" cy="533095"/>
          </a:xfrm>
          <a:prstGeom prst="roundRect">
            <a:avLst>
              <a:gd name="adj" fmla="val 25043"/>
            </a:avLst>
          </a:prstGeom>
          <a:solidFill>
            <a:srgbClr val="4B7FC2"/>
          </a:solidFill>
          <a:ln w="12700">
            <a:solidFill>
              <a:srgbClr val="FFFFFF">
                <a:alpha val="0"/>
              </a:srgbClr>
            </a:solidFill>
            <a:prstDash val="solid"/>
          </a:ln>
        </p:spPr>
      </p:sp>
      <p:sp>
        <p:nvSpPr>
          <p:cNvPr id="28" name="Text 20"/>
          <p:cNvSpPr txBox="1"/>
          <p:nvPr/>
        </p:nvSpPr>
        <p:spPr>
          <a:xfrm>
            <a:off x="1104595" y="6571793"/>
            <a:ext cx="914400" cy="534010"/>
          </a:xfrm>
          <a:prstGeom prst="rect">
            <a:avLst/>
          </a:prstGeom>
          <a:solidFill>
            <a:srgbClr val="FFFFFF">
              <a:alpha val="0"/>
            </a:srgbClr>
          </a:solidFill>
          <a:ln>
            <a:solidFill>
              <a:srgbClr val="FFFFFF">
                <a:alpha val="0"/>
              </a:srgbClr>
            </a:solidFill>
          </a:ln>
        </p:spPr>
        <p:txBody>
          <a:bodyPr wrap="square" lIns="0" tIns="0" rIns="0" bIns="0" rtlCol="0" anchor="ctr"/>
          <a:lstStyle/>
          <a:p>
            <a:pPr algn="ctr" indent="0" marL="0">
              <a:buNone/>
            </a:pPr>
            <a:r>
              <a:rPr lang="en-US" sz="1275" b="1" dirty="0">
                <a:solidFill>
                  <a:srgbClr val="FFFFFF"/>
                </a:solidFill>
                <a:latin typeface="Nunito" pitchFamily="34" charset="0"/>
                <a:ea typeface="Nunito" pitchFamily="34" charset="-122"/>
                <a:cs typeface="Nunito" pitchFamily="34" charset="-120"/>
              </a:rPr>
              <a:t>Notes</a:t>
            </a:r>
            <a:endParaRPr lang="en-US" sz="1275" dirty="0"/>
          </a:p>
        </p:txBody>
      </p:sp>
      <p:sp>
        <p:nvSpPr>
          <p:cNvPr id="29" name="Text 21"/>
          <p:cNvSpPr txBox="1"/>
          <p:nvPr/>
        </p:nvSpPr>
        <p:spPr>
          <a:xfrm>
            <a:off x="2228393" y="6655918"/>
            <a:ext cx="10382098" cy="143561"/>
          </a:xfrm>
          <a:prstGeom prst="rect">
            <a:avLst/>
          </a:prstGeom>
          <a:noFill/>
          <a:ln/>
        </p:spPr>
        <p:txBody>
          <a:bodyPr wrap="none" lIns="0" tIns="0" rIns="0" bIns="0" rtlCol="0" anchor="ctr"/>
          <a:lstStyle/>
          <a:p>
            <a:pPr algn="l" indent="0" marL="0">
              <a:buNone/>
            </a:pPr>
            <a:r>
              <a:rPr lang="en-US" sz="825" b="1" spc="132" kern="0" dirty="0">
                <a:solidFill>
                  <a:srgbClr val="1FA7AD"/>
                </a:solidFill>
                <a:latin typeface="Nunito" pitchFamily="34" charset="0"/>
                <a:ea typeface="Nunito" pitchFamily="34" charset="-122"/>
                <a:cs typeface="Nunito" pitchFamily="34" charset="-120"/>
              </a:rPr>
              <a:t>The history</a:t>
            </a:r>
            <a:endParaRPr lang="en-US" sz="825" dirty="0"/>
          </a:p>
        </p:txBody>
      </p:sp>
      <p:sp>
        <p:nvSpPr>
          <p:cNvPr id="30" name="Text 22"/>
          <p:cNvSpPr txBox="1"/>
          <p:nvPr/>
        </p:nvSpPr>
        <p:spPr>
          <a:xfrm>
            <a:off x="2228393" y="6826910"/>
            <a:ext cx="10382098" cy="200254"/>
          </a:xfrm>
          <a:prstGeom prst="rect">
            <a:avLst/>
          </a:prstGeom>
          <a:noFill/>
          <a:ln/>
        </p:spPr>
        <p:txBody>
          <a:bodyPr wrap="none" lIns="0" tIns="0" rIns="0" bIns="0" rtlCol="0" anchor="ctr"/>
          <a:lstStyle/>
          <a:p>
            <a:pPr algn="l" indent="0" marL="0">
              <a:buNone/>
            </a:pPr>
            <a:r>
              <a:rPr lang="en-US" sz="1275" b="1" dirty="0">
                <a:solidFill>
                  <a:srgbClr val="2C4252"/>
                </a:solidFill>
                <a:latin typeface="Nunito" pitchFamily="34" charset="0"/>
                <a:ea typeface="Nunito" pitchFamily="34" charset="-122"/>
                <a:cs typeface="Nunito" pitchFamily="34" charset="-120"/>
              </a:rPr>
              <a:t>Updates from the facility — latest note first, old notes stay.</a:t>
            </a:r>
            <a:endParaRPr lang="en-US" sz="127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7F2"/>
        </a:solidFill>
      </p:bgPr>
    </p:bg>
    <p:spTree>
      <p:nvGrpSpPr>
        <p:cNvPr id="1" name=""/>
        <p:cNvGrpSpPr/>
        <p:nvPr/>
      </p:nvGrpSpPr>
      <p:grpSpPr>
        <a:xfrm>
          <a:off x="0" y="0"/>
          <a:ext cx="0" cy="0"/>
          <a:chOff x="0" y="0"/>
          <a:chExt cx="0" cy="0"/>
        </a:xfrm>
      </p:grpSpPr>
      <p:pic>
        <p:nvPicPr>
          <p:cNvPr id="2" name="Image 0" descr="gen-dedup-3762d744227bbad51cfad7612f33c0ef.png">    </p:cNvPr>
          <p:cNvPicPr>
            <a:picLocks noChangeAspect="1"/>
          </p:cNvPicPr>
          <p:nvPr/>
        </p:nvPicPr>
        <p:blipFill>
          <a:blip r:embed="rId1">
            <a:alphaModFix amt="50000"/>
          </a:blip>
          <a:srcRect l="0" r="0" t="0" b="0"/>
          <a:stretch/>
        </p:blipFill>
        <p:spPr>
          <a:xfrm>
            <a:off x="11620195" y="-1904695"/>
            <a:ext cx="4000500" cy="4000500"/>
          </a:xfrm>
          <a:prstGeom prst="rect">
            <a:avLst/>
          </a:prstGeom>
        </p:spPr>
      </p:pic>
      <p:sp>
        <p:nvSpPr>
          <p:cNvPr id="3" name="Shape 0"/>
          <p:cNvSpPr/>
          <p:nvPr/>
        </p:nvSpPr>
        <p:spPr>
          <a:xfrm>
            <a:off x="856793" y="705002"/>
            <a:ext cx="1704442" cy="323698"/>
          </a:xfrm>
          <a:prstGeom prst="roundRect">
            <a:avLst>
              <a:gd name="adj" fmla="val 50000"/>
            </a:avLst>
          </a:prstGeom>
          <a:solidFill>
            <a:srgbClr val="BBDCC1"/>
          </a:solidFill>
          <a:ln w="12700">
            <a:solidFill>
              <a:srgbClr val="FFFFFF">
                <a:alpha val="0"/>
              </a:srgbClr>
            </a:solidFill>
            <a:prstDash val="solid"/>
          </a:ln>
        </p:spPr>
      </p:sp>
      <p:sp>
        <p:nvSpPr>
          <p:cNvPr id="4" name="Text 1"/>
          <p:cNvSpPr/>
          <p:nvPr/>
        </p:nvSpPr>
        <p:spPr>
          <a:xfrm>
            <a:off x="856793" y="705002"/>
            <a:ext cx="1705356" cy="324612"/>
          </a:xfrm>
          <a:prstGeom prst="rect">
            <a:avLst/>
          </a:prstGeom>
          <a:solidFill>
            <a:srgbClr val="FFFFFF">
              <a:alpha val="0"/>
            </a:srgbClr>
          </a:solidFill>
          <a:ln>
            <a:solidFill>
              <a:srgbClr val="FFFFFF">
                <a:alpha val="0"/>
              </a:srgbClr>
            </a:solidFill>
          </a:ln>
        </p:spPr>
        <p:txBody>
          <a:bodyPr wrap="none" lIns="190500" tIns="76200" rIns="190500" bIns="76200" rtlCol="0" anchor="ctr"/>
          <a:lstStyle/>
          <a:p>
            <a:pPr algn="ctr" indent="0" marL="0">
              <a:buNone/>
            </a:pPr>
            <a:r>
              <a:rPr lang="en-US" sz="975" b="1" spc="214" kern="0" dirty="0">
                <a:solidFill>
                  <a:srgbClr val="2C4252"/>
                </a:solidFill>
                <a:latin typeface="Nunito" pitchFamily="34" charset="0"/>
                <a:ea typeface="Nunito" pitchFamily="34" charset="-122"/>
                <a:cs typeface="Nunito" pitchFamily="34" charset="-120"/>
              </a:rPr>
              <a:t>Best practice</a:t>
            </a:r>
            <a:endParaRPr lang="en-US" sz="975" dirty="0"/>
          </a:p>
        </p:txBody>
      </p:sp>
      <p:sp>
        <p:nvSpPr>
          <p:cNvPr id="5" name="Text 2"/>
          <p:cNvSpPr txBox="1"/>
          <p:nvPr/>
        </p:nvSpPr>
        <p:spPr>
          <a:xfrm>
            <a:off x="856793" y="1238098"/>
            <a:ext cx="11810390" cy="581558"/>
          </a:xfrm>
          <a:prstGeom prst="rect">
            <a:avLst/>
          </a:prstGeom>
          <a:noFill/>
          <a:ln/>
        </p:spPr>
        <p:txBody>
          <a:bodyPr wrap="none" lIns="0" tIns="0" rIns="0" bIns="0" rtlCol="0" anchor="ctr"/>
          <a:lstStyle/>
          <a:p>
            <a:pPr algn="l" indent="0" marL="0">
              <a:buNone/>
            </a:pPr>
            <a:r>
              <a:rPr lang="en-US" sz="4350" b="1" spc="-87" kern="0" dirty="0">
                <a:solidFill>
                  <a:srgbClr val="2C4252"/>
                </a:solidFill>
                <a:latin typeface="Nunito" pitchFamily="34" charset="0"/>
                <a:ea typeface="Nunito" pitchFamily="34" charset="-122"/>
                <a:cs typeface="Nunito" pitchFamily="34" charset="-120"/>
              </a:rPr>
              <a:t>The </a:t>
            </a:r>
            <a:pPr algn="l" indent="0" marL="0">
              <a:buNone/>
            </a:pPr>
            <a:r>
              <a:rPr lang="en-US" sz="4350" b="1" spc="-87" kern="0" dirty="0">
                <a:solidFill>
                  <a:srgbClr val="4B7FC2"/>
                </a:solidFill>
                <a:latin typeface="Nunito" pitchFamily="34" charset="0"/>
                <a:ea typeface="Nunito" pitchFamily="34" charset="-122"/>
                <a:cs typeface="Nunito" pitchFamily="34" charset="-120"/>
              </a:rPr>
              <a:t>notes column</a:t>
            </a:r>
            <a:pPr algn="l" indent="0" marL="0">
              <a:buNone/>
            </a:pPr>
            <a:r>
              <a:rPr lang="en-US" sz="4350" b="1" spc="-87" kern="0" dirty="0">
                <a:solidFill>
                  <a:srgbClr val="2C4252"/>
                </a:solidFill>
                <a:latin typeface="Nunito" pitchFamily="34" charset="0"/>
                <a:ea typeface="Nunito" pitchFamily="34" charset="-122"/>
                <a:cs typeface="Nunito" pitchFamily="34" charset="-120"/>
              </a:rPr>
              <a:t> is everything.</a:t>
            </a:r>
            <a:endParaRPr lang="en-US" sz="4350" dirty="0"/>
          </a:p>
        </p:txBody>
      </p:sp>
      <p:pic>
        <p:nvPicPr>
          <p:cNvPr id="6" name="Image 1" descr="gen-dedup-363c57a38b1aca5b671d63a11069725c.png">    </p:cNvPr>
          <p:cNvPicPr>
            <a:picLocks noChangeAspect="1"/>
          </p:cNvPicPr>
          <p:nvPr/>
        </p:nvPicPr>
        <p:blipFill>
          <a:blip r:embed="rId2"/>
          <a:srcRect l="0" r="0" t="-5" b="-5"/>
          <a:stretch/>
        </p:blipFill>
        <p:spPr>
          <a:xfrm>
            <a:off x="856793" y="2190902"/>
            <a:ext cx="8191195" cy="3227832"/>
          </a:xfrm>
          <a:prstGeom prst="rect">
            <a:avLst/>
          </a:prstGeom>
        </p:spPr>
      </p:pic>
      <p:sp>
        <p:nvSpPr>
          <p:cNvPr id="7" name="Text 3"/>
          <p:cNvSpPr txBox="1"/>
          <p:nvPr/>
        </p:nvSpPr>
        <p:spPr>
          <a:xfrm>
            <a:off x="1218895" y="2914193"/>
            <a:ext cx="7467905" cy="619963"/>
          </a:xfrm>
          <a:prstGeom prst="rect">
            <a:avLst/>
          </a:prstGeom>
          <a:noFill/>
          <a:ln/>
        </p:spPr>
        <p:txBody>
          <a:bodyPr wrap="square" lIns="0" tIns="0" rIns="0" bIns="0" rtlCol="0" anchor="t"/>
          <a:lstStyle/>
          <a:p>
            <a:pPr algn="l" indent="0" marL="0">
              <a:lnSpc>
                <a:spcPct val="115000"/>
              </a:lnSpc>
              <a:buNone/>
            </a:pPr>
            <a:r>
              <a:rPr lang="en-US" sz="2100" b="1" dirty="0">
                <a:solidFill>
                  <a:srgbClr val="2C4252"/>
                </a:solidFill>
                <a:latin typeface="Nunito" pitchFamily="34" charset="0"/>
                <a:ea typeface="Nunito" pitchFamily="34" charset="-122"/>
                <a:cs typeface="Nunito" pitchFamily="34" charset="-120"/>
              </a:rPr>
              <a:t>Put any update from the hospital</a:t>
            </a:r>
            <a:pPr algn="l" indent="0" marL="0">
              <a:lnSpc>
                <a:spcPct val="115000"/>
              </a:lnSpc>
              <a:buNone/>
            </a:pPr>
            <a:endParaRPr lang="en-US" sz="2100" dirty="0"/>
          </a:p>
          <a:p>
            <a:pPr algn="l" indent="0" marL="0">
              <a:lnSpc>
                <a:spcPct val="115000"/>
              </a:lnSpc>
              <a:buNone/>
            </a:pPr>
            <a:r>
              <a:rPr lang="en-US" sz="2100" b="1" dirty="0">
                <a:solidFill>
                  <a:srgbClr val="2C4252"/>
                </a:solidFill>
                <a:latin typeface="Nunito" pitchFamily="34" charset="0"/>
                <a:ea typeface="Nunito" pitchFamily="34" charset="-122"/>
                <a:cs typeface="Nunito" pitchFamily="34" charset="-120"/>
              </a:rPr>
              <a:t>in this box. Be detailed.</a:t>
            </a:r>
            <a:endParaRPr lang="en-US" sz="2100" dirty="0"/>
          </a:p>
        </p:txBody>
      </p:sp>
      <p:sp>
        <p:nvSpPr>
          <p:cNvPr id="8" name="Text 4"/>
          <p:cNvSpPr txBox="1"/>
          <p:nvPr/>
        </p:nvSpPr>
        <p:spPr>
          <a:xfrm>
            <a:off x="1218895" y="3661258"/>
            <a:ext cx="7467905" cy="238658"/>
          </a:xfrm>
          <a:prstGeom prst="rect">
            <a:avLst/>
          </a:prstGeom>
          <a:noFill/>
          <a:ln/>
        </p:spPr>
        <p:txBody>
          <a:bodyPr wrap="none" lIns="0" tIns="0" rIns="0" bIns="0" rtlCol="0" anchor="ctr"/>
          <a:lstStyle/>
          <a:p>
            <a:pPr algn="l" indent="0" marL="0">
              <a:buNone/>
            </a:pPr>
            <a:r>
              <a:rPr lang="en-US" sz="1200" dirty="0">
                <a:solidFill>
                  <a:srgbClr val="3F5566"/>
                </a:solidFill>
                <a:latin typeface="Quicksand" pitchFamily="34" charset="0"/>
                <a:ea typeface="Quicksand" pitchFamily="34" charset="-122"/>
                <a:cs typeface="Quicksand" pitchFamily="34" charset="-120"/>
              </a:rPr>
              <a:t>Always get the </a:t>
            </a:r>
            <a:pPr algn="l" indent="0" marL="0">
              <a:buNone/>
            </a:pPr>
            <a:r>
              <a:rPr lang="en-US" sz="1200" b="1" dirty="0">
                <a:solidFill>
                  <a:srgbClr val="2C4252"/>
                </a:solidFill>
                <a:latin typeface="Quicksand" pitchFamily="34" charset="0"/>
                <a:ea typeface="Quicksand" pitchFamily="34" charset="-122"/>
                <a:cs typeface="Quicksand" pitchFamily="34" charset="-120"/>
              </a:rPr>
              <a:t>name of the person you spoke with</a:t>
            </a:r>
            <a:pPr algn="l" indent="0" marL="0">
              <a:buNone/>
            </a:pPr>
            <a:r>
              <a:rPr lang="en-US" sz="1200" dirty="0">
                <a:solidFill>
                  <a:srgbClr val="3F5566"/>
                </a:solidFill>
                <a:latin typeface="Quicksand" pitchFamily="34" charset="0"/>
                <a:ea typeface="Quicksand" pitchFamily="34" charset="-122"/>
                <a:cs typeface="Quicksand" pitchFamily="34" charset="-120"/>
              </a:rPr>
              <a:t> and write it in.</a:t>
            </a:r>
            <a:endParaRPr lang="en-US" sz="1200" dirty="0"/>
          </a:p>
        </p:txBody>
      </p:sp>
      <p:sp>
        <p:nvSpPr>
          <p:cNvPr id="9" name="Text 5"/>
          <p:cNvSpPr txBox="1"/>
          <p:nvPr/>
        </p:nvSpPr>
        <p:spPr>
          <a:xfrm>
            <a:off x="1218895" y="3953866"/>
            <a:ext cx="7467905" cy="238658"/>
          </a:xfrm>
          <a:prstGeom prst="rect">
            <a:avLst/>
          </a:prstGeom>
          <a:noFill/>
          <a:ln/>
        </p:spPr>
        <p:txBody>
          <a:bodyPr wrap="none" lIns="0" tIns="0" rIns="0" bIns="0" rtlCol="0" anchor="ctr"/>
          <a:lstStyle/>
          <a:p>
            <a:pPr algn="l" indent="0" marL="0">
              <a:buNone/>
            </a:pPr>
            <a:r>
              <a:rPr lang="en-US" sz="1200" dirty="0">
                <a:solidFill>
                  <a:srgbClr val="3F5566"/>
                </a:solidFill>
                <a:latin typeface="Quicksand" pitchFamily="34" charset="0"/>
                <a:ea typeface="Quicksand" pitchFamily="34" charset="-122"/>
                <a:cs typeface="Quicksand" pitchFamily="34" charset="-120"/>
              </a:rPr>
              <a:t>Put the date </a:t>
            </a:r>
            <a:pPr algn="l" indent="0" marL="0">
              <a:buNone/>
            </a:pPr>
            <a:r>
              <a:rPr lang="en-US" sz="1200" b="1" dirty="0">
                <a:solidFill>
                  <a:srgbClr val="2C4252"/>
                </a:solidFill>
                <a:latin typeface="Quicksand" pitchFamily="34" charset="0"/>
                <a:ea typeface="Quicksand" pitchFamily="34" charset="-122"/>
                <a:cs typeface="Quicksand" pitchFamily="34" charset="-120"/>
              </a:rPr>
              <a:t>first</a:t>
            </a:r>
            <a:pPr algn="l" indent="0" marL="0">
              <a:buNone/>
            </a:pPr>
            <a:r>
              <a:rPr lang="en-US" sz="1200" dirty="0">
                <a:solidFill>
                  <a:srgbClr val="3F5566"/>
                </a:solidFill>
                <a:latin typeface="Quicksand" pitchFamily="34" charset="0"/>
                <a:ea typeface="Quicksand" pitchFamily="34" charset="-122"/>
                <a:cs typeface="Quicksand" pitchFamily="34" charset="-120"/>
              </a:rPr>
              <a:t>, then the note. Newest at the top.</a:t>
            </a:r>
            <a:endParaRPr lang="en-US" sz="1200" dirty="0"/>
          </a:p>
        </p:txBody>
      </p:sp>
      <p:sp>
        <p:nvSpPr>
          <p:cNvPr id="10" name="Shape 6"/>
          <p:cNvSpPr/>
          <p:nvPr/>
        </p:nvSpPr>
        <p:spPr>
          <a:xfrm>
            <a:off x="1218895" y="2514600"/>
            <a:ext cx="790956" cy="267005"/>
          </a:xfrm>
          <a:prstGeom prst="roundRect">
            <a:avLst>
              <a:gd name="adj" fmla="val 28425"/>
            </a:avLst>
          </a:prstGeom>
          <a:solidFill>
            <a:srgbClr val="F4A78B"/>
          </a:solidFill>
          <a:ln w="12700">
            <a:solidFill>
              <a:srgbClr val="FFFFFF">
                <a:alpha val="0"/>
              </a:srgbClr>
            </a:solidFill>
            <a:prstDash val="solid"/>
          </a:ln>
        </p:spPr>
      </p:sp>
      <p:sp>
        <p:nvSpPr>
          <p:cNvPr id="11" name="Text 7"/>
          <p:cNvSpPr txBox="1"/>
          <p:nvPr/>
        </p:nvSpPr>
        <p:spPr>
          <a:xfrm>
            <a:off x="1218895" y="2514600"/>
            <a:ext cx="790956" cy="267005"/>
          </a:xfrm>
          <a:prstGeom prst="rect">
            <a:avLst/>
          </a:prstGeom>
          <a:solidFill>
            <a:srgbClr val="FFFFFF">
              <a:alpha val="0"/>
            </a:srgbClr>
          </a:solidFill>
          <a:ln>
            <a:solidFill>
              <a:srgbClr val="FFFFFF">
                <a:alpha val="0"/>
              </a:srgbClr>
            </a:solidFill>
          </a:ln>
        </p:spPr>
        <p:txBody>
          <a:bodyPr wrap="none" lIns="127000" tIns="50800" rIns="127000" bIns="50800" rtlCol="0" anchor="ctr"/>
          <a:lstStyle/>
          <a:p>
            <a:pPr algn="l" indent="0" marL="0">
              <a:buNone/>
            </a:pPr>
            <a:r>
              <a:rPr lang="en-US" sz="900" b="1" spc="198" kern="0" dirty="0">
                <a:solidFill>
                  <a:srgbClr val="7A2E1A"/>
                </a:solidFill>
                <a:latin typeface="Nunito" pitchFamily="34" charset="0"/>
                <a:ea typeface="Nunito" pitchFamily="34" charset="-122"/>
                <a:cs typeface="Nunito" pitchFamily="34" charset="-120"/>
              </a:rPr>
              <a:t>NOTES</a:t>
            </a:r>
            <a:endParaRPr lang="en-US" sz="900" dirty="0"/>
          </a:p>
        </p:txBody>
      </p:sp>
      <p:sp>
        <p:nvSpPr>
          <p:cNvPr id="12" name="Text 8"/>
          <p:cNvSpPr txBox="1"/>
          <p:nvPr/>
        </p:nvSpPr>
        <p:spPr>
          <a:xfrm>
            <a:off x="1504188" y="4342486"/>
            <a:ext cx="7182612" cy="200254"/>
          </a:xfrm>
          <a:prstGeom prst="rect">
            <a:avLst/>
          </a:prstGeom>
          <a:noFill/>
          <a:ln/>
        </p:spPr>
        <p:txBody>
          <a:bodyPr wrap="none" lIns="0" tIns="0" rIns="0" bIns="0" rtlCol="0" anchor="ctr"/>
          <a:lstStyle/>
          <a:p>
            <a:pPr algn="l" indent="0" marL="0">
              <a:buNone/>
            </a:pPr>
            <a:r>
              <a:rPr lang="en-US" sz="1050" b="1" dirty="0">
                <a:solidFill>
                  <a:srgbClr val="2C4252"/>
                </a:solidFill>
                <a:latin typeface="Quicksand" pitchFamily="34" charset="0"/>
                <a:ea typeface="Quicksand" pitchFamily="34" charset="-122"/>
                <a:cs typeface="Quicksand" pitchFamily="34" charset="-120"/>
              </a:rPr>
              <a:t>Always include date + contact name + detail.</a:t>
            </a:r>
            <a:endParaRPr lang="en-US" sz="1050" dirty="0"/>
          </a:p>
        </p:txBody>
      </p:sp>
      <p:sp>
        <p:nvSpPr>
          <p:cNvPr id="13" name="Shape 9"/>
          <p:cNvSpPr/>
          <p:nvPr/>
        </p:nvSpPr>
        <p:spPr>
          <a:xfrm>
            <a:off x="1218895" y="4361688"/>
            <a:ext cx="209398" cy="209398"/>
          </a:xfrm>
          <a:prstGeom prst="ellipse">
            <a:avLst/>
          </a:prstGeom>
          <a:solidFill>
            <a:srgbClr val="BBDCC1"/>
          </a:solidFill>
          <a:ln w="12700">
            <a:solidFill>
              <a:srgbClr val="FFFFFF">
                <a:alpha val="0"/>
              </a:srgbClr>
            </a:solidFill>
            <a:prstDash val="solid"/>
          </a:ln>
        </p:spPr>
      </p:sp>
      <p:sp>
        <p:nvSpPr>
          <p:cNvPr id="14" name="Text 10"/>
          <p:cNvSpPr/>
          <p:nvPr/>
        </p:nvSpPr>
        <p:spPr>
          <a:xfrm>
            <a:off x="1218895" y="4361688"/>
            <a:ext cx="210312" cy="210312"/>
          </a:xfrm>
          <a:prstGeom prst="rect">
            <a:avLst/>
          </a:prstGeom>
          <a:solidFill>
            <a:srgbClr val="FFFFFF">
              <a:alpha val="0"/>
            </a:srgbClr>
          </a:solidFill>
          <a:ln>
            <a:solidFill>
              <a:srgbClr val="FFFFFF">
                <a:alpha val="0"/>
              </a:srgbClr>
            </a:solidFill>
          </a:ln>
        </p:spPr>
        <p:txBody>
          <a:bodyPr wrap="none" lIns="0" tIns="0" rIns="0" bIns="0" rtlCol="0" anchor="ctr"/>
          <a:lstStyle/>
          <a:p>
            <a:pPr algn="ctr" indent="0" marL="0">
              <a:buNone/>
            </a:pPr>
            <a:r>
              <a:rPr lang="en-US" sz="975" b="1" dirty="0">
                <a:solidFill>
                  <a:srgbClr val="2C4252"/>
                </a:solidFill>
                <a:latin typeface="Nunito" pitchFamily="34" charset="0"/>
                <a:ea typeface="Nunito" pitchFamily="34" charset="-122"/>
                <a:cs typeface="Nunito" pitchFamily="34" charset="-120"/>
              </a:rPr>
              <a:t>✓</a:t>
            </a:r>
            <a:endParaRPr lang="en-US" sz="975" dirty="0"/>
          </a:p>
        </p:txBody>
      </p:sp>
      <p:sp>
        <p:nvSpPr>
          <p:cNvPr id="15" name="Text 11"/>
          <p:cNvSpPr txBox="1"/>
          <p:nvPr/>
        </p:nvSpPr>
        <p:spPr>
          <a:xfrm>
            <a:off x="1504188" y="4622292"/>
            <a:ext cx="7182612" cy="200254"/>
          </a:xfrm>
          <a:prstGeom prst="rect">
            <a:avLst/>
          </a:prstGeom>
          <a:noFill/>
          <a:ln/>
        </p:spPr>
        <p:txBody>
          <a:bodyPr wrap="none" lIns="0" tIns="0" rIns="0" bIns="0" rtlCol="0" anchor="ctr"/>
          <a:lstStyle/>
          <a:p>
            <a:pPr algn="l" indent="0" marL="0">
              <a:buNone/>
            </a:pPr>
            <a:r>
              <a:rPr lang="en-US" sz="1050" b="1" dirty="0">
                <a:solidFill>
                  <a:srgbClr val="2C4252"/>
                </a:solidFill>
                <a:latin typeface="Quicksand" pitchFamily="34" charset="0"/>
                <a:ea typeface="Quicksand" pitchFamily="34" charset="-122"/>
                <a:cs typeface="Quicksand" pitchFamily="34" charset="-120"/>
              </a:rPr>
              <a:t>Never delete old notes — your notes are added on top.</a:t>
            </a:r>
            <a:endParaRPr lang="en-US" sz="1050" dirty="0"/>
          </a:p>
        </p:txBody>
      </p:sp>
      <p:sp>
        <p:nvSpPr>
          <p:cNvPr id="16" name="Shape 12"/>
          <p:cNvSpPr/>
          <p:nvPr/>
        </p:nvSpPr>
        <p:spPr>
          <a:xfrm>
            <a:off x="1218895" y="4640580"/>
            <a:ext cx="209398" cy="209398"/>
          </a:xfrm>
          <a:prstGeom prst="ellipse">
            <a:avLst/>
          </a:prstGeom>
          <a:solidFill>
            <a:srgbClr val="BBDCC1"/>
          </a:solidFill>
          <a:ln w="12700">
            <a:solidFill>
              <a:srgbClr val="FFFFFF">
                <a:alpha val="0"/>
              </a:srgbClr>
            </a:solidFill>
            <a:prstDash val="solid"/>
          </a:ln>
        </p:spPr>
      </p:sp>
      <p:sp>
        <p:nvSpPr>
          <p:cNvPr id="17" name="Text 13"/>
          <p:cNvSpPr/>
          <p:nvPr/>
        </p:nvSpPr>
        <p:spPr>
          <a:xfrm>
            <a:off x="1218895" y="4640580"/>
            <a:ext cx="210312" cy="210312"/>
          </a:xfrm>
          <a:prstGeom prst="rect">
            <a:avLst/>
          </a:prstGeom>
          <a:solidFill>
            <a:srgbClr val="FFFFFF">
              <a:alpha val="0"/>
            </a:srgbClr>
          </a:solidFill>
          <a:ln>
            <a:solidFill>
              <a:srgbClr val="FFFFFF">
                <a:alpha val="0"/>
              </a:srgbClr>
            </a:solidFill>
          </a:ln>
        </p:spPr>
        <p:txBody>
          <a:bodyPr wrap="none" lIns="0" tIns="0" rIns="0" bIns="0" rtlCol="0" anchor="ctr"/>
          <a:lstStyle/>
          <a:p>
            <a:pPr algn="ctr" indent="0" marL="0">
              <a:buNone/>
            </a:pPr>
            <a:r>
              <a:rPr lang="en-US" sz="975" b="1" dirty="0">
                <a:solidFill>
                  <a:srgbClr val="2C4252"/>
                </a:solidFill>
                <a:latin typeface="Nunito" pitchFamily="34" charset="0"/>
                <a:ea typeface="Nunito" pitchFamily="34" charset="-122"/>
                <a:cs typeface="Nunito" pitchFamily="34" charset="-120"/>
              </a:rPr>
              <a:t>✓</a:t>
            </a:r>
            <a:endParaRPr lang="en-US" sz="975" dirty="0"/>
          </a:p>
        </p:txBody>
      </p:sp>
      <p:sp>
        <p:nvSpPr>
          <p:cNvPr id="18" name="Text 14"/>
          <p:cNvSpPr txBox="1"/>
          <p:nvPr/>
        </p:nvSpPr>
        <p:spPr>
          <a:xfrm>
            <a:off x="1504188" y="4901184"/>
            <a:ext cx="7182612" cy="200254"/>
          </a:xfrm>
          <a:prstGeom prst="rect">
            <a:avLst/>
          </a:prstGeom>
          <a:noFill/>
          <a:ln/>
        </p:spPr>
        <p:txBody>
          <a:bodyPr wrap="none" lIns="0" tIns="0" rIns="0" bIns="0" rtlCol="0" anchor="ctr"/>
          <a:lstStyle/>
          <a:p>
            <a:pPr algn="l" indent="0" marL="0">
              <a:buNone/>
            </a:pPr>
            <a:r>
              <a:rPr lang="en-US" sz="1050" b="1" dirty="0">
                <a:solidFill>
                  <a:srgbClr val="2C4252"/>
                </a:solidFill>
                <a:latin typeface="Quicksand" pitchFamily="34" charset="0"/>
                <a:ea typeface="Quicksand" pitchFamily="34" charset="-122"/>
                <a:cs typeface="Quicksand" pitchFamily="34" charset="-120"/>
              </a:rPr>
              <a:t>Newest note always goes first.</a:t>
            </a:r>
            <a:endParaRPr lang="en-US" sz="1050" dirty="0"/>
          </a:p>
        </p:txBody>
      </p:sp>
      <p:sp>
        <p:nvSpPr>
          <p:cNvPr id="19" name="Shape 15"/>
          <p:cNvSpPr/>
          <p:nvPr/>
        </p:nvSpPr>
        <p:spPr>
          <a:xfrm>
            <a:off x="1218895" y="4920386"/>
            <a:ext cx="209398" cy="209398"/>
          </a:xfrm>
          <a:prstGeom prst="ellipse">
            <a:avLst/>
          </a:prstGeom>
          <a:solidFill>
            <a:srgbClr val="BBDCC1"/>
          </a:solidFill>
          <a:ln w="12700">
            <a:solidFill>
              <a:srgbClr val="FFFFFF">
                <a:alpha val="0"/>
              </a:srgbClr>
            </a:solidFill>
            <a:prstDash val="solid"/>
          </a:ln>
        </p:spPr>
      </p:sp>
      <p:sp>
        <p:nvSpPr>
          <p:cNvPr id="20" name="Text 16"/>
          <p:cNvSpPr/>
          <p:nvPr/>
        </p:nvSpPr>
        <p:spPr>
          <a:xfrm>
            <a:off x="1218895" y="4920386"/>
            <a:ext cx="210312" cy="210312"/>
          </a:xfrm>
          <a:prstGeom prst="rect">
            <a:avLst/>
          </a:prstGeom>
          <a:solidFill>
            <a:srgbClr val="FFFFFF">
              <a:alpha val="0"/>
            </a:srgbClr>
          </a:solidFill>
          <a:ln>
            <a:solidFill>
              <a:srgbClr val="FFFFFF">
                <a:alpha val="0"/>
              </a:srgbClr>
            </a:solidFill>
          </a:ln>
        </p:spPr>
        <p:txBody>
          <a:bodyPr wrap="none" lIns="0" tIns="0" rIns="0" bIns="0" rtlCol="0" anchor="ctr"/>
          <a:lstStyle/>
          <a:p>
            <a:pPr algn="ctr" indent="0" marL="0">
              <a:buNone/>
            </a:pPr>
            <a:r>
              <a:rPr lang="en-US" sz="975" b="1" dirty="0">
                <a:solidFill>
                  <a:srgbClr val="2C4252"/>
                </a:solidFill>
                <a:latin typeface="Nunito" pitchFamily="34" charset="0"/>
                <a:ea typeface="Nunito" pitchFamily="34" charset="-122"/>
                <a:cs typeface="Nunito" pitchFamily="34" charset="-120"/>
              </a:rPr>
              <a:t>✓</a:t>
            </a:r>
            <a:endParaRPr lang="en-US" sz="975" dirty="0"/>
          </a:p>
        </p:txBody>
      </p:sp>
      <p:pic>
        <p:nvPicPr>
          <p:cNvPr id="21" name="Image 2" descr="gen-dedup-5c4b19ac7f0f5de44bc5e5d474121135.png">    </p:cNvPr>
          <p:cNvPicPr>
            <a:picLocks noChangeAspect="1"/>
          </p:cNvPicPr>
          <p:nvPr/>
        </p:nvPicPr>
        <p:blipFill>
          <a:blip r:embed="rId3"/>
          <a:srcRect l="0" r="0" t="-9" b="-9"/>
          <a:stretch/>
        </p:blipFill>
        <p:spPr>
          <a:xfrm>
            <a:off x="9239098" y="2190902"/>
            <a:ext cx="3619195" cy="1096366"/>
          </a:xfrm>
          <a:prstGeom prst="rect">
            <a:avLst/>
          </a:prstGeom>
        </p:spPr>
      </p:pic>
      <p:sp>
        <p:nvSpPr>
          <p:cNvPr id="22" name="Text 17"/>
          <p:cNvSpPr txBox="1"/>
          <p:nvPr/>
        </p:nvSpPr>
        <p:spPr>
          <a:xfrm>
            <a:off x="9467698" y="2400300"/>
            <a:ext cx="3162910" cy="152705"/>
          </a:xfrm>
          <a:prstGeom prst="rect">
            <a:avLst/>
          </a:prstGeom>
          <a:noFill/>
          <a:ln/>
        </p:spPr>
        <p:txBody>
          <a:bodyPr wrap="none" lIns="0" tIns="0" rIns="0" bIns="0" rtlCol="0" anchor="ctr"/>
          <a:lstStyle/>
          <a:p>
            <a:pPr algn="l" indent="0" marL="0">
              <a:buNone/>
            </a:pPr>
            <a:r>
              <a:rPr lang="en-US" sz="900" b="1" spc="162" kern="0" dirty="0">
                <a:solidFill>
                  <a:srgbClr val="4B7FC2"/>
                </a:solidFill>
                <a:latin typeface="Nunito" pitchFamily="34" charset="0"/>
                <a:ea typeface="Nunito" pitchFamily="34" charset="-122"/>
                <a:cs typeface="Nunito" pitchFamily="34" charset="-120"/>
              </a:rPr>
              <a:t>ATTORNEY</a:t>
            </a:r>
            <a:endParaRPr lang="en-US" sz="900" dirty="0"/>
          </a:p>
        </p:txBody>
      </p:sp>
      <p:sp>
        <p:nvSpPr>
          <p:cNvPr id="23" name="Text 18"/>
          <p:cNvSpPr txBox="1"/>
          <p:nvPr/>
        </p:nvSpPr>
        <p:spPr>
          <a:xfrm>
            <a:off x="9467698" y="2609698"/>
            <a:ext cx="3162910" cy="219456"/>
          </a:xfrm>
          <a:prstGeom prst="rect">
            <a:avLst/>
          </a:prstGeom>
          <a:noFill/>
          <a:ln/>
        </p:spPr>
        <p:txBody>
          <a:bodyPr wrap="none" lIns="0" tIns="0" rIns="0" bIns="0" rtlCol="0" anchor="ctr"/>
          <a:lstStyle/>
          <a:p>
            <a:pPr algn="l" indent="0" marL="0">
              <a:buNone/>
            </a:pPr>
            <a:r>
              <a:rPr lang="en-US" sz="1425" b="1" dirty="0">
                <a:solidFill>
                  <a:srgbClr val="2C4252"/>
                </a:solidFill>
                <a:latin typeface="Nunito" pitchFamily="34" charset="0"/>
                <a:ea typeface="Nunito" pitchFamily="34" charset="-122"/>
                <a:cs typeface="Nunito" pitchFamily="34" charset="-120"/>
              </a:rPr>
              <a:t>The law firm</a:t>
            </a:r>
            <a:endParaRPr lang="en-US" sz="1425" dirty="0"/>
          </a:p>
        </p:txBody>
      </p:sp>
      <p:sp>
        <p:nvSpPr>
          <p:cNvPr id="24" name="Text 19"/>
          <p:cNvSpPr txBox="1"/>
          <p:nvPr/>
        </p:nvSpPr>
        <p:spPr>
          <a:xfrm>
            <a:off x="9467698" y="2884018"/>
            <a:ext cx="3162910" cy="200254"/>
          </a:xfrm>
          <a:prstGeom prst="rect">
            <a:avLst/>
          </a:prstGeom>
          <a:noFill/>
          <a:ln/>
        </p:spPr>
        <p:txBody>
          <a:bodyPr wrap="none" lIns="0" tIns="0" rIns="0" bIns="0" rtlCol="0" anchor="ctr"/>
          <a:lstStyle/>
          <a:p>
            <a:pPr algn="l" indent="0" marL="0">
              <a:buNone/>
            </a:pPr>
            <a:r>
              <a:rPr lang="en-US" sz="1050" dirty="0">
                <a:solidFill>
                  <a:srgbClr val="3F5566"/>
                </a:solidFill>
                <a:latin typeface="Quicksand" pitchFamily="34" charset="0"/>
                <a:ea typeface="Quicksand" pitchFamily="34" charset="-122"/>
                <a:cs typeface="Quicksand" pitchFamily="34" charset="-120"/>
              </a:rPr>
              <a:t>The law firm representing the patient.</a:t>
            </a:r>
            <a:endParaRPr lang="en-US" sz="1050" dirty="0"/>
          </a:p>
        </p:txBody>
      </p:sp>
      <p:pic>
        <p:nvPicPr>
          <p:cNvPr id="25" name="Image 3" descr="gen-dedup-8f99c0542ca5054ce14d63fe1a3eeb8a.png">    </p:cNvPr>
          <p:cNvPicPr>
            <a:picLocks noChangeAspect="1"/>
          </p:cNvPicPr>
          <p:nvPr/>
        </p:nvPicPr>
        <p:blipFill>
          <a:blip r:embed="rId4"/>
          <a:srcRect l="0" r="0" t="-17" b="-17"/>
          <a:stretch/>
        </p:blipFill>
        <p:spPr>
          <a:xfrm>
            <a:off x="9239098" y="3458261"/>
            <a:ext cx="3619195" cy="1341425"/>
          </a:xfrm>
          <a:prstGeom prst="rect">
            <a:avLst/>
          </a:prstGeom>
        </p:spPr>
      </p:pic>
      <p:sp>
        <p:nvSpPr>
          <p:cNvPr id="26" name="Text 20"/>
          <p:cNvSpPr txBox="1"/>
          <p:nvPr/>
        </p:nvSpPr>
        <p:spPr>
          <a:xfrm>
            <a:off x="9467698" y="3667658"/>
            <a:ext cx="3162910" cy="152705"/>
          </a:xfrm>
          <a:prstGeom prst="rect">
            <a:avLst/>
          </a:prstGeom>
          <a:noFill/>
          <a:ln/>
        </p:spPr>
        <p:txBody>
          <a:bodyPr wrap="none" lIns="0" tIns="0" rIns="0" bIns="0" rtlCol="0" anchor="ctr"/>
          <a:lstStyle/>
          <a:p>
            <a:pPr algn="l" indent="0" marL="0">
              <a:buNone/>
            </a:pPr>
            <a:r>
              <a:rPr lang="en-US" sz="900" b="1" spc="162" kern="0" dirty="0">
                <a:solidFill>
                  <a:srgbClr val="BBDCC1"/>
                </a:solidFill>
                <a:latin typeface="Nunito" pitchFamily="34" charset="0"/>
                <a:ea typeface="Nunito" pitchFamily="34" charset="-122"/>
                <a:cs typeface="Nunito" pitchFamily="34" charset="-120"/>
              </a:rPr>
              <a:t>ATTY BILLS REQUEST</a:t>
            </a:r>
            <a:endParaRPr lang="en-US" sz="900" dirty="0"/>
          </a:p>
        </p:txBody>
      </p:sp>
      <p:sp>
        <p:nvSpPr>
          <p:cNvPr id="27" name="Text 21"/>
          <p:cNvSpPr txBox="1"/>
          <p:nvPr/>
        </p:nvSpPr>
        <p:spPr>
          <a:xfrm>
            <a:off x="9467698" y="3896258"/>
            <a:ext cx="3162910" cy="219456"/>
          </a:xfrm>
          <a:prstGeom prst="rect">
            <a:avLst/>
          </a:prstGeom>
          <a:noFill/>
          <a:ln/>
        </p:spPr>
        <p:txBody>
          <a:bodyPr wrap="none" lIns="0" tIns="0" rIns="0" bIns="0" rtlCol="0" anchor="ctr"/>
          <a:lstStyle/>
          <a:p>
            <a:pPr algn="l" indent="0" marL="0">
              <a:buNone/>
            </a:pPr>
            <a:r>
              <a:rPr lang="en-US" sz="1425" b="1" dirty="0">
                <a:solidFill>
                  <a:srgbClr val="FFFFFF"/>
                </a:solidFill>
                <a:latin typeface="Nunito" pitchFamily="34" charset="0"/>
                <a:ea typeface="Nunito" pitchFamily="34" charset="-122"/>
                <a:cs typeface="Nunito" pitchFamily="34" charset="-120"/>
              </a:rPr>
              <a:t>Yes or No</a:t>
            </a:r>
            <a:endParaRPr lang="en-US" sz="1425" dirty="0"/>
          </a:p>
        </p:txBody>
      </p:sp>
      <p:sp>
        <p:nvSpPr>
          <p:cNvPr id="28" name="Text 22"/>
          <p:cNvSpPr txBox="1"/>
          <p:nvPr/>
        </p:nvSpPr>
        <p:spPr>
          <a:xfrm>
            <a:off x="9467698" y="4189781"/>
            <a:ext cx="3162910" cy="400507"/>
          </a:xfrm>
          <a:prstGeom prst="rect">
            <a:avLst/>
          </a:prstGeom>
          <a:noFill/>
          <a:ln/>
        </p:spPr>
        <p:txBody>
          <a:bodyPr wrap="square" lIns="0" tIns="0" rIns="0" bIns="0" rtlCol="0" anchor="ctr"/>
          <a:lstStyle/>
          <a:p>
            <a:pPr algn="l" indent="0" marL="0">
              <a:lnSpc>
                <a:spcPts val="1575"/>
              </a:lnSpc>
              <a:buNone/>
            </a:pPr>
            <a:r>
              <a:rPr lang="en-US" sz="1050" dirty="0">
                <a:solidFill>
                  <a:srgbClr val="FFFFFF"/>
                </a:solidFill>
                <a:latin typeface="Quicksand" pitchFamily="34" charset="0"/>
                <a:ea typeface="Quicksand" pitchFamily="34" charset="-122"/>
                <a:cs typeface="Quicksand" pitchFamily="34" charset="-120"/>
              </a:rPr>
              <a:t>State </a:t>
            </a:r>
            <a:pPr algn="l" indent="0" marL="0">
              <a:lnSpc>
                <a:spcPts val="1575"/>
              </a:lnSpc>
              <a:buNone/>
            </a:pPr>
            <a:r>
              <a:rPr lang="en-US" sz="1050" b="1" i="1" dirty="0">
                <a:solidFill>
                  <a:srgbClr val="BBDCC1"/>
                </a:solidFill>
                <a:latin typeface="Quicksand" pitchFamily="34" charset="0"/>
                <a:ea typeface="Quicksand" pitchFamily="34" charset="-122"/>
                <a:cs typeface="Quicksand" pitchFamily="34" charset="-120"/>
              </a:rPr>
              <a:t>YES</a:t>
            </a:r>
            <a:pPr algn="l" indent="0" marL="0">
              <a:lnSpc>
                <a:spcPts val="1575"/>
              </a:lnSpc>
              <a:buNone/>
            </a:pPr>
            <a:r>
              <a:rPr lang="en-US" sz="1050" dirty="0">
                <a:solidFill>
                  <a:srgbClr val="FFFFFF"/>
                </a:solidFill>
                <a:latin typeface="Quicksand" pitchFamily="34" charset="0"/>
                <a:ea typeface="Quicksand" pitchFamily="34" charset="-122"/>
                <a:cs typeface="Quicksand" pitchFamily="34" charset="-120"/>
              </a:rPr>
              <a:t> if we retrieve hospital bills, </a:t>
            </a:r>
            <a:pPr algn="l" indent="0" marL="0">
              <a:lnSpc>
                <a:spcPts val="1575"/>
              </a:lnSpc>
              <a:buNone/>
            </a:pPr>
            <a:r>
              <a:rPr lang="en-US" sz="1050" b="1" i="1" dirty="0">
                <a:solidFill>
                  <a:srgbClr val="BBDCC1"/>
                </a:solidFill>
                <a:latin typeface="Quicksand" pitchFamily="34" charset="0"/>
                <a:ea typeface="Quicksand" pitchFamily="34" charset="-122"/>
                <a:cs typeface="Quicksand" pitchFamily="34" charset="-120"/>
              </a:rPr>
              <a:t>NO</a:t>
            </a:r>
            <a:pPr algn="l" indent="0" marL="0">
              <a:lnSpc>
                <a:spcPts val="1575"/>
              </a:lnSpc>
              <a:buNone/>
            </a:pPr>
            <a:r>
              <a:rPr lang="en-US" sz="1050" dirty="0">
                <a:solidFill>
                  <a:srgbClr val="FFFFFF"/>
                </a:solidFill>
                <a:latin typeface="Quicksand" pitchFamily="34" charset="0"/>
                <a:ea typeface="Quicksand" pitchFamily="34" charset="-122"/>
                <a:cs typeface="Quicksand" pitchFamily="34" charset="-120"/>
              </a:rPr>
              <a:t> if we don't.</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7F2"/>
        </a:solidFill>
      </p:bgPr>
    </p:bg>
    <p:spTree>
      <p:nvGrpSpPr>
        <p:cNvPr id="1" name=""/>
        <p:cNvGrpSpPr/>
        <p:nvPr/>
      </p:nvGrpSpPr>
      <p:grpSpPr>
        <a:xfrm>
          <a:off x="0" y="0"/>
          <a:ext cx="0" cy="0"/>
          <a:chOff x="0" y="0"/>
          <a:chExt cx="0" cy="0"/>
        </a:xfrm>
      </p:grpSpPr>
      <p:sp>
        <p:nvSpPr>
          <p:cNvPr id="2" name="Shape 0"/>
          <p:cNvSpPr/>
          <p:nvPr/>
        </p:nvSpPr>
        <p:spPr>
          <a:xfrm>
            <a:off x="856793" y="705002"/>
            <a:ext cx="1600200" cy="323698"/>
          </a:xfrm>
          <a:prstGeom prst="roundRect">
            <a:avLst>
              <a:gd name="adj" fmla="val 50000"/>
            </a:avLst>
          </a:prstGeom>
          <a:solidFill>
            <a:srgbClr val="BBDCC1"/>
          </a:solidFill>
          <a:ln w="12700">
            <a:solidFill>
              <a:srgbClr val="FFFFFF">
                <a:alpha val="0"/>
              </a:srgbClr>
            </a:solidFill>
            <a:prstDash val="solid"/>
          </a:ln>
        </p:spPr>
      </p:sp>
      <p:sp>
        <p:nvSpPr>
          <p:cNvPr id="3" name="Text 1"/>
          <p:cNvSpPr/>
          <p:nvPr/>
        </p:nvSpPr>
        <p:spPr>
          <a:xfrm>
            <a:off x="856793" y="705002"/>
            <a:ext cx="1600200" cy="324612"/>
          </a:xfrm>
          <a:prstGeom prst="rect">
            <a:avLst/>
          </a:prstGeom>
          <a:solidFill>
            <a:srgbClr val="FFFFFF">
              <a:alpha val="0"/>
            </a:srgbClr>
          </a:solidFill>
          <a:ln>
            <a:solidFill>
              <a:srgbClr val="FFFFFF">
                <a:alpha val="0"/>
              </a:srgbClr>
            </a:solidFill>
          </a:ln>
        </p:spPr>
        <p:txBody>
          <a:bodyPr wrap="none" lIns="190500" tIns="76200" rIns="190500" bIns="76200" rtlCol="0" anchor="ctr"/>
          <a:lstStyle/>
          <a:p>
            <a:pPr algn="ctr" indent="0" marL="0">
              <a:buNone/>
            </a:pPr>
            <a:r>
              <a:rPr lang="en-US" sz="975" b="1" spc="214" kern="0" dirty="0">
                <a:solidFill>
                  <a:srgbClr val="2C4252"/>
                </a:solidFill>
                <a:latin typeface="Nunito" pitchFamily="34" charset="0"/>
                <a:ea typeface="Nunito" pitchFamily="34" charset="-122"/>
                <a:cs typeface="Nunito" pitchFamily="34" charset="-120"/>
              </a:rPr>
              <a:t>Visual guide</a:t>
            </a:r>
            <a:endParaRPr lang="en-US" sz="975" dirty="0"/>
          </a:p>
        </p:txBody>
      </p:sp>
      <p:sp>
        <p:nvSpPr>
          <p:cNvPr id="4" name="Text 2"/>
          <p:cNvSpPr txBox="1"/>
          <p:nvPr/>
        </p:nvSpPr>
        <p:spPr>
          <a:xfrm>
            <a:off x="856793" y="1238098"/>
            <a:ext cx="11810390" cy="705002"/>
          </a:xfrm>
          <a:prstGeom prst="rect">
            <a:avLst/>
          </a:prstGeom>
          <a:noFill/>
          <a:ln/>
        </p:spPr>
        <p:txBody>
          <a:bodyPr wrap="none" lIns="0" tIns="0" rIns="0" bIns="0" rtlCol="0" anchor="ctr"/>
          <a:lstStyle/>
          <a:p>
            <a:pPr algn="l" indent="0" marL="0">
              <a:buNone/>
            </a:pPr>
            <a:r>
              <a:rPr lang="en-US" sz="5550" b="1" spc="-166" kern="0" dirty="0">
                <a:solidFill>
                  <a:srgbClr val="2C4252"/>
                </a:solidFill>
                <a:latin typeface="Nunito" pitchFamily="34" charset="0"/>
                <a:ea typeface="Nunito" pitchFamily="34" charset="-122"/>
                <a:cs typeface="Nunito" pitchFamily="34" charset="-120"/>
              </a:rPr>
              <a:t>The </a:t>
            </a:r>
            <a:pPr algn="l" indent="0" marL="0">
              <a:buNone/>
            </a:pPr>
            <a:r>
              <a:rPr lang="en-US" sz="5550" b="1" spc="-166" kern="0" dirty="0">
                <a:solidFill>
                  <a:srgbClr val="4B7FC2"/>
                </a:solidFill>
                <a:latin typeface="Nunito" pitchFamily="34" charset="0"/>
                <a:ea typeface="Nunito" pitchFamily="34" charset="-122"/>
                <a:cs typeface="Nunito" pitchFamily="34" charset="-120"/>
              </a:rPr>
              <a:t>log colors</a:t>
            </a:r>
            <a:pPr algn="l" indent="0" marL="0">
              <a:buNone/>
            </a:pPr>
            <a:r>
              <a:rPr lang="en-US" sz="5550" b="1" spc="-166" kern="0" dirty="0">
                <a:solidFill>
                  <a:srgbClr val="2C4252"/>
                </a:solidFill>
                <a:latin typeface="Nunito" pitchFamily="34" charset="0"/>
                <a:ea typeface="Nunito" pitchFamily="34" charset="-122"/>
                <a:cs typeface="Nunito" pitchFamily="34" charset="-120"/>
              </a:rPr>
              <a:t> at a glance.</a:t>
            </a:r>
            <a:endParaRPr lang="en-US" sz="5550" dirty="0"/>
          </a:p>
        </p:txBody>
      </p:sp>
      <p:pic>
        <p:nvPicPr>
          <p:cNvPr id="5" name="Image 0" descr="gen-dedup-ed168de376bf04076f2d3519e929f22f.png">    </p:cNvPr>
          <p:cNvPicPr>
            <a:picLocks noChangeAspect="1"/>
          </p:cNvPicPr>
          <p:nvPr/>
        </p:nvPicPr>
        <p:blipFill>
          <a:blip r:embed="rId1"/>
          <a:srcRect l="0" r="0" t="-4" b="-4"/>
          <a:stretch/>
        </p:blipFill>
        <p:spPr>
          <a:xfrm>
            <a:off x="571500" y="2476195"/>
            <a:ext cx="2407615" cy="4095598"/>
          </a:xfrm>
          <a:prstGeom prst="rect">
            <a:avLst/>
          </a:prstGeom>
        </p:spPr>
      </p:pic>
      <p:sp>
        <p:nvSpPr>
          <p:cNvPr id="6" name="Shape 3"/>
          <p:cNvSpPr/>
          <p:nvPr/>
        </p:nvSpPr>
        <p:spPr>
          <a:xfrm>
            <a:off x="571500" y="2476195"/>
            <a:ext cx="2409444" cy="761695"/>
          </a:xfrm>
          <a:prstGeom prst="roundRect">
            <a:avLst>
              <a:gd name="adj" fmla="val 27491"/>
            </a:avLst>
          </a:prstGeom>
          <a:solidFill>
            <a:srgbClr val="F4A78B"/>
          </a:solidFill>
          <a:ln w="12700">
            <a:solidFill>
              <a:srgbClr val="FFFFFF">
                <a:alpha val="0"/>
              </a:srgbClr>
            </a:solidFill>
            <a:prstDash val="solid"/>
          </a:ln>
        </p:spPr>
      </p:sp>
      <p:sp>
        <p:nvSpPr>
          <p:cNvPr id="7" name="Shape 4"/>
          <p:cNvSpPr/>
          <p:nvPr/>
        </p:nvSpPr>
        <p:spPr>
          <a:xfrm>
            <a:off x="1537106" y="2618842"/>
            <a:ext cx="476402" cy="476402"/>
          </a:xfrm>
          <a:prstGeom prst="roundRect">
            <a:avLst>
              <a:gd name="adj" fmla="val 28023"/>
            </a:avLst>
          </a:prstGeom>
          <a:solidFill>
            <a:srgbClr val="C75C2E"/>
          </a:solidFill>
          <a:ln w="12700">
            <a:solidFill>
              <a:srgbClr val="FFFFFF">
                <a:alpha val="0"/>
              </a:srgbClr>
            </a:solidFill>
            <a:prstDash val="solid"/>
          </a:ln>
        </p:spPr>
      </p:sp>
      <p:sp>
        <p:nvSpPr>
          <p:cNvPr id="8" name="Text 5"/>
          <p:cNvSpPr txBox="1"/>
          <p:nvPr/>
        </p:nvSpPr>
        <p:spPr>
          <a:xfrm>
            <a:off x="1537106" y="2618842"/>
            <a:ext cx="476402" cy="476402"/>
          </a:xfrm>
          <a:prstGeom prst="rect">
            <a:avLst/>
          </a:prstGeom>
          <a:solidFill>
            <a:srgbClr val="FFFFFF">
              <a:alpha val="0"/>
            </a:srgbClr>
          </a:solidFill>
          <a:ln>
            <a:solidFill>
              <a:srgbClr val="FFFFFF">
                <a:alpha val="0"/>
              </a:srgbClr>
            </a:solidFill>
          </a:ln>
        </p:spPr>
        <p:txBody>
          <a:bodyPr wrap="square" lIns="0" tIns="0" rIns="0" bIns="0" rtlCol="0" anchor="ctr"/>
          <a:lstStyle/>
          <a:p>
            <a:pPr algn="ctr" indent="0" marL="0">
              <a:buNone/>
            </a:pPr>
            <a:r>
              <a:rPr lang="en-US" sz="1800" b="1" dirty="0">
                <a:solidFill>
                  <a:srgbClr val="FFFFFF"/>
                </a:solidFill>
                <a:latin typeface="Nunito" pitchFamily="34" charset="0"/>
                <a:ea typeface="Nunito" pitchFamily="34" charset="-122"/>
                <a:cs typeface="Nunito" pitchFamily="34" charset="-120"/>
              </a:rPr>
              <a:t>O</a:t>
            </a:r>
            <a:endParaRPr lang="en-US" sz="1800" dirty="0"/>
          </a:p>
        </p:txBody>
      </p:sp>
      <p:sp>
        <p:nvSpPr>
          <p:cNvPr id="9" name="Text 6"/>
          <p:cNvSpPr txBox="1"/>
          <p:nvPr/>
        </p:nvSpPr>
        <p:spPr>
          <a:xfrm>
            <a:off x="780898" y="3448202"/>
            <a:ext cx="1990649" cy="200254"/>
          </a:xfrm>
          <a:prstGeom prst="rect">
            <a:avLst/>
          </a:prstGeom>
          <a:noFill/>
          <a:ln/>
        </p:spPr>
        <p:txBody>
          <a:bodyPr wrap="none" lIns="0" tIns="0" rIns="0" bIns="0" rtlCol="0" anchor="ctr"/>
          <a:lstStyle/>
          <a:p>
            <a:pPr algn="l" indent="0" marL="0">
              <a:buNone/>
            </a:pPr>
            <a:r>
              <a:rPr lang="en-US" sz="1275" b="1" dirty="0">
                <a:solidFill>
                  <a:srgbClr val="C75C2E"/>
                </a:solidFill>
                <a:latin typeface="Nunito" pitchFamily="34" charset="0"/>
                <a:ea typeface="Nunito" pitchFamily="34" charset="-122"/>
                <a:cs typeface="Nunito" pitchFamily="34" charset="-120"/>
              </a:rPr>
              <a:t>Orange</a:t>
            </a:r>
            <a:endParaRPr lang="en-US" sz="1275" dirty="0"/>
          </a:p>
        </p:txBody>
      </p:sp>
      <p:sp>
        <p:nvSpPr>
          <p:cNvPr id="10" name="Text 7"/>
          <p:cNvSpPr txBox="1"/>
          <p:nvPr/>
        </p:nvSpPr>
        <p:spPr>
          <a:xfrm>
            <a:off x="780898" y="3717950"/>
            <a:ext cx="1990649" cy="543154"/>
          </a:xfrm>
          <a:prstGeom prst="rect">
            <a:avLst/>
          </a:prstGeom>
          <a:noFill/>
          <a:ln/>
        </p:spPr>
        <p:txBody>
          <a:bodyPr wrap="square" lIns="0" tIns="0" rIns="0" bIns="0" rtlCol="0" anchor="ctr"/>
          <a:lstStyle/>
          <a:p>
            <a:pPr algn="l" indent="0" marL="0">
              <a:lnSpc>
                <a:spcPts val="1406"/>
              </a:lnSpc>
              <a:buNone/>
            </a:pPr>
            <a:r>
              <a:rPr lang="en-US" sz="937" dirty="0">
                <a:solidFill>
                  <a:srgbClr val="3F5566"/>
                </a:solidFill>
                <a:latin typeface="Quicksand" pitchFamily="34" charset="0"/>
                <a:ea typeface="Quicksand" pitchFamily="34" charset="-122"/>
                <a:cs typeface="Quicksand" pitchFamily="34" charset="-120"/>
              </a:rPr>
              <a:t>Records still needed </a:t>
            </a:r>
            <a:pPr algn="l" indent="0" marL="0">
              <a:lnSpc>
                <a:spcPts val="1406"/>
              </a:lnSpc>
              <a:buNone/>
            </a:pPr>
            <a:r>
              <a:rPr lang="en-US" sz="937" i="1" dirty="0">
                <a:solidFill>
                  <a:srgbClr val="3F5566"/>
                </a:solidFill>
                <a:latin typeface="Quicksand" pitchFamily="34" charset="0"/>
                <a:ea typeface="Quicksand" pitchFamily="34" charset="-122"/>
                <a:cs typeface="Quicksand" pitchFamily="34" charset="-120"/>
              </a:rPr>
              <a:t>but</a:t>
            </a:r>
            <a:pPr algn="l" indent="0" marL="0">
              <a:lnSpc>
                <a:spcPts val="1406"/>
              </a:lnSpc>
              <a:buNone/>
            </a:pPr>
            <a:r>
              <a:rPr lang="en-US" sz="937" dirty="0">
                <a:solidFill>
                  <a:srgbClr val="3F5566"/>
                </a:solidFill>
                <a:latin typeface="Quicksand" pitchFamily="34" charset="0"/>
                <a:ea typeface="Quicksand" pitchFamily="34" charset="-122"/>
                <a:cs typeface="Quicksand" pitchFamily="34" charset="-120"/>
              </a:rPr>
              <a:t> waiting on the release, signed at the first PT/Chiro visit.</a:t>
            </a:r>
            <a:endParaRPr lang="en-US" sz="937" dirty="0"/>
          </a:p>
        </p:txBody>
      </p:sp>
      <p:sp>
        <p:nvSpPr>
          <p:cNvPr id="11" name="Text 8"/>
          <p:cNvSpPr txBox="1"/>
          <p:nvPr/>
        </p:nvSpPr>
        <p:spPr>
          <a:xfrm>
            <a:off x="780898" y="4330598"/>
            <a:ext cx="1990649" cy="314554"/>
          </a:xfrm>
          <a:prstGeom prst="rect">
            <a:avLst/>
          </a:prstGeom>
          <a:noFill/>
          <a:ln/>
        </p:spPr>
        <p:txBody>
          <a:bodyPr wrap="square" lIns="0" tIns="0" rIns="0" bIns="0" rtlCol="0" anchor="ctr"/>
          <a:lstStyle/>
          <a:p>
            <a:pPr algn="l" indent="0" marL="0">
              <a:lnSpc>
                <a:spcPts val="1207"/>
              </a:lnSpc>
              <a:buNone/>
            </a:pPr>
            <a:r>
              <a:rPr lang="en-US" sz="862" b="1" dirty="0">
                <a:solidFill>
                  <a:srgbClr val="5C6F7E"/>
                </a:solidFill>
                <a:latin typeface="Quicksand" pitchFamily="34" charset="0"/>
                <a:ea typeface="Quicksand" pitchFamily="34" charset="-122"/>
                <a:cs typeface="Quicksand" pitchFamily="34" charset="-120"/>
              </a:rPr>
              <a:t>Once received: send original request → change to white.</a:t>
            </a:r>
            <a:endParaRPr lang="en-US" sz="862" dirty="0"/>
          </a:p>
        </p:txBody>
      </p:sp>
      <p:pic>
        <p:nvPicPr>
          <p:cNvPr id="12" name="Image 1" descr="gen-dedup-ed168de376bf04076f2d3519e929f22f.png">    </p:cNvPr>
          <p:cNvPicPr>
            <a:picLocks noChangeAspect="1"/>
          </p:cNvPicPr>
          <p:nvPr/>
        </p:nvPicPr>
        <p:blipFill>
          <a:blip r:embed="rId2"/>
          <a:srcRect l="0" r="0" t="-4" b="-4"/>
          <a:stretch/>
        </p:blipFill>
        <p:spPr>
          <a:xfrm>
            <a:off x="3112618" y="2476195"/>
            <a:ext cx="2407615" cy="4095598"/>
          </a:xfrm>
          <a:prstGeom prst="rect">
            <a:avLst/>
          </a:prstGeom>
        </p:spPr>
      </p:pic>
      <p:sp>
        <p:nvSpPr>
          <p:cNvPr id="13" name="Shape 9"/>
          <p:cNvSpPr/>
          <p:nvPr/>
        </p:nvSpPr>
        <p:spPr>
          <a:xfrm>
            <a:off x="3112618" y="2476195"/>
            <a:ext cx="2409444" cy="761695"/>
          </a:xfrm>
          <a:prstGeom prst="roundRect">
            <a:avLst>
              <a:gd name="adj" fmla="val 27491"/>
            </a:avLst>
          </a:prstGeom>
          <a:solidFill>
            <a:srgbClr val="FF5757"/>
          </a:solidFill>
          <a:ln w="12700">
            <a:solidFill>
              <a:srgbClr val="FFFFFF">
                <a:alpha val="0"/>
              </a:srgbClr>
            </a:solidFill>
            <a:prstDash val="solid"/>
          </a:ln>
        </p:spPr>
      </p:sp>
      <p:sp>
        <p:nvSpPr>
          <p:cNvPr id="14" name="Shape 10"/>
          <p:cNvSpPr/>
          <p:nvPr/>
        </p:nvSpPr>
        <p:spPr>
          <a:xfrm>
            <a:off x="4078224" y="2618842"/>
            <a:ext cx="476402" cy="476402"/>
          </a:xfrm>
          <a:prstGeom prst="roundRect">
            <a:avLst>
              <a:gd name="adj" fmla="val 28023"/>
            </a:avLst>
          </a:prstGeom>
          <a:solidFill>
            <a:srgbClr val="C23B3B"/>
          </a:solidFill>
          <a:ln w="12700">
            <a:solidFill>
              <a:srgbClr val="FFFFFF">
                <a:alpha val="0"/>
              </a:srgbClr>
            </a:solidFill>
            <a:prstDash val="solid"/>
          </a:ln>
        </p:spPr>
      </p:sp>
      <p:sp>
        <p:nvSpPr>
          <p:cNvPr id="15" name="Text 11"/>
          <p:cNvSpPr txBox="1"/>
          <p:nvPr/>
        </p:nvSpPr>
        <p:spPr>
          <a:xfrm>
            <a:off x="4078224" y="2618842"/>
            <a:ext cx="476402" cy="476402"/>
          </a:xfrm>
          <a:prstGeom prst="rect">
            <a:avLst/>
          </a:prstGeom>
          <a:solidFill>
            <a:srgbClr val="FFFFFF">
              <a:alpha val="0"/>
            </a:srgbClr>
          </a:solidFill>
          <a:ln>
            <a:solidFill>
              <a:srgbClr val="FFFFFF">
                <a:alpha val="0"/>
              </a:srgbClr>
            </a:solidFill>
          </a:ln>
        </p:spPr>
        <p:txBody>
          <a:bodyPr wrap="square" lIns="0" tIns="0" rIns="0" bIns="0" rtlCol="0" anchor="ctr"/>
          <a:lstStyle/>
          <a:p>
            <a:pPr algn="ctr" indent="0" marL="0">
              <a:buNone/>
            </a:pPr>
            <a:r>
              <a:rPr lang="en-US" sz="1800" b="1" dirty="0">
                <a:solidFill>
                  <a:srgbClr val="FFFFFF"/>
                </a:solidFill>
                <a:latin typeface="Nunito" pitchFamily="34" charset="0"/>
                <a:ea typeface="Nunito" pitchFamily="34" charset="-122"/>
                <a:cs typeface="Nunito" pitchFamily="34" charset="-120"/>
              </a:rPr>
              <a:t>R</a:t>
            </a:r>
            <a:endParaRPr lang="en-US" sz="1800" dirty="0"/>
          </a:p>
        </p:txBody>
      </p:sp>
      <p:sp>
        <p:nvSpPr>
          <p:cNvPr id="16" name="Text 12"/>
          <p:cNvSpPr txBox="1"/>
          <p:nvPr/>
        </p:nvSpPr>
        <p:spPr>
          <a:xfrm>
            <a:off x="3322015" y="3448202"/>
            <a:ext cx="1990649" cy="200254"/>
          </a:xfrm>
          <a:prstGeom prst="rect">
            <a:avLst/>
          </a:prstGeom>
          <a:noFill/>
          <a:ln/>
        </p:spPr>
        <p:txBody>
          <a:bodyPr wrap="none" lIns="0" tIns="0" rIns="0" bIns="0" rtlCol="0" anchor="ctr"/>
          <a:lstStyle/>
          <a:p>
            <a:pPr algn="l" indent="0" marL="0">
              <a:buNone/>
            </a:pPr>
            <a:r>
              <a:rPr lang="en-US" sz="1275" b="1" dirty="0">
                <a:solidFill>
                  <a:srgbClr val="C23B3B"/>
                </a:solidFill>
                <a:latin typeface="Nunito" pitchFamily="34" charset="0"/>
                <a:ea typeface="Nunito" pitchFamily="34" charset="-122"/>
                <a:cs typeface="Nunito" pitchFamily="34" charset="-120"/>
              </a:rPr>
              <a:t>Red</a:t>
            </a:r>
            <a:endParaRPr lang="en-US" sz="1275" dirty="0"/>
          </a:p>
        </p:txBody>
      </p:sp>
      <p:sp>
        <p:nvSpPr>
          <p:cNvPr id="17" name="Text 13"/>
          <p:cNvSpPr txBox="1"/>
          <p:nvPr/>
        </p:nvSpPr>
        <p:spPr>
          <a:xfrm>
            <a:off x="3322015" y="3717950"/>
            <a:ext cx="1990649" cy="715061"/>
          </a:xfrm>
          <a:prstGeom prst="rect">
            <a:avLst/>
          </a:prstGeom>
          <a:noFill/>
          <a:ln/>
        </p:spPr>
        <p:txBody>
          <a:bodyPr wrap="square" lIns="0" tIns="0" rIns="0" bIns="0" rtlCol="0" anchor="ctr"/>
          <a:lstStyle/>
          <a:p>
            <a:pPr algn="l" indent="0" marL="0">
              <a:lnSpc>
                <a:spcPts val="1406"/>
              </a:lnSpc>
              <a:buNone/>
            </a:pPr>
            <a:r>
              <a:rPr lang="en-US" sz="937" dirty="0">
                <a:solidFill>
                  <a:srgbClr val="3F5566"/>
                </a:solidFill>
                <a:latin typeface="Quicksand" pitchFamily="34" charset="0"/>
                <a:ea typeface="Quicksand" pitchFamily="34" charset="-122"/>
                <a:cs typeface="Quicksand" pitchFamily="34" charset="-120"/>
              </a:rPr>
              <a:t>Patient not found per facility. Use </a:t>
            </a:r>
            <a:pPr algn="l" indent="0" marL="0">
              <a:lnSpc>
                <a:spcPts val="1406"/>
              </a:lnSpc>
              <a:buNone/>
            </a:pPr>
            <a:r>
              <a:rPr lang="en-US" sz="937" i="1" dirty="0">
                <a:solidFill>
                  <a:srgbClr val="3F5566"/>
                </a:solidFill>
                <a:latin typeface="Quicksand" pitchFamily="34" charset="0"/>
                <a:ea typeface="Quicksand" pitchFamily="34" charset="-122"/>
                <a:cs typeface="Quicksand" pitchFamily="34" charset="-120"/>
              </a:rPr>
              <a:t>only</a:t>
            </a:r>
            <a:pPr algn="l" indent="0" marL="0">
              <a:lnSpc>
                <a:spcPts val="1406"/>
              </a:lnSpc>
              <a:buNone/>
            </a:pPr>
            <a:r>
              <a:rPr lang="en-US" sz="937" dirty="0">
                <a:solidFill>
                  <a:srgbClr val="3F5566"/>
                </a:solidFill>
                <a:latin typeface="Quicksand" pitchFamily="34" charset="0"/>
                <a:ea typeface="Quicksand" pitchFamily="34" charset="-122"/>
                <a:cs typeface="Quicksand" pitchFamily="34" charset="-120"/>
              </a:rPr>
              <a:t> after trying everything: name, DOB, discharge papers, confirmation with law firm.</a:t>
            </a:r>
            <a:endParaRPr lang="en-US" sz="937" dirty="0"/>
          </a:p>
        </p:txBody>
      </p:sp>
      <p:pic>
        <p:nvPicPr>
          <p:cNvPr id="18" name="Image 2" descr="gen-dedup-755fa61be6234330a6674890a3b548a3.png">    </p:cNvPr>
          <p:cNvPicPr>
            <a:picLocks noChangeAspect="1"/>
          </p:cNvPicPr>
          <p:nvPr/>
        </p:nvPicPr>
        <p:blipFill>
          <a:blip r:embed="rId3"/>
          <a:srcRect l="0" r="0" t="-6" b="-6"/>
          <a:stretch/>
        </p:blipFill>
        <p:spPr>
          <a:xfrm>
            <a:off x="5653735" y="2476195"/>
            <a:ext cx="2407615" cy="4114800"/>
          </a:xfrm>
          <a:prstGeom prst="rect">
            <a:avLst/>
          </a:prstGeom>
        </p:spPr>
      </p:pic>
      <p:sp>
        <p:nvSpPr>
          <p:cNvPr id="19" name="Shape 14"/>
          <p:cNvSpPr/>
          <p:nvPr/>
        </p:nvSpPr>
        <p:spPr>
          <a:xfrm>
            <a:off x="5662879" y="2486254"/>
            <a:ext cx="2390242" cy="790956"/>
          </a:xfrm>
          <a:prstGeom prst="roundRect">
            <a:avLst>
              <a:gd name="adj" fmla="val 26474"/>
            </a:avLst>
          </a:prstGeom>
          <a:solidFill>
            <a:srgbClr val="FFFFFF"/>
          </a:solidFill>
          <a:ln w="25398">
            <a:solidFill>
              <a:srgbClr val="E7E1D7"/>
            </a:solidFill>
            <a:prstDash val="solid"/>
          </a:ln>
        </p:spPr>
      </p:sp>
      <p:sp>
        <p:nvSpPr>
          <p:cNvPr id="20" name="Shape 15"/>
          <p:cNvSpPr/>
          <p:nvPr/>
        </p:nvSpPr>
        <p:spPr>
          <a:xfrm>
            <a:off x="5662879" y="3268066"/>
            <a:ext cx="2390242" cy="9144"/>
          </a:xfrm>
          <a:prstGeom prst="roundRect">
            <a:avLst>
              <a:gd name="adj" fmla="val 2290000"/>
            </a:avLst>
          </a:prstGeom>
          <a:solidFill>
            <a:srgbClr val="F0EDE5"/>
          </a:solidFill>
          <a:ln w="12700">
            <a:solidFill>
              <a:srgbClr val="F0EDE5">
                <a:alpha val="0"/>
              </a:srgbClr>
            </a:solidFill>
            <a:prstDash val="solid"/>
          </a:ln>
        </p:spPr>
      </p:sp>
      <p:sp>
        <p:nvSpPr>
          <p:cNvPr id="21" name="Shape 16"/>
          <p:cNvSpPr/>
          <p:nvPr/>
        </p:nvSpPr>
        <p:spPr>
          <a:xfrm>
            <a:off x="6619342" y="2648102"/>
            <a:ext cx="476402" cy="476402"/>
          </a:xfrm>
          <a:prstGeom prst="roundRect">
            <a:avLst>
              <a:gd name="adj" fmla="val 28023"/>
            </a:avLst>
          </a:prstGeom>
          <a:solidFill>
            <a:srgbClr val="4B7FC2"/>
          </a:solidFill>
          <a:ln w="12700">
            <a:solidFill>
              <a:srgbClr val="FFFFFF">
                <a:alpha val="0"/>
              </a:srgbClr>
            </a:solidFill>
            <a:prstDash val="solid"/>
          </a:ln>
        </p:spPr>
      </p:sp>
      <p:sp>
        <p:nvSpPr>
          <p:cNvPr id="22" name="Text 17"/>
          <p:cNvSpPr txBox="1"/>
          <p:nvPr/>
        </p:nvSpPr>
        <p:spPr>
          <a:xfrm>
            <a:off x="6619342" y="2648102"/>
            <a:ext cx="476402" cy="476402"/>
          </a:xfrm>
          <a:prstGeom prst="rect">
            <a:avLst/>
          </a:prstGeom>
          <a:solidFill>
            <a:srgbClr val="FFFFFF">
              <a:alpha val="0"/>
            </a:srgbClr>
          </a:solidFill>
          <a:ln>
            <a:solidFill>
              <a:srgbClr val="FFFFFF">
                <a:alpha val="0"/>
              </a:srgbClr>
            </a:solidFill>
          </a:ln>
        </p:spPr>
        <p:txBody>
          <a:bodyPr wrap="square" lIns="0" tIns="0" rIns="0" bIns="0" rtlCol="0" anchor="ctr"/>
          <a:lstStyle/>
          <a:p>
            <a:pPr algn="ctr" indent="0" marL="0">
              <a:buNone/>
            </a:pPr>
            <a:r>
              <a:rPr lang="en-US" sz="1800" b="1" dirty="0">
                <a:solidFill>
                  <a:srgbClr val="FFFFFF"/>
                </a:solidFill>
                <a:latin typeface="Nunito" pitchFamily="34" charset="0"/>
                <a:ea typeface="Nunito" pitchFamily="34" charset="-122"/>
                <a:cs typeface="Nunito" pitchFamily="34" charset="-120"/>
              </a:rPr>
              <a:t>W</a:t>
            </a:r>
            <a:endParaRPr lang="en-US" sz="1800" dirty="0"/>
          </a:p>
        </p:txBody>
      </p:sp>
      <p:sp>
        <p:nvSpPr>
          <p:cNvPr id="23" name="Text 18"/>
          <p:cNvSpPr txBox="1"/>
          <p:nvPr/>
        </p:nvSpPr>
        <p:spPr>
          <a:xfrm>
            <a:off x="5872277" y="3485693"/>
            <a:ext cx="1972361" cy="200254"/>
          </a:xfrm>
          <a:prstGeom prst="rect">
            <a:avLst/>
          </a:prstGeom>
          <a:noFill/>
          <a:ln/>
        </p:spPr>
        <p:txBody>
          <a:bodyPr wrap="none" lIns="0" tIns="0" rIns="0" bIns="0" rtlCol="0" anchor="ctr"/>
          <a:lstStyle/>
          <a:p>
            <a:pPr algn="l" indent="0" marL="0">
              <a:buNone/>
            </a:pPr>
            <a:r>
              <a:rPr lang="en-US" sz="1275" b="1" dirty="0">
                <a:solidFill>
                  <a:srgbClr val="4B7FC2"/>
                </a:solidFill>
                <a:latin typeface="Nunito" pitchFamily="34" charset="0"/>
                <a:ea typeface="Nunito" pitchFamily="34" charset="-122"/>
                <a:cs typeface="Nunito" pitchFamily="34" charset="-120"/>
              </a:rPr>
              <a:t>White</a:t>
            </a:r>
            <a:endParaRPr lang="en-US" sz="1275" dirty="0"/>
          </a:p>
        </p:txBody>
      </p:sp>
      <p:sp>
        <p:nvSpPr>
          <p:cNvPr id="24" name="Text 19"/>
          <p:cNvSpPr txBox="1"/>
          <p:nvPr/>
        </p:nvSpPr>
        <p:spPr>
          <a:xfrm>
            <a:off x="5872277" y="3756355"/>
            <a:ext cx="1972361" cy="362102"/>
          </a:xfrm>
          <a:prstGeom prst="rect">
            <a:avLst/>
          </a:prstGeom>
          <a:noFill/>
          <a:ln/>
        </p:spPr>
        <p:txBody>
          <a:bodyPr wrap="square" lIns="0" tIns="0" rIns="0" bIns="0" rtlCol="0" anchor="ctr"/>
          <a:lstStyle/>
          <a:p>
            <a:pPr algn="l" indent="0" marL="0">
              <a:lnSpc>
                <a:spcPts val="1406"/>
              </a:lnSpc>
              <a:buNone/>
            </a:pPr>
            <a:r>
              <a:rPr lang="en-US" sz="937" dirty="0">
                <a:solidFill>
                  <a:srgbClr val="3F5566"/>
                </a:solidFill>
                <a:latin typeface="Quicksand" pitchFamily="34" charset="0"/>
                <a:ea typeface="Quicksand" pitchFamily="34" charset="-122"/>
                <a:cs typeface="Quicksand" pitchFamily="34" charset="-120"/>
              </a:rPr>
              <a:t>Records are still needed. </a:t>
            </a:r>
            <a:pPr algn="l" indent="0" marL="0">
              <a:lnSpc>
                <a:spcPts val="1406"/>
              </a:lnSpc>
              <a:buNone/>
            </a:pPr>
            <a:r>
              <a:rPr lang="en-US" sz="937" i="1" dirty="0">
                <a:solidFill>
                  <a:srgbClr val="3F5566"/>
                </a:solidFill>
                <a:latin typeface="Quicksand" pitchFamily="34" charset="0"/>
                <a:ea typeface="Quicksand" pitchFamily="34" charset="-122"/>
                <a:cs typeface="Quicksand" pitchFamily="34" charset="-120"/>
              </a:rPr>
              <a:t>Call to follow up.</a:t>
            </a:r>
            <a:endParaRPr lang="en-US" sz="937" dirty="0"/>
          </a:p>
        </p:txBody>
      </p:sp>
      <p:sp>
        <p:nvSpPr>
          <p:cNvPr id="25" name="Text 20"/>
          <p:cNvSpPr txBox="1"/>
          <p:nvPr/>
        </p:nvSpPr>
        <p:spPr>
          <a:xfrm>
            <a:off x="5872277" y="4189781"/>
            <a:ext cx="1972361" cy="314554"/>
          </a:xfrm>
          <a:prstGeom prst="rect">
            <a:avLst/>
          </a:prstGeom>
          <a:noFill/>
          <a:ln/>
        </p:spPr>
        <p:txBody>
          <a:bodyPr wrap="square" lIns="0" tIns="0" rIns="0" bIns="0" rtlCol="0" anchor="ctr"/>
          <a:lstStyle/>
          <a:p>
            <a:pPr algn="l" indent="0" marL="0">
              <a:lnSpc>
                <a:spcPts val="1207"/>
              </a:lnSpc>
              <a:buNone/>
            </a:pPr>
            <a:r>
              <a:rPr lang="en-US" sz="862" b="1" dirty="0">
                <a:solidFill>
                  <a:srgbClr val="5C6F7E"/>
                </a:solidFill>
                <a:latin typeface="Quicksand" pitchFamily="34" charset="0"/>
                <a:ea typeface="Quicksand" pitchFamily="34" charset="-122"/>
                <a:cs typeface="Quicksand" pitchFamily="34" charset="-120"/>
              </a:rPr>
              <a:t>This is the most common row you'll see.</a:t>
            </a:r>
            <a:endParaRPr lang="en-US" sz="862" dirty="0"/>
          </a:p>
        </p:txBody>
      </p:sp>
      <p:pic>
        <p:nvPicPr>
          <p:cNvPr id="26" name="Image 3" descr="gen-dedup-ed168de376bf04076f2d3519e929f22f.png">    </p:cNvPr>
          <p:cNvPicPr>
            <a:picLocks noChangeAspect="1"/>
          </p:cNvPicPr>
          <p:nvPr/>
        </p:nvPicPr>
        <p:blipFill>
          <a:blip r:embed="rId4"/>
          <a:srcRect l="0" r="0" t="-4" b="-4"/>
          <a:stretch/>
        </p:blipFill>
        <p:spPr>
          <a:xfrm>
            <a:off x="8194853" y="2476195"/>
            <a:ext cx="2407615" cy="4095598"/>
          </a:xfrm>
          <a:prstGeom prst="rect">
            <a:avLst/>
          </a:prstGeom>
        </p:spPr>
      </p:pic>
      <p:sp>
        <p:nvSpPr>
          <p:cNvPr id="27" name="Shape 21"/>
          <p:cNvSpPr/>
          <p:nvPr/>
        </p:nvSpPr>
        <p:spPr>
          <a:xfrm>
            <a:off x="8194853" y="2476195"/>
            <a:ext cx="2409444" cy="761695"/>
          </a:xfrm>
          <a:prstGeom prst="roundRect">
            <a:avLst>
              <a:gd name="adj" fmla="val 27491"/>
            </a:avLst>
          </a:prstGeom>
          <a:solidFill>
            <a:srgbClr val="7C5BFF"/>
          </a:solidFill>
          <a:ln w="12700">
            <a:solidFill>
              <a:srgbClr val="FFFFFF">
                <a:alpha val="0"/>
              </a:srgbClr>
            </a:solidFill>
            <a:prstDash val="solid"/>
          </a:ln>
        </p:spPr>
      </p:sp>
      <p:sp>
        <p:nvSpPr>
          <p:cNvPr id="28" name="Shape 22"/>
          <p:cNvSpPr/>
          <p:nvPr/>
        </p:nvSpPr>
        <p:spPr>
          <a:xfrm>
            <a:off x="9160459" y="2618842"/>
            <a:ext cx="476402" cy="476402"/>
          </a:xfrm>
          <a:prstGeom prst="roundRect">
            <a:avLst>
              <a:gd name="adj" fmla="val 28023"/>
            </a:avLst>
          </a:prstGeom>
          <a:solidFill>
            <a:srgbClr val="4F32C7"/>
          </a:solidFill>
          <a:ln w="12700">
            <a:solidFill>
              <a:srgbClr val="FFFFFF">
                <a:alpha val="0"/>
              </a:srgbClr>
            </a:solidFill>
            <a:prstDash val="solid"/>
          </a:ln>
        </p:spPr>
      </p:sp>
      <p:sp>
        <p:nvSpPr>
          <p:cNvPr id="29" name="Text 23"/>
          <p:cNvSpPr txBox="1"/>
          <p:nvPr/>
        </p:nvSpPr>
        <p:spPr>
          <a:xfrm>
            <a:off x="9160459" y="2618842"/>
            <a:ext cx="476402" cy="476402"/>
          </a:xfrm>
          <a:prstGeom prst="rect">
            <a:avLst/>
          </a:prstGeom>
          <a:solidFill>
            <a:srgbClr val="FFFFFF">
              <a:alpha val="0"/>
            </a:srgbClr>
          </a:solidFill>
          <a:ln>
            <a:solidFill>
              <a:srgbClr val="FFFFFF">
                <a:alpha val="0"/>
              </a:srgbClr>
            </a:solidFill>
          </a:ln>
        </p:spPr>
        <p:txBody>
          <a:bodyPr wrap="square" lIns="0" tIns="0" rIns="0" bIns="0" rtlCol="0" anchor="ctr"/>
          <a:lstStyle/>
          <a:p>
            <a:pPr algn="ctr" indent="0" marL="0">
              <a:buNone/>
            </a:pPr>
            <a:r>
              <a:rPr lang="en-US" sz="1800" b="1" dirty="0">
                <a:solidFill>
                  <a:srgbClr val="FFFFFF"/>
                </a:solidFill>
                <a:latin typeface="Nunito" pitchFamily="34" charset="0"/>
                <a:ea typeface="Nunito" pitchFamily="34" charset="-122"/>
                <a:cs typeface="Nunito" pitchFamily="34" charset="-120"/>
              </a:rPr>
              <a:t>P</a:t>
            </a:r>
            <a:endParaRPr lang="en-US" sz="1800" dirty="0"/>
          </a:p>
        </p:txBody>
      </p:sp>
      <p:sp>
        <p:nvSpPr>
          <p:cNvPr id="30" name="Text 24"/>
          <p:cNvSpPr txBox="1"/>
          <p:nvPr/>
        </p:nvSpPr>
        <p:spPr>
          <a:xfrm>
            <a:off x="8404250" y="3448202"/>
            <a:ext cx="1990649" cy="200254"/>
          </a:xfrm>
          <a:prstGeom prst="rect">
            <a:avLst/>
          </a:prstGeom>
          <a:noFill/>
          <a:ln/>
        </p:spPr>
        <p:txBody>
          <a:bodyPr wrap="none" lIns="0" tIns="0" rIns="0" bIns="0" rtlCol="0" anchor="ctr"/>
          <a:lstStyle/>
          <a:p>
            <a:pPr algn="l" indent="0" marL="0">
              <a:buNone/>
            </a:pPr>
            <a:r>
              <a:rPr lang="en-US" sz="1275" b="1" dirty="0">
                <a:solidFill>
                  <a:srgbClr val="4F32C7"/>
                </a:solidFill>
                <a:latin typeface="Nunito" pitchFamily="34" charset="0"/>
                <a:ea typeface="Nunito" pitchFamily="34" charset="-122"/>
                <a:cs typeface="Nunito" pitchFamily="34" charset="-120"/>
              </a:rPr>
              <a:t>Purple · complete!</a:t>
            </a:r>
            <a:endParaRPr lang="en-US" sz="1275" dirty="0"/>
          </a:p>
        </p:txBody>
      </p:sp>
      <p:sp>
        <p:nvSpPr>
          <p:cNvPr id="31" name="Text 25"/>
          <p:cNvSpPr txBox="1"/>
          <p:nvPr/>
        </p:nvSpPr>
        <p:spPr>
          <a:xfrm>
            <a:off x="8404250" y="3717950"/>
            <a:ext cx="1990649" cy="362102"/>
          </a:xfrm>
          <a:prstGeom prst="rect">
            <a:avLst/>
          </a:prstGeom>
          <a:noFill/>
          <a:ln/>
        </p:spPr>
        <p:txBody>
          <a:bodyPr wrap="square" lIns="0" tIns="0" rIns="0" bIns="0" rtlCol="0" anchor="ctr"/>
          <a:lstStyle/>
          <a:p>
            <a:pPr algn="l" indent="0" marL="0">
              <a:lnSpc>
                <a:spcPts val="1406"/>
              </a:lnSpc>
              <a:buNone/>
            </a:pPr>
            <a:r>
              <a:rPr lang="en-US" sz="937" b="1" dirty="0">
                <a:solidFill>
                  <a:srgbClr val="3F5566"/>
                </a:solidFill>
                <a:latin typeface="Quicksand" pitchFamily="34" charset="0"/>
                <a:ea typeface="Quicksand" pitchFamily="34" charset="-122"/>
                <a:cs typeface="Quicksand" pitchFamily="34" charset="-120"/>
              </a:rPr>
              <a:t>Records uploaded to the portal, or emailed, or faxed to the law firm.</a:t>
            </a:r>
            <a:endParaRPr lang="en-US" sz="937" dirty="0"/>
          </a:p>
        </p:txBody>
      </p:sp>
      <p:sp>
        <p:nvSpPr>
          <p:cNvPr id="32" name="Text 26"/>
          <p:cNvSpPr txBox="1"/>
          <p:nvPr/>
        </p:nvSpPr>
        <p:spPr>
          <a:xfrm>
            <a:off x="8404250" y="4151376"/>
            <a:ext cx="1990649" cy="162763"/>
          </a:xfrm>
          <a:prstGeom prst="rect">
            <a:avLst/>
          </a:prstGeom>
          <a:noFill/>
          <a:ln/>
        </p:spPr>
        <p:txBody>
          <a:bodyPr wrap="none" lIns="0" tIns="0" rIns="0" bIns="0" rtlCol="0" anchor="ctr"/>
          <a:lstStyle/>
          <a:p>
            <a:pPr algn="l" indent="0" marL="0">
              <a:buNone/>
            </a:pPr>
            <a:r>
              <a:rPr lang="en-US" sz="862" dirty="0">
                <a:solidFill>
                  <a:srgbClr val="5C6F7E"/>
                </a:solidFill>
                <a:latin typeface="Quicksand" pitchFamily="34" charset="0"/>
                <a:ea typeface="Quicksand" pitchFamily="34" charset="-122"/>
                <a:cs typeface="Quicksand" pitchFamily="34" charset="-120"/>
              </a:rPr>
              <a:t>Great job. 🚀</a:t>
            </a:r>
            <a:endParaRPr lang="en-US" sz="862" dirty="0"/>
          </a:p>
        </p:txBody>
      </p:sp>
      <p:pic>
        <p:nvPicPr>
          <p:cNvPr id="33" name="Image 4" descr="gen-dedup-5aeb14add43732dc392b5792c7eeed69.png">    </p:cNvPr>
          <p:cNvPicPr>
            <a:picLocks noChangeAspect="1"/>
          </p:cNvPicPr>
          <p:nvPr/>
        </p:nvPicPr>
        <p:blipFill>
          <a:blip r:embed="rId5"/>
          <a:srcRect l="0" r="0" t="-7" b="-7"/>
          <a:stretch/>
        </p:blipFill>
        <p:spPr>
          <a:xfrm>
            <a:off x="10735970" y="2476195"/>
            <a:ext cx="2407615" cy="4095598"/>
          </a:xfrm>
          <a:prstGeom prst="rect">
            <a:avLst/>
          </a:prstGeom>
        </p:spPr>
      </p:pic>
      <p:sp>
        <p:nvSpPr>
          <p:cNvPr id="34" name="Shape 27"/>
          <p:cNvSpPr/>
          <p:nvPr/>
        </p:nvSpPr>
        <p:spPr>
          <a:xfrm>
            <a:off x="10735970" y="2476195"/>
            <a:ext cx="2409444" cy="761695"/>
          </a:xfrm>
          <a:prstGeom prst="roundRect">
            <a:avLst>
              <a:gd name="adj" fmla="val 27491"/>
            </a:avLst>
          </a:prstGeom>
          <a:solidFill>
            <a:srgbClr val="5CE1E6"/>
          </a:solidFill>
          <a:ln w="12700">
            <a:solidFill>
              <a:srgbClr val="FFFFFF">
                <a:alpha val="0"/>
              </a:srgbClr>
            </a:solidFill>
            <a:prstDash val="solid"/>
          </a:ln>
        </p:spPr>
      </p:sp>
      <p:sp>
        <p:nvSpPr>
          <p:cNvPr id="35" name="Shape 28"/>
          <p:cNvSpPr/>
          <p:nvPr/>
        </p:nvSpPr>
        <p:spPr>
          <a:xfrm>
            <a:off x="11701577" y="2618842"/>
            <a:ext cx="476402" cy="476402"/>
          </a:xfrm>
          <a:prstGeom prst="roundRect">
            <a:avLst>
              <a:gd name="adj" fmla="val 28023"/>
            </a:avLst>
          </a:prstGeom>
          <a:solidFill>
            <a:srgbClr val="1FA7AD"/>
          </a:solidFill>
          <a:ln w="12700">
            <a:solidFill>
              <a:srgbClr val="FFFFFF">
                <a:alpha val="0"/>
              </a:srgbClr>
            </a:solidFill>
            <a:prstDash val="solid"/>
          </a:ln>
        </p:spPr>
      </p:sp>
      <p:sp>
        <p:nvSpPr>
          <p:cNvPr id="36" name="Text 29"/>
          <p:cNvSpPr txBox="1"/>
          <p:nvPr/>
        </p:nvSpPr>
        <p:spPr>
          <a:xfrm>
            <a:off x="11701577" y="2618842"/>
            <a:ext cx="476402" cy="476402"/>
          </a:xfrm>
          <a:prstGeom prst="rect">
            <a:avLst/>
          </a:prstGeom>
          <a:solidFill>
            <a:srgbClr val="FFFFFF">
              <a:alpha val="0"/>
            </a:srgbClr>
          </a:solidFill>
          <a:ln>
            <a:solidFill>
              <a:srgbClr val="FFFFFF">
                <a:alpha val="0"/>
              </a:srgbClr>
            </a:solidFill>
          </a:ln>
        </p:spPr>
        <p:txBody>
          <a:bodyPr wrap="square" lIns="0" tIns="0" rIns="0" bIns="0" rtlCol="0" anchor="ctr"/>
          <a:lstStyle/>
          <a:p>
            <a:pPr algn="ctr" indent="0" marL="0">
              <a:buNone/>
            </a:pPr>
            <a:r>
              <a:rPr lang="en-US" sz="1800" b="1" dirty="0">
                <a:solidFill>
                  <a:srgbClr val="FFFFFF"/>
                </a:solidFill>
                <a:latin typeface="Nunito" pitchFamily="34" charset="0"/>
                <a:ea typeface="Nunito" pitchFamily="34" charset="-122"/>
                <a:cs typeface="Nunito" pitchFamily="34" charset="-120"/>
              </a:rPr>
              <a:t>S</a:t>
            </a:r>
            <a:endParaRPr lang="en-US" sz="1800" dirty="0"/>
          </a:p>
        </p:txBody>
      </p:sp>
      <p:sp>
        <p:nvSpPr>
          <p:cNvPr id="37" name="Text 30"/>
          <p:cNvSpPr txBox="1"/>
          <p:nvPr/>
        </p:nvSpPr>
        <p:spPr>
          <a:xfrm>
            <a:off x="10945368" y="3448202"/>
            <a:ext cx="1990649" cy="200254"/>
          </a:xfrm>
          <a:prstGeom prst="rect">
            <a:avLst/>
          </a:prstGeom>
          <a:noFill/>
          <a:ln/>
        </p:spPr>
        <p:txBody>
          <a:bodyPr wrap="none" lIns="0" tIns="0" rIns="0" bIns="0" rtlCol="0" anchor="ctr"/>
          <a:lstStyle/>
          <a:p>
            <a:pPr algn="l" indent="0" marL="0">
              <a:buNone/>
            </a:pPr>
            <a:r>
              <a:rPr lang="en-US" sz="1275" b="1" dirty="0">
                <a:solidFill>
                  <a:srgbClr val="1FA7AD"/>
                </a:solidFill>
                <a:latin typeface="Nunito" pitchFamily="34" charset="0"/>
                <a:ea typeface="Nunito" pitchFamily="34" charset="-122"/>
                <a:cs typeface="Nunito" pitchFamily="34" charset="-120"/>
              </a:rPr>
              <a:t>Sky blue</a:t>
            </a:r>
            <a:endParaRPr lang="en-US" sz="1275" dirty="0"/>
          </a:p>
        </p:txBody>
      </p:sp>
      <p:sp>
        <p:nvSpPr>
          <p:cNvPr id="38" name="Text 31"/>
          <p:cNvSpPr txBox="1"/>
          <p:nvPr/>
        </p:nvSpPr>
        <p:spPr>
          <a:xfrm>
            <a:off x="10945368" y="3717950"/>
            <a:ext cx="1990649" cy="362102"/>
          </a:xfrm>
          <a:prstGeom prst="rect">
            <a:avLst/>
          </a:prstGeom>
          <a:noFill/>
          <a:ln/>
        </p:spPr>
        <p:txBody>
          <a:bodyPr wrap="square" lIns="0" tIns="0" rIns="0" bIns="0" rtlCol="0" anchor="ctr"/>
          <a:lstStyle/>
          <a:p>
            <a:pPr algn="l" indent="0" marL="0">
              <a:lnSpc>
                <a:spcPts val="1406"/>
              </a:lnSpc>
              <a:buNone/>
            </a:pPr>
            <a:r>
              <a:rPr lang="en-US" sz="937" dirty="0">
                <a:solidFill>
                  <a:srgbClr val="3F5566"/>
                </a:solidFill>
                <a:latin typeface="Quicksand" pitchFamily="34" charset="0"/>
                <a:ea typeface="Quicksand" pitchFamily="34" charset="-122"/>
                <a:cs typeface="Quicksand" pitchFamily="34" charset="-120"/>
              </a:rPr>
              <a:t>Outside-facility appointment — no follow-up needed.</a:t>
            </a:r>
            <a:endParaRPr lang="en-US" sz="937" dirty="0"/>
          </a:p>
        </p:txBody>
      </p:sp>
      <p:sp>
        <p:nvSpPr>
          <p:cNvPr id="39" name="Text 32"/>
          <p:cNvSpPr txBox="1"/>
          <p:nvPr/>
        </p:nvSpPr>
        <p:spPr>
          <a:xfrm>
            <a:off x="10945368" y="4151376"/>
            <a:ext cx="1990649" cy="314554"/>
          </a:xfrm>
          <a:prstGeom prst="rect">
            <a:avLst/>
          </a:prstGeom>
          <a:noFill/>
          <a:ln/>
        </p:spPr>
        <p:txBody>
          <a:bodyPr wrap="square" lIns="0" tIns="0" rIns="0" bIns="0" rtlCol="0" anchor="ctr"/>
          <a:lstStyle/>
          <a:p>
            <a:pPr algn="l" indent="0" marL="0">
              <a:lnSpc>
                <a:spcPts val="1207"/>
              </a:lnSpc>
              <a:buNone/>
            </a:pPr>
            <a:r>
              <a:rPr lang="en-US" sz="862" dirty="0">
                <a:solidFill>
                  <a:srgbClr val="5C6F7E"/>
                </a:solidFill>
                <a:latin typeface="Quicksand" pitchFamily="34" charset="0"/>
                <a:ea typeface="Quicksand" pitchFamily="34" charset="-122"/>
                <a:cs typeface="Quicksand" pitchFamily="34" charset="-120"/>
              </a:rPr>
              <a:t>Upcoming appointment already on the books.</a:t>
            </a:r>
            <a:endParaRPr lang="en-US" sz="862" dirty="0"/>
          </a:p>
        </p:txBody>
      </p:sp>
      <p:sp>
        <p:nvSpPr>
          <p:cNvPr id="40" name="Text 33"/>
          <p:cNvSpPr txBox="1"/>
          <p:nvPr/>
        </p:nvSpPr>
        <p:spPr>
          <a:xfrm>
            <a:off x="856793" y="7104888"/>
            <a:ext cx="3955694" cy="171907"/>
          </a:xfrm>
          <a:prstGeom prst="rect">
            <a:avLst/>
          </a:prstGeom>
          <a:noFill/>
          <a:ln/>
        </p:spPr>
        <p:txBody>
          <a:bodyPr wrap="none" lIns="0" tIns="0" rIns="0" bIns="0" rtlCol="0" anchor="ctr"/>
          <a:lstStyle/>
          <a:p>
            <a:pPr algn="l" indent="0" marL="0">
              <a:buNone/>
            </a:pPr>
            <a:r>
              <a:rPr lang="en-US" sz="975" b="1" spc="175" kern="0" dirty="0">
                <a:solidFill>
                  <a:srgbClr val="3F5566"/>
                </a:solidFill>
                <a:latin typeface="Nunito" pitchFamily="34" charset="0"/>
                <a:ea typeface="Nunito" pitchFamily="34" charset="-122"/>
                <a:cs typeface="Nunito" pitchFamily="34" charset="-120"/>
              </a:rPr>
              <a:t>When in doubt, call. Purple is the goal.</a:t>
            </a:r>
            <a:endParaRPr lang="en-US" sz="97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7F2"/>
        </a:solidFill>
      </p:bgPr>
    </p:bg>
    <p:spTree>
      <p:nvGrpSpPr>
        <p:cNvPr id="1" name=""/>
        <p:cNvGrpSpPr/>
        <p:nvPr/>
      </p:nvGrpSpPr>
      <p:grpSpPr>
        <a:xfrm>
          <a:off x="0" y="0"/>
          <a:ext cx="0" cy="0"/>
          <a:chOff x="0" y="0"/>
          <a:chExt cx="0" cy="0"/>
        </a:xfrm>
      </p:grpSpPr>
      <p:pic>
        <p:nvPicPr>
          <p:cNvPr id="2" name="Image 0" descr="gen-dedup-8d02489ddc3a18db8186b15b96998366.png">    </p:cNvPr>
          <p:cNvPicPr>
            <a:picLocks noChangeAspect="1"/>
          </p:cNvPicPr>
          <p:nvPr/>
        </p:nvPicPr>
        <p:blipFill>
          <a:blip r:embed="rId1">
            <a:alphaModFix amt="50000"/>
          </a:blip>
          <a:srcRect l="0" r="0" t="0" b="0"/>
          <a:stretch/>
        </p:blipFill>
        <p:spPr>
          <a:xfrm>
            <a:off x="-1714500" y="-1714500"/>
            <a:ext cx="3429000" cy="3429000"/>
          </a:xfrm>
          <a:prstGeom prst="rect">
            <a:avLst/>
          </a:prstGeom>
        </p:spPr>
      </p:pic>
      <p:pic>
        <p:nvPicPr>
          <p:cNvPr id="3" name="Image 1" descr="gen-dedup-9c9cdbe30a0b4ee7d63e4ab1457ec806.png">    </p:cNvPr>
          <p:cNvPicPr>
            <a:picLocks noChangeAspect="1"/>
          </p:cNvPicPr>
          <p:nvPr/>
        </p:nvPicPr>
        <p:blipFill>
          <a:blip r:embed="rId2">
            <a:alphaModFix amt="55000"/>
          </a:blip>
          <a:srcRect l="0" r="0" t="0" b="0"/>
          <a:stretch/>
        </p:blipFill>
        <p:spPr>
          <a:xfrm>
            <a:off x="-1904695" y="4857293"/>
            <a:ext cx="4952390" cy="4952390"/>
          </a:xfrm>
          <a:prstGeom prst="rect">
            <a:avLst/>
          </a:prstGeom>
        </p:spPr>
      </p:pic>
      <p:sp>
        <p:nvSpPr>
          <p:cNvPr id="4" name="Shape 0"/>
          <p:cNvSpPr/>
          <p:nvPr/>
        </p:nvSpPr>
        <p:spPr>
          <a:xfrm>
            <a:off x="856793" y="705002"/>
            <a:ext cx="1571854" cy="323698"/>
          </a:xfrm>
          <a:prstGeom prst="roundRect">
            <a:avLst>
              <a:gd name="adj" fmla="val 50000"/>
            </a:avLst>
          </a:prstGeom>
          <a:solidFill>
            <a:srgbClr val="BBDCC1"/>
          </a:solidFill>
          <a:ln w="12700">
            <a:solidFill>
              <a:srgbClr val="FFFFFF">
                <a:alpha val="0"/>
              </a:srgbClr>
            </a:solidFill>
            <a:prstDash val="solid"/>
          </a:ln>
        </p:spPr>
      </p:sp>
      <p:sp>
        <p:nvSpPr>
          <p:cNvPr id="5" name="Text 1"/>
          <p:cNvSpPr/>
          <p:nvPr/>
        </p:nvSpPr>
        <p:spPr>
          <a:xfrm>
            <a:off x="856793" y="705002"/>
            <a:ext cx="1571854" cy="324612"/>
          </a:xfrm>
          <a:prstGeom prst="rect">
            <a:avLst/>
          </a:prstGeom>
          <a:solidFill>
            <a:srgbClr val="FFFFFF">
              <a:alpha val="0"/>
            </a:srgbClr>
          </a:solidFill>
          <a:ln>
            <a:solidFill>
              <a:srgbClr val="FFFFFF">
                <a:alpha val="0"/>
              </a:srgbClr>
            </a:solidFill>
          </a:ln>
        </p:spPr>
        <p:txBody>
          <a:bodyPr wrap="none" lIns="190500" tIns="76200" rIns="190500" bIns="76200" rtlCol="0" anchor="ctr"/>
          <a:lstStyle/>
          <a:p>
            <a:pPr algn="ctr" indent="0" marL="0">
              <a:buNone/>
            </a:pPr>
            <a:r>
              <a:rPr lang="en-US" sz="975" b="1" spc="214" kern="0" dirty="0">
                <a:solidFill>
                  <a:srgbClr val="2C4252"/>
                </a:solidFill>
                <a:latin typeface="Nunito" pitchFamily="34" charset="0"/>
                <a:ea typeface="Nunito" pitchFamily="34" charset="-122"/>
                <a:cs typeface="Nunito" pitchFamily="34" charset="-120"/>
              </a:rPr>
              <a:t>Daily habits</a:t>
            </a:r>
            <a:endParaRPr lang="en-US" sz="975" dirty="0"/>
          </a:p>
        </p:txBody>
      </p:sp>
      <p:sp>
        <p:nvSpPr>
          <p:cNvPr id="6" name="Text 2"/>
          <p:cNvSpPr txBox="1"/>
          <p:nvPr/>
        </p:nvSpPr>
        <p:spPr>
          <a:xfrm>
            <a:off x="856793" y="1238098"/>
            <a:ext cx="8572500" cy="724205"/>
          </a:xfrm>
          <a:prstGeom prst="rect">
            <a:avLst/>
          </a:prstGeom>
          <a:noFill/>
          <a:ln/>
        </p:spPr>
        <p:txBody>
          <a:bodyPr wrap="none" lIns="0" tIns="0" rIns="0" bIns="0" rtlCol="0" anchor="ctr"/>
          <a:lstStyle/>
          <a:p>
            <a:pPr algn="l" indent="0" marL="0">
              <a:buNone/>
            </a:pPr>
            <a:r>
              <a:rPr lang="en-US" sz="5400" b="1" spc="-108" kern="0" dirty="0">
                <a:solidFill>
                  <a:srgbClr val="2C4252"/>
                </a:solidFill>
                <a:latin typeface="Nunito" pitchFamily="34" charset="0"/>
                <a:ea typeface="Nunito" pitchFamily="34" charset="-122"/>
                <a:cs typeface="Nunito" pitchFamily="34" charset="-120"/>
              </a:rPr>
              <a:t>Things to </a:t>
            </a:r>
            <a:pPr algn="l" indent="0" marL="0">
              <a:buNone/>
            </a:pPr>
            <a:r>
              <a:rPr lang="en-US" sz="5400" b="1" spc="-108" kern="0" dirty="0">
                <a:solidFill>
                  <a:srgbClr val="4B7FC2"/>
                </a:solidFill>
                <a:latin typeface="Nunito" pitchFamily="34" charset="0"/>
                <a:ea typeface="Nunito" pitchFamily="34" charset="-122"/>
                <a:cs typeface="Nunito" pitchFamily="34" charset="-120"/>
              </a:rPr>
              <a:t>know</a:t>
            </a:r>
            <a:pPr algn="l" indent="0" marL="0">
              <a:buNone/>
            </a:pPr>
            <a:r>
              <a:rPr lang="en-US" sz="5400" b="1" spc="-108" kern="0" dirty="0">
                <a:solidFill>
                  <a:srgbClr val="2C4252"/>
                </a:solidFill>
                <a:latin typeface="Nunito" pitchFamily="34" charset="0"/>
                <a:ea typeface="Nunito" pitchFamily="34" charset="-122"/>
                <a:cs typeface="Nunito" pitchFamily="34" charset="-120"/>
              </a:rPr>
              <a:t>.</a:t>
            </a:r>
            <a:endParaRPr lang="en-US" sz="5400" dirty="0"/>
          </a:p>
        </p:txBody>
      </p:sp>
      <p:pic>
        <p:nvPicPr>
          <p:cNvPr id="7" name="Image 2" descr="gen-dedup-25889313df435192c127568c47f8e950.png">    </p:cNvPr>
          <p:cNvPicPr>
            <a:picLocks noChangeAspect="1"/>
          </p:cNvPicPr>
          <p:nvPr/>
        </p:nvPicPr>
        <p:blipFill>
          <a:blip r:embed="rId3"/>
          <a:srcRect l="-5" r="-5" t="0" b="0"/>
          <a:stretch/>
        </p:blipFill>
        <p:spPr>
          <a:xfrm>
            <a:off x="856793" y="2286000"/>
            <a:ext cx="8381390" cy="895198"/>
          </a:xfrm>
          <a:prstGeom prst="rect">
            <a:avLst/>
          </a:prstGeom>
        </p:spPr>
      </p:pic>
      <p:sp>
        <p:nvSpPr>
          <p:cNvPr id="8" name="Shape 3"/>
          <p:cNvSpPr/>
          <p:nvPr/>
        </p:nvSpPr>
        <p:spPr>
          <a:xfrm>
            <a:off x="1085393" y="2495398"/>
            <a:ext cx="476402" cy="476402"/>
          </a:xfrm>
          <a:prstGeom prst="roundRect">
            <a:avLst>
              <a:gd name="adj" fmla="val 32054"/>
            </a:avLst>
          </a:prstGeom>
          <a:solidFill>
            <a:srgbClr val="BBDCC1"/>
          </a:solidFill>
          <a:ln w="12700">
            <a:solidFill>
              <a:srgbClr val="FFFFFF">
                <a:alpha val="0"/>
              </a:srgbClr>
            </a:solidFill>
            <a:prstDash val="solid"/>
          </a:ln>
        </p:spPr>
      </p:sp>
      <p:sp>
        <p:nvSpPr>
          <p:cNvPr id="9" name="Text 4"/>
          <p:cNvSpPr/>
          <p:nvPr/>
        </p:nvSpPr>
        <p:spPr>
          <a:xfrm>
            <a:off x="1085393" y="2495398"/>
            <a:ext cx="476402" cy="476402"/>
          </a:xfrm>
          <a:prstGeom prst="rect">
            <a:avLst/>
          </a:prstGeom>
          <a:solidFill>
            <a:srgbClr val="FFFFFF">
              <a:alpha val="0"/>
            </a:srgbClr>
          </a:solidFill>
          <a:ln>
            <a:solidFill>
              <a:srgbClr val="FFFFFF">
                <a:alpha val="0"/>
              </a:srgbClr>
            </a:solidFill>
          </a:ln>
        </p:spPr>
        <p:txBody>
          <a:bodyPr wrap="none" lIns="0" tIns="0" rIns="0" bIns="0" rtlCol="0" anchor="ctr"/>
          <a:lstStyle/>
          <a:p>
            <a:pPr algn="ctr" indent="0" marL="0">
              <a:buNone/>
            </a:pPr>
            <a:r>
              <a:rPr lang="en-US" sz="1500" b="1" dirty="0">
                <a:solidFill>
                  <a:srgbClr val="2C4252"/>
                </a:solidFill>
                <a:latin typeface="Nunito" pitchFamily="34" charset="0"/>
                <a:ea typeface="Nunito" pitchFamily="34" charset="-122"/>
                <a:cs typeface="Nunito" pitchFamily="34" charset="-120"/>
              </a:rPr>
              <a:t>01</a:t>
            </a:r>
            <a:endParaRPr lang="en-US" sz="1500" dirty="0"/>
          </a:p>
        </p:txBody>
      </p:sp>
      <p:sp>
        <p:nvSpPr>
          <p:cNvPr id="10" name="Text 5"/>
          <p:cNvSpPr txBox="1"/>
          <p:nvPr/>
        </p:nvSpPr>
        <p:spPr>
          <a:xfrm>
            <a:off x="1752905" y="2495398"/>
            <a:ext cx="4991710" cy="210312"/>
          </a:xfrm>
          <a:prstGeom prst="rect">
            <a:avLst/>
          </a:prstGeom>
          <a:noFill/>
          <a:ln/>
        </p:spPr>
        <p:txBody>
          <a:bodyPr wrap="none" lIns="0" tIns="0" rIns="0" bIns="0" rtlCol="0" anchor="ctr"/>
          <a:lstStyle/>
          <a:p>
            <a:pPr algn="l" indent="0" marL="0">
              <a:buNone/>
            </a:pPr>
            <a:r>
              <a:rPr lang="en-US" sz="1275" b="1" dirty="0">
                <a:solidFill>
                  <a:srgbClr val="2C4252"/>
                </a:solidFill>
                <a:latin typeface="Nunito" pitchFamily="34" charset="0"/>
                <a:ea typeface="Nunito" pitchFamily="34" charset="-122"/>
                <a:cs typeface="Nunito" pitchFamily="34" charset="-120"/>
              </a:rPr>
              <a:t>Oldest first, always.</a:t>
            </a:r>
            <a:endParaRPr lang="en-US" sz="1275" dirty="0"/>
          </a:p>
        </p:txBody>
      </p:sp>
      <p:sp>
        <p:nvSpPr>
          <p:cNvPr id="11" name="Text 6"/>
          <p:cNvSpPr txBox="1"/>
          <p:nvPr/>
        </p:nvSpPr>
        <p:spPr>
          <a:xfrm>
            <a:off x="1752905" y="2726741"/>
            <a:ext cx="5677510" cy="200254"/>
          </a:xfrm>
          <a:prstGeom prst="rect">
            <a:avLst/>
          </a:prstGeom>
          <a:noFill/>
          <a:ln/>
        </p:spPr>
        <p:txBody>
          <a:bodyPr wrap="none" lIns="0" tIns="0" rIns="0" bIns="0" rtlCol="0" anchor="ctr"/>
          <a:lstStyle/>
          <a:p>
            <a:pPr algn="l" indent="0" marL="0">
              <a:buNone/>
            </a:pPr>
            <a:r>
              <a:rPr lang="en-US" sz="1050" dirty="0">
                <a:solidFill>
                  <a:srgbClr val="3F5566"/>
                </a:solidFill>
                <a:highlight>
                  <a:srgbClr val="FFFFFF"/>
                </a:highlight>
                <a:latin typeface="Quicksand" pitchFamily="34" charset="0"/>
                <a:ea typeface="Quicksand" pitchFamily="34" charset="-122"/>
                <a:cs typeface="Quicksand" pitchFamily="34" charset="-120"/>
              </a:rPr>
              <a:t> Work the rows that have been  </a:t>
            </a:r>
            <a:pPr algn="l" indent="0" marL="0">
              <a:buNone/>
            </a:pPr>
            <a:r>
              <a:rPr lang="en-US" sz="1050" b="1" dirty="0">
                <a:solidFill>
                  <a:srgbClr val="2C4252"/>
                </a:solidFill>
                <a:highlight>
                  <a:srgbClr val="FFFFFF"/>
                </a:highlight>
                <a:latin typeface="Quicksand" pitchFamily="34" charset="0"/>
                <a:ea typeface="Quicksand" pitchFamily="34" charset="-122"/>
                <a:cs typeface="Quicksand" pitchFamily="34" charset="-120"/>
              </a:rPr>
              <a:t> pending longest with no recent follow-up notes </a:t>
            </a:r>
            <a:pPr algn="l" indent="0" marL="0">
              <a:buNone/>
            </a:pPr>
            <a:r>
              <a:rPr lang="en-US" sz="1050" dirty="0">
                <a:solidFill>
                  <a:srgbClr val="3F5566"/>
                </a:solidFill>
                <a:highlight>
                  <a:srgbClr val="FFFFFF"/>
                </a:highlight>
                <a:latin typeface="Quicksand" pitchFamily="34" charset="0"/>
                <a:ea typeface="Quicksand" pitchFamily="34" charset="-122"/>
                <a:cs typeface="Quicksand" pitchFamily="34" charset="-120"/>
              </a:rPr>
              <a:t> . </a:t>
            </a:r>
            <a:endParaRPr lang="en-US" sz="1050" dirty="0"/>
          </a:p>
        </p:txBody>
      </p:sp>
      <p:pic>
        <p:nvPicPr>
          <p:cNvPr id="12" name="Image 3" descr="gen-dedup-25889313df435192c127568c47f8e950.png">    </p:cNvPr>
          <p:cNvPicPr>
            <a:picLocks noChangeAspect="1"/>
          </p:cNvPicPr>
          <p:nvPr/>
        </p:nvPicPr>
        <p:blipFill>
          <a:blip r:embed="rId4"/>
          <a:srcRect l="-5" r="-5" t="0" b="0"/>
          <a:stretch/>
        </p:blipFill>
        <p:spPr>
          <a:xfrm>
            <a:off x="856793" y="3352190"/>
            <a:ext cx="8381390" cy="895198"/>
          </a:xfrm>
          <a:prstGeom prst="rect">
            <a:avLst/>
          </a:prstGeom>
        </p:spPr>
      </p:pic>
      <p:sp>
        <p:nvSpPr>
          <p:cNvPr id="13" name="Shape 7"/>
          <p:cNvSpPr/>
          <p:nvPr/>
        </p:nvSpPr>
        <p:spPr>
          <a:xfrm>
            <a:off x="1085393" y="3562502"/>
            <a:ext cx="476402" cy="476402"/>
          </a:xfrm>
          <a:prstGeom prst="roundRect">
            <a:avLst>
              <a:gd name="adj" fmla="val 32054"/>
            </a:avLst>
          </a:prstGeom>
          <a:solidFill>
            <a:srgbClr val="F4A78B"/>
          </a:solidFill>
          <a:ln w="12700">
            <a:solidFill>
              <a:srgbClr val="FFFFFF">
                <a:alpha val="0"/>
              </a:srgbClr>
            </a:solidFill>
            <a:prstDash val="solid"/>
          </a:ln>
        </p:spPr>
      </p:sp>
      <p:sp>
        <p:nvSpPr>
          <p:cNvPr id="14" name="Text 8"/>
          <p:cNvSpPr/>
          <p:nvPr/>
        </p:nvSpPr>
        <p:spPr>
          <a:xfrm>
            <a:off x="1085393" y="3562502"/>
            <a:ext cx="476402" cy="476402"/>
          </a:xfrm>
          <a:prstGeom prst="rect">
            <a:avLst/>
          </a:prstGeom>
          <a:solidFill>
            <a:srgbClr val="FFFFFF">
              <a:alpha val="0"/>
            </a:srgbClr>
          </a:solidFill>
          <a:ln>
            <a:solidFill>
              <a:srgbClr val="FFFFFF">
                <a:alpha val="0"/>
              </a:srgbClr>
            </a:solidFill>
          </a:ln>
        </p:spPr>
        <p:txBody>
          <a:bodyPr wrap="none" lIns="0" tIns="0" rIns="0" bIns="0" rtlCol="0" anchor="ctr"/>
          <a:lstStyle/>
          <a:p>
            <a:pPr algn="ctr" indent="0" marL="0">
              <a:buNone/>
            </a:pPr>
            <a:r>
              <a:rPr lang="en-US" sz="1500" b="1" dirty="0">
                <a:solidFill>
                  <a:srgbClr val="7A2E1A"/>
                </a:solidFill>
                <a:latin typeface="Nunito" pitchFamily="34" charset="0"/>
                <a:ea typeface="Nunito" pitchFamily="34" charset="-122"/>
                <a:cs typeface="Nunito" pitchFamily="34" charset="-120"/>
              </a:rPr>
              <a:t>02</a:t>
            </a:r>
            <a:endParaRPr lang="en-US" sz="1500" dirty="0"/>
          </a:p>
        </p:txBody>
      </p:sp>
      <p:sp>
        <p:nvSpPr>
          <p:cNvPr id="15" name="Text 9"/>
          <p:cNvSpPr txBox="1"/>
          <p:nvPr/>
        </p:nvSpPr>
        <p:spPr>
          <a:xfrm>
            <a:off x="1752905" y="3562502"/>
            <a:ext cx="3705149" cy="210312"/>
          </a:xfrm>
          <a:prstGeom prst="rect">
            <a:avLst/>
          </a:prstGeom>
          <a:noFill/>
          <a:ln/>
        </p:spPr>
        <p:txBody>
          <a:bodyPr wrap="none" lIns="0" tIns="0" rIns="0" bIns="0" rtlCol="0" anchor="ctr"/>
          <a:lstStyle/>
          <a:p>
            <a:pPr algn="l" indent="0" marL="0">
              <a:buNone/>
            </a:pPr>
            <a:r>
              <a:rPr lang="en-US" sz="1275" b="1" dirty="0">
                <a:solidFill>
                  <a:srgbClr val="2C4252"/>
                </a:solidFill>
                <a:latin typeface="Nunito" pitchFamily="34" charset="0"/>
                <a:ea typeface="Nunito" pitchFamily="34" charset="-122"/>
                <a:cs typeface="Nunito" pitchFamily="34" charset="-120"/>
              </a:rPr>
              <a:t>Be prepared before you dial.</a:t>
            </a:r>
            <a:endParaRPr lang="en-US" sz="1275" dirty="0"/>
          </a:p>
        </p:txBody>
      </p:sp>
      <p:sp>
        <p:nvSpPr>
          <p:cNvPr id="16" name="Text 10"/>
          <p:cNvSpPr txBox="1"/>
          <p:nvPr/>
        </p:nvSpPr>
        <p:spPr>
          <a:xfrm>
            <a:off x="1752905" y="3792931"/>
            <a:ext cx="4375404" cy="200254"/>
          </a:xfrm>
          <a:prstGeom prst="rect">
            <a:avLst/>
          </a:prstGeom>
          <a:noFill/>
          <a:ln/>
        </p:spPr>
        <p:txBody>
          <a:bodyPr wrap="none" lIns="0" tIns="0" rIns="0" bIns="0" rtlCol="0" anchor="ctr"/>
          <a:lstStyle/>
          <a:p>
            <a:pPr algn="l" indent="0" marL="0">
              <a:buNone/>
            </a:pPr>
            <a:r>
              <a:rPr lang="en-US" sz="1050" dirty="0">
                <a:solidFill>
                  <a:srgbClr val="3F5566"/>
                </a:solidFill>
                <a:latin typeface="Quicksand" pitchFamily="34" charset="0"/>
                <a:ea typeface="Quicksand" pitchFamily="34" charset="-122"/>
                <a:cs typeface="Quicksand" pitchFamily="34" charset="-120"/>
              </a:rPr>
              <a:t>Know where, why, and the previous notes from the request.</a:t>
            </a:r>
            <a:endParaRPr lang="en-US" sz="1050" dirty="0"/>
          </a:p>
        </p:txBody>
      </p:sp>
      <p:pic>
        <p:nvPicPr>
          <p:cNvPr id="17" name="Image 4" descr="gen-dedup-25889313df435192c127568c47f8e950.png">    </p:cNvPr>
          <p:cNvPicPr>
            <a:picLocks noChangeAspect="1"/>
          </p:cNvPicPr>
          <p:nvPr/>
        </p:nvPicPr>
        <p:blipFill>
          <a:blip r:embed="rId5"/>
          <a:srcRect l="-5" r="-5" t="0" b="0"/>
          <a:stretch/>
        </p:blipFill>
        <p:spPr>
          <a:xfrm>
            <a:off x="856793" y="4419295"/>
            <a:ext cx="8381390" cy="895198"/>
          </a:xfrm>
          <a:prstGeom prst="rect">
            <a:avLst/>
          </a:prstGeom>
        </p:spPr>
      </p:pic>
      <p:sp>
        <p:nvSpPr>
          <p:cNvPr id="18" name="Shape 11"/>
          <p:cNvSpPr/>
          <p:nvPr/>
        </p:nvSpPr>
        <p:spPr>
          <a:xfrm>
            <a:off x="1085393" y="4628693"/>
            <a:ext cx="476402" cy="476402"/>
          </a:xfrm>
          <a:prstGeom prst="roundRect">
            <a:avLst>
              <a:gd name="adj" fmla="val 32054"/>
            </a:avLst>
          </a:prstGeom>
          <a:solidFill>
            <a:srgbClr val="BFD8E9"/>
          </a:solidFill>
          <a:ln w="12700">
            <a:solidFill>
              <a:srgbClr val="FFFFFF">
                <a:alpha val="0"/>
              </a:srgbClr>
            </a:solidFill>
            <a:prstDash val="solid"/>
          </a:ln>
        </p:spPr>
      </p:sp>
      <p:sp>
        <p:nvSpPr>
          <p:cNvPr id="19" name="Text 12"/>
          <p:cNvSpPr/>
          <p:nvPr/>
        </p:nvSpPr>
        <p:spPr>
          <a:xfrm>
            <a:off x="1085393" y="4628693"/>
            <a:ext cx="476402" cy="476402"/>
          </a:xfrm>
          <a:prstGeom prst="rect">
            <a:avLst/>
          </a:prstGeom>
          <a:solidFill>
            <a:srgbClr val="FFFFFF">
              <a:alpha val="0"/>
            </a:srgbClr>
          </a:solidFill>
          <a:ln>
            <a:solidFill>
              <a:srgbClr val="FFFFFF">
                <a:alpha val="0"/>
              </a:srgbClr>
            </a:solidFill>
          </a:ln>
        </p:spPr>
        <p:txBody>
          <a:bodyPr wrap="none" lIns="0" tIns="0" rIns="0" bIns="0" rtlCol="0" anchor="ctr"/>
          <a:lstStyle/>
          <a:p>
            <a:pPr algn="ctr" indent="0" marL="0">
              <a:buNone/>
            </a:pPr>
            <a:r>
              <a:rPr lang="en-US" sz="1500" b="1" dirty="0">
                <a:solidFill>
                  <a:srgbClr val="2C4252"/>
                </a:solidFill>
                <a:latin typeface="Nunito" pitchFamily="34" charset="0"/>
                <a:ea typeface="Nunito" pitchFamily="34" charset="-122"/>
                <a:cs typeface="Nunito" pitchFamily="34" charset="-120"/>
              </a:rPr>
              <a:t>03</a:t>
            </a:r>
            <a:endParaRPr lang="en-US" sz="1500" dirty="0"/>
          </a:p>
        </p:txBody>
      </p:sp>
      <p:sp>
        <p:nvSpPr>
          <p:cNvPr id="20" name="Text 13"/>
          <p:cNvSpPr txBox="1"/>
          <p:nvPr/>
        </p:nvSpPr>
        <p:spPr>
          <a:xfrm>
            <a:off x="1752905" y="4628693"/>
            <a:ext cx="5067605" cy="210312"/>
          </a:xfrm>
          <a:prstGeom prst="rect">
            <a:avLst/>
          </a:prstGeom>
          <a:noFill/>
          <a:ln/>
        </p:spPr>
        <p:txBody>
          <a:bodyPr wrap="none" lIns="0" tIns="0" rIns="0" bIns="0" rtlCol="0" anchor="ctr"/>
          <a:lstStyle/>
          <a:p>
            <a:pPr algn="l" indent="0" marL="0">
              <a:buNone/>
            </a:pPr>
            <a:r>
              <a:rPr lang="en-US" sz="1275" b="1" dirty="0">
                <a:solidFill>
                  <a:srgbClr val="2C4252"/>
                </a:solidFill>
                <a:latin typeface="Nunito" pitchFamily="34" charset="0"/>
                <a:ea typeface="Nunito" pitchFamily="34" charset="-122"/>
                <a:cs typeface="Nunito" pitchFamily="34" charset="-120"/>
              </a:rPr>
              <a:t>Add notes — never erase them.</a:t>
            </a:r>
            <a:endParaRPr lang="en-US" sz="1275" dirty="0"/>
          </a:p>
        </p:txBody>
      </p:sp>
      <p:sp>
        <p:nvSpPr>
          <p:cNvPr id="21" name="Text 14"/>
          <p:cNvSpPr txBox="1"/>
          <p:nvPr/>
        </p:nvSpPr>
        <p:spPr>
          <a:xfrm>
            <a:off x="1752905" y="4860036"/>
            <a:ext cx="5753405" cy="200254"/>
          </a:xfrm>
          <a:prstGeom prst="rect">
            <a:avLst/>
          </a:prstGeom>
          <a:noFill/>
          <a:ln/>
        </p:spPr>
        <p:txBody>
          <a:bodyPr wrap="none" lIns="0" tIns="0" rIns="0" bIns="0" rtlCol="0" anchor="ctr"/>
          <a:lstStyle/>
          <a:p>
            <a:pPr algn="l" indent="0" marL="0">
              <a:buNone/>
            </a:pPr>
            <a:r>
              <a:rPr lang="en-US" sz="1050" dirty="0">
                <a:solidFill>
                  <a:srgbClr val="3F5566"/>
                </a:solidFill>
                <a:latin typeface="Quicksand" pitchFamily="34" charset="0"/>
                <a:ea typeface="Quicksand" pitchFamily="34" charset="-122"/>
                <a:cs typeface="Quicksand" pitchFamily="34" charset="-120"/>
              </a:rPr>
              <a:t>Log everything given. If another follow-up is needed, the previous notes are gold.</a:t>
            </a:r>
            <a:endParaRPr lang="en-US" sz="1050" dirty="0"/>
          </a:p>
        </p:txBody>
      </p:sp>
      <p:pic>
        <p:nvPicPr>
          <p:cNvPr id="22" name="Image 5" descr="gen-dedup-25889313df435192c127568c47f8e950.png">    </p:cNvPr>
          <p:cNvPicPr>
            <a:picLocks noChangeAspect="1"/>
          </p:cNvPicPr>
          <p:nvPr/>
        </p:nvPicPr>
        <p:blipFill>
          <a:blip r:embed="rId6"/>
          <a:srcRect l="-5" r="-5" t="0" b="0"/>
          <a:stretch/>
        </p:blipFill>
        <p:spPr>
          <a:xfrm>
            <a:off x="856793" y="5486400"/>
            <a:ext cx="8381390" cy="895198"/>
          </a:xfrm>
          <a:prstGeom prst="rect">
            <a:avLst/>
          </a:prstGeom>
        </p:spPr>
      </p:pic>
      <p:sp>
        <p:nvSpPr>
          <p:cNvPr id="23" name="Shape 15"/>
          <p:cNvSpPr/>
          <p:nvPr/>
        </p:nvSpPr>
        <p:spPr>
          <a:xfrm>
            <a:off x="1085393" y="5695798"/>
            <a:ext cx="476402" cy="476402"/>
          </a:xfrm>
          <a:prstGeom prst="roundRect">
            <a:avLst>
              <a:gd name="adj" fmla="val 32054"/>
            </a:avLst>
          </a:prstGeom>
          <a:solidFill>
            <a:srgbClr val="4B7FC2"/>
          </a:solidFill>
          <a:ln w="12700">
            <a:solidFill>
              <a:srgbClr val="FFFFFF">
                <a:alpha val="0"/>
              </a:srgbClr>
            </a:solidFill>
            <a:prstDash val="solid"/>
          </a:ln>
        </p:spPr>
      </p:sp>
      <p:sp>
        <p:nvSpPr>
          <p:cNvPr id="24" name="Text 16"/>
          <p:cNvSpPr/>
          <p:nvPr/>
        </p:nvSpPr>
        <p:spPr>
          <a:xfrm>
            <a:off x="1085393" y="5695798"/>
            <a:ext cx="476402" cy="476402"/>
          </a:xfrm>
          <a:prstGeom prst="rect">
            <a:avLst/>
          </a:prstGeom>
          <a:solidFill>
            <a:srgbClr val="FFFFFF">
              <a:alpha val="0"/>
            </a:srgbClr>
          </a:solidFill>
          <a:ln>
            <a:solidFill>
              <a:srgbClr val="FFFFFF">
                <a:alpha val="0"/>
              </a:srgbClr>
            </a:solidFill>
          </a:ln>
        </p:spPr>
        <p:txBody>
          <a:bodyPr wrap="none" lIns="0" tIns="0" rIns="0" bIns="0" rtlCol="0" anchor="ctr"/>
          <a:lstStyle/>
          <a:p>
            <a:pPr algn="ctr" indent="0" marL="0">
              <a:buNone/>
            </a:pPr>
            <a:r>
              <a:rPr lang="en-US" sz="1500" b="1" dirty="0">
                <a:solidFill>
                  <a:srgbClr val="FFFFFF"/>
                </a:solidFill>
                <a:latin typeface="Nunito" pitchFamily="34" charset="0"/>
                <a:ea typeface="Nunito" pitchFamily="34" charset="-122"/>
                <a:cs typeface="Nunito" pitchFamily="34" charset="-120"/>
              </a:rPr>
              <a:t>04</a:t>
            </a:r>
            <a:endParaRPr lang="en-US" sz="1500" dirty="0"/>
          </a:p>
        </p:txBody>
      </p:sp>
      <p:sp>
        <p:nvSpPr>
          <p:cNvPr id="25" name="Text 17"/>
          <p:cNvSpPr txBox="1"/>
          <p:nvPr/>
        </p:nvSpPr>
        <p:spPr>
          <a:xfrm>
            <a:off x="1752905" y="5695798"/>
            <a:ext cx="4953305" cy="210312"/>
          </a:xfrm>
          <a:prstGeom prst="rect">
            <a:avLst/>
          </a:prstGeom>
          <a:noFill/>
          <a:ln/>
        </p:spPr>
        <p:txBody>
          <a:bodyPr wrap="none" lIns="0" tIns="0" rIns="0" bIns="0" rtlCol="0" anchor="ctr"/>
          <a:lstStyle/>
          <a:p>
            <a:pPr algn="l" indent="0" marL="0">
              <a:buNone/>
            </a:pPr>
            <a:r>
              <a:rPr lang="en-US" sz="1275" b="1" dirty="0">
                <a:solidFill>
                  <a:srgbClr val="2C4252"/>
                </a:solidFill>
                <a:latin typeface="Nunito" pitchFamily="34" charset="0"/>
                <a:ea typeface="Nunito" pitchFamily="34" charset="-122"/>
                <a:cs typeface="Nunito" pitchFamily="34" charset="-120"/>
              </a:rPr>
              <a:t>Calls, not another fax.</a:t>
            </a:r>
            <a:endParaRPr lang="en-US" sz="1275" dirty="0"/>
          </a:p>
        </p:txBody>
      </p:sp>
      <p:sp>
        <p:nvSpPr>
          <p:cNvPr id="26" name="Text 18"/>
          <p:cNvSpPr txBox="1"/>
          <p:nvPr/>
        </p:nvSpPr>
        <p:spPr>
          <a:xfrm>
            <a:off x="1752905" y="5926226"/>
            <a:ext cx="5639105" cy="200254"/>
          </a:xfrm>
          <a:prstGeom prst="rect">
            <a:avLst/>
          </a:prstGeom>
          <a:noFill/>
          <a:ln/>
        </p:spPr>
        <p:txBody>
          <a:bodyPr wrap="none" lIns="0" tIns="0" rIns="0" bIns="0" rtlCol="0" anchor="ctr"/>
          <a:lstStyle/>
          <a:p>
            <a:pPr algn="l" indent="0" marL="0">
              <a:buNone/>
            </a:pPr>
            <a:r>
              <a:rPr lang="en-US" sz="1050" dirty="0">
                <a:solidFill>
                  <a:srgbClr val="3F5566"/>
                </a:solidFill>
                <a:highlight>
                  <a:srgbClr val="FFFFFF"/>
                </a:highlight>
                <a:latin typeface="Quicksand" pitchFamily="34" charset="0"/>
                <a:ea typeface="Quicksand" pitchFamily="34" charset="-122"/>
                <a:cs typeface="Quicksand" pitchFamily="34" charset="-120"/>
              </a:rPr>
              <a:t> You  </a:t>
            </a:r>
            <a:pPr algn="l" indent="0" marL="0">
              <a:buNone/>
            </a:pPr>
            <a:r>
              <a:rPr lang="en-US" sz="1050" b="1" i="1" dirty="0">
                <a:solidFill>
                  <a:srgbClr val="4B7FC2"/>
                </a:solidFill>
                <a:highlight>
                  <a:srgbClr val="FFFFFF"/>
                </a:highlight>
                <a:latin typeface="Quicksand" pitchFamily="34" charset="0"/>
                <a:ea typeface="Quicksand" pitchFamily="34" charset="-122"/>
                <a:cs typeface="Quicksand" pitchFamily="34" charset="-120"/>
              </a:rPr>
              <a:t> call </a:t>
            </a:r>
            <a:pPr algn="l" indent="0" marL="0">
              <a:buNone/>
            </a:pPr>
            <a:r>
              <a:rPr lang="en-US" sz="1050" dirty="0">
                <a:solidFill>
                  <a:srgbClr val="3F5566"/>
                </a:solidFill>
                <a:highlight>
                  <a:srgbClr val="FFFFFF"/>
                </a:highlight>
                <a:latin typeface="Quicksand" pitchFamily="34" charset="0"/>
                <a:ea typeface="Quicksand" pitchFamily="34" charset="-122"/>
                <a:cs typeface="Quicksand" pitchFamily="34" charset="-120"/>
              </a:rPr>
              <a:t>  the facilities to follow up. Resending the fax won't get them here faster. </a:t>
            </a:r>
            <a:endParaRPr lang="en-US" sz="1050" dirty="0"/>
          </a:p>
        </p:txBody>
      </p:sp>
      <p:pic>
        <p:nvPicPr>
          <p:cNvPr id="27" name="Image 6" descr="gen-dedup-c7a7435ca1d3aa44c8f1e05f5ae6888d.png">    </p:cNvPr>
          <p:cNvPicPr>
            <a:picLocks noChangeAspect="1"/>
          </p:cNvPicPr>
          <p:nvPr/>
        </p:nvPicPr>
        <p:blipFill>
          <a:blip r:embed="rId7"/>
          <a:srcRect l="-7" r="-7" t="0" b="0"/>
          <a:stretch/>
        </p:blipFill>
        <p:spPr>
          <a:xfrm>
            <a:off x="10095890" y="761695"/>
            <a:ext cx="2857500" cy="3142793"/>
          </a:xfrm>
          <a:prstGeom prst="rect">
            <a:avLst/>
          </a:prstGeom>
        </p:spPr>
      </p:pic>
      <p:sp>
        <p:nvSpPr>
          <p:cNvPr id="28" name="Text 19"/>
          <p:cNvSpPr txBox="1"/>
          <p:nvPr/>
        </p:nvSpPr>
        <p:spPr>
          <a:xfrm>
            <a:off x="10305288" y="990295"/>
            <a:ext cx="2438705" cy="143561"/>
          </a:xfrm>
          <a:prstGeom prst="rect">
            <a:avLst/>
          </a:prstGeom>
          <a:noFill/>
          <a:ln/>
        </p:spPr>
        <p:txBody>
          <a:bodyPr wrap="none" lIns="0" tIns="0" rIns="0" bIns="0" rtlCol="0" anchor="ctr"/>
          <a:lstStyle/>
          <a:p>
            <a:pPr algn="l" indent="0" marL="0">
              <a:buNone/>
            </a:pPr>
            <a:r>
              <a:rPr lang="en-US" sz="825" b="1" spc="231" kern="0" dirty="0">
                <a:solidFill>
                  <a:srgbClr val="BBDCC1"/>
                </a:solidFill>
                <a:latin typeface="Nunito" pitchFamily="34" charset="0"/>
                <a:ea typeface="Nunito" pitchFamily="34" charset="-122"/>
                <a:cs typeface="Nunito" pitchFamily="34" charset="-120"/>
              </a:rPr>
              <a:t>Mindset</a:t>
            </a:r>
            <a:endParaRPr lang="en-US" sz="825" dirty="0"/>
          </a:p>
        </p:txBody>
      </p:sp>
      <p:sp>
        <p:nvSpPr>
          <p:cNvPr id="29" name="Text 20"/>
          <p:cNvSpPr txBox="1"/>
          <p:nvPr/>
        </p:nvSpPr>
        <p:spPr>
          <a:xfrm>
            <a:off x="10305288" y="1266444"/>
            <a:ext cx="2438705" cy="905256"/>
          </a:xfrm>
          <a:prstGeom prst="rect">
            <a:avLst/>
          </a:prstGeom>
          <a:noFill/>
          <a:ln/>
        </p:spPr>
        <p:txBody>
          <a:bodyPr wrap="square" lIns="0" tIns="0" rIns="0" bIns="0" rtlCol="0" anchor="ctr"/>
          <a:lstStyle/>
          <a:p>
            <a:pPr algn="l" indent="0" marL="0">
              <a:lnSpc>
                <a:spcPct val="105000"/>
              </a:lnSpc>
              <a:buNone/>
            </a:pPr>
            <a:r>
              <a:rPr lang="en-US" sz="2250" b="1" spc="-45" kern="0" dirty="0">
                <a:solidFill>
                  <a:srgbClr val="FFFFFF"/>
                </a:solidFill>
                <a:latin typeface="Nunito" pitchFamily="34" charset="0"/>
                <a:ea typeface="Nunito" pitchFamily="34" charset="-122"/>
                <a:cs typeface="Nunito" pitchFamily="34" charset="-120"/>
              </a:rPr>
              <a:t>Be the calm, prepared voice on the line.</a:t>
            </a:r>
            <a:endParaRPr lang="en-US" sz="2250" dirty="0"/>
          </a:p>
        </p:txBody>
      </p:sp>
      <p:pic>
        <p:nvPicPr>
          <p:cNvPr id="30" name="Image 7" descr="gen-dedup-376902e63b1bcfc25ea33ec30d438fe3.png">    </p:cNvPr>
          <p:cNvPicPr>
            <a:picLocks noChangeAspect="1"/>
          </p:cNvPicPr>
          <p:nvPr/>
        </p:nvPicPr>
        <p:blipFill>
          <a:blip r:embed="rId8"/>
          <a:srcRect l="0" r="0" t="-384" b="-384"/>
          <a:stretch/>
        </p:blipFill>
        <p:spPr>
          <a:xfrm>
            <a:off x="10305288" y="2299716"/>
            <a:ext cx="476402" cy="38405"/>
          </a:xfrm>
          <a:prstGeom prst="rect">
            <a:avLst/>
          </a:prstGeom>
        </p:spPr>
      </p:pic>
      <p:sp>
        <p:nvSpPr>
          <p:cNvPr id="31" name="Text 21"/>
          <p:cNvSpPr txBox="1"/>
          <p:nvPr/>
        </p:nvSpPr>
        <p:spPr>
          <a:xfrm>
            <a:off x="10305288" y="2471623"/>
            <a:ext cx="2438705" cy="562356"/>
          </a:xfrm>
          <a:prstGeom prst="rect">
            <a:avLst/>
          </a:prstGeom>
          <a:noFill/>
          <a:ln/>
        </p:spPr>
        <p:txBody>
          <a:bodyPr wrap="square" lIns="0" tIns="0" rIns="0" bIns="0" rtlCol="0" anchor="ctr"/>
          <a:lstStyle/>
          <a:p>
            <a:pPr algn="l" indent="0" marL="0">
              <a:lnSpc>
                <a:spcPts val="1462"/>
              </a:lnSpc>
              <a:buNone/>
            </a:pPr>
            <a:r>
              <a:rPr lang="en-US" sz="975" dirty="0">
                <a:solidFill>
                  <a:srgbClr val="DDE6EF"/>
                </a:solidFill>
                <a:latin typeface="Quicksand" pitchFamily="34" charset="0"/>
                <a:ea typeface="Quicksand" pitchFamily="34" charset="-122"/>
                <a:cs typeface="Quicksand" pitchFamily="34" charset="-120"/>
              </a:rPr>
              <a:t>You're not just making calls — you're helping a real person get the care they need to feel like themselves again.</a:t>
            </a:r>
            <a:endParaRPr lang="en-US" sz="975" dirty="0"/>
          </a:p>
        </p:txBody>
      </p:sp>
      <p:pic>
        <p:nvPicPr>
          <p:cNvPr id="32" name="Image 8" descr="gen-dedup-dc96a7e418b1162e233afae88ba2cd89.png">    </p:cNvPr>
          <p:cNvPicPr>
            <a:picLocks noChangeAspect="1"/>
          </p:cNvPicPr>
          <p:nvPr/>
        </p:nvPicPr>
        <p:blipFill>
          <a:blip r:embed="rId9"/>
          <a:srcRect l="0" r="0" t="-4192" b="-4192"/>
          <a:stretch/>
        </p:blipFill>
        <p:spPr>
          <a:xfrm>
            <a:off x="10572293" y="4095598"/>
            <a:ext cx="1904695" cy="2571293"/>
          </a:xfrm>
          <a:prstGeom prst="rect">
            <a:avLst/>
          </a:prstGeom>
        </p:spPr>
      </p:pic>
      <p:sp>
        <p:nvSpPr>
          <p:cNvPr id="33" name="Text 22"/>
          <p:cNvSpPr txBox="1"/>
          <p:nvPr/>
        </p:nvSpPr>
        <p:spPr>
          <a:xfrm>
            <a:off x="9905695" y="6748272"/>
            <a:ext cx="3238805" cy="576072"/>
          </a:xfrm>
          <a:prstGeom prst="rect">
            <a:avLst/>
          </a:prstGeom>
          <a:noFill/>
          <a:ln/>
        </p:spPr>
        <p:txBody>
          <a:bodyPr wrap="square" lIns="0" tIns="0" rIns="0" bIns="0" rtlCol="0" anchor="t"/>
          <a:lstStyle/>
          <a:p>
            <a:pPr algn="ctr" indent="0" marL="0">
              <a:lnSpc>
                <a:spcPts val="1470"/>
              </a:lnSpc>
              <a:buNone/>
            </a:pPr>
            <a:r>
              <a:rPr lang="en-US" sz="1050" b="1" i="1" dirty="0">
                <a:solidFill>
                  <a:srgbClr val="3F5566"/>
                </a:solidFill>
                <a:latin typeface="Quicksand" pitchFamily="34" charset="0"/>
                <a:ea typeface="Quicksand" pitchFamily="34" charset="-122"/>
                <a:cs typeface="Quicksand" pitchFamily="34" charset="-120"/>
              </a:rPr>
              <a:t>"Always ask before</a:t>
            </a:r>
            <a:pPr algn="ctr" indent="0" marL="0">
              <a:lnSpc>
                <a:spcPts val="1470"/>
              </a:lnSpc>
              <a:buNone/>
            </a:pPr>
            <a:endParaRPr lang="en-US" sz="1050" dirty="0"/>
          </a:p>
          <a:p>
            <a:pPr algn="ctr" indent="0" marL="0">
              <a:lnSpc>
                <a:spcPts val="1470"/>
              </a:lnSpc>
              <a:buNone/>
            </a:pPr>
            <a:r>
              <a:rPr lang="en-US" sz="1050" b="1" i="1" dirty="0">
                <a:solidFill>
                  <a:srgbClr val="3F5566"/>
                </a:solidFill>
                <a:latin typeface="Quicksand" pitchFamily="34" charset="0"/>
                <a:ea typeface="Quicksand" pitchFamily="34" charset="-122"/>
                <a:cs typeface="Quicksand" pitchFamily="34" charset="-120"/>
              </a:rPr>
              <a:t>guessing. No question</a:t>
            </a:r>
            <a:pPr algn="ctr" indent="0" marL="0">
              <a:lnSpc>
                <a:spcPts val="1470"/>
              </a:lnSpc>
              <a:buNone/>
            </a:pPr>
            <a:endParaRPr lang="en-US" sz="1050" dirty="0"/>
          </a:p>
          <a:p>
            <a:pPr algn="ctr" indent="0" marL="0">
              <a:lnSpc>
                <a:spcPts val="1470"/>
              </a:lnSpc>
              <a:buNone/>
            </a:pPr>
            <a:r>
              <a:rPr lang="en-US" sz="1050" b="1" i="1" dirty="0">
                <a:solidFill>
                  <a:srgbClr val="3F5566"/>
                </a:solidFill>
                <a:latin typeface="Quicksand" pitchFamily="34" charset="0"/>
                <a:ea typeface="Quicksand" pitchFamily="34" charset="-122"/>
                <a:cs typeface="Quicksand" pitchFamily="34" charset="-120"/>
              </a:rPr>
              <a:t>is silly here."</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7F2"/>
        </a:solidFill>
      </p:bgPr>
    </p:bg>
    <p:spTree>
      <p:nvGrpSpPr>
        <p:cNvPr id="1" name=""/>
        <p:cNvGrpSpPr/>
        <p:nvPr/>
      </p:nvGrpSpPr>
      <p:grpSpPr>
        <a:xfrm>
          <a:off x="0" y="0"/>
          <a:ext cx="0" cy="0"/>
          <a:chOff x="0" y="0"/>
          <a:chExt cx="0" cy="0"/>
        </a:xfrm>
      </p:grpSpPr>
      <p:pic>
        <p:nvPicPr>
          <p:cNvPr id="2" name="Image 0" descr="gen-dedup-3b03dbfb298a59eb81ad9afe0d0fbbfa.png">    </p:cNvPr>
          <p:cNvPicPr>
            <a:picLocks noChangeAspect="1"/>
          </p:cNvPicPr>
          <p:nvPr/>
        </p:nvPicPr>
        <p:blipFill>
          <a:blip r:embed="rId1"/>
          <a:srcRect l="0" r="0" t="-3" b="-3"/>
          <a:stretch/>
        </p:blipFill>
        <p:spPr>
          <a:xfrm>
            <a:off x="0" y="0"/>
            <a:ext cx="13715086" cy="2286000"/>
          </a:xfrm>
          <a:prstGeom prst="rect">
            <a:avLst/>
          </a:prstGeom>
        </p:spPr>
      </p:pic>
      <p:pic>
        <p:nvPicPr>
          <p:cNvPr id="3" name="Image 1" descr="gen-dedup-ce6fd9ea1d719d588e07c60a29fed30d.png">    </p:cNvPr>
          <p:cNvPicPr>
            <a:picLocks noChangeAspect="1"/>
          </p:cNvPicPr>
          <p:nvPr/>
        </p:nvPicPr>
        <p:blipFill>
          <a:blip r:embed="rId2">
            <a:alphaModFix amt="40000"/>
          </a:blip>
          <a:srcRect l="-400" r="-400" t="0" b="0"/>
          <a:stretch/>
        </p:blipFill>
        <p:spPr>
          <a:xfrm>
            <a:off x="0" y="2247595"/>
            <a:ext cx="13715086" cy="56693"/>
          </a:xfrm>
          <a:prstGeom prst="rect">
            <a:avLst/>
          </a:prstGeom>
        </p:spPr>
      </p:pic>
      <p:sp>
        <p:nvSpPr>
          <p:cNvPr id="4" name="Shape 0"/>
          <p:cNvSpPr/>
          <p:nvPr/>
        </p:nvSpPr>
        <p:spPr>
          <a:xfrm>
            <a:off x="856793" y="761695"/>
            <a:ext cx="1419149" cy="323698"/>
          </a:xfrm>
          <a:prstGeom prst="roundRect">
            <a:avLst>
              <a:gd name="adj" fmla="val 50000"/>
            </a:avLst>
          </a:prstGeom>
          <a:solidFill>
            <a:srgbClr val="FFFFFF"/>
          </a:solidFill>
          <a:ln w="12700">
            <a:solidFill>
              <a:srgbClr val="FFFFFF">
                <a:alpha val="0"/>
              </a:srgbClr>
            </a:solidFill>
            <a:prstDash val="solid"/>
          </a:ln>
        </p:spPr>
      </p:sp>
      <p:sp>
        <p:nvSpPr>
          <p:cNvPr id="5" name="Text 1"/>
          <p:cNvSpPr/>
          <p:nvPr/>
        </p:nvSpPr>
        <p:spPr>
          <a:xfrm>
            <a:off x="856793" y="761695"/>
            <a:ext cx="1419149" cy="324612"/>
          </a:xfrm>
          <a:prstGeom prst="rect">
            <a:avLst/>
          </a:prstGeom>
          <a:solidFill>
            <a:srgbClr val="FFFFFF">
              <a:alpha val="0"/>
            </a:srgbClr>
          </a:solidFill>
          <a:ln>
            <a:solidFill>
              <a:srgbClr val="FFFFFF">
                <a:alpha val="0"/>
              </a:srgbClr>
            </a:solidFill>
          </a:ln>
        </p:spPr>
        <p:txBody>
          <a:bodyPr wrap="none" lIns="190500" tIns="76200" rIns="190500" bIns="76200" rtlCol="0" anchor="ctr"/>
          <a:lstStyle/>
          <a:p>
            <a:pPr algn="ctr" indent="0" marL="0">
              <a:buNone/>
            </a:pPr>
            <a:r>
              <a:rPr lang="en-US" sz="975" b="1" spc="214" kern="0" dirty="0">
                <a:solidFill>
                  <a:srgbClr val="2C4252"/>
                </a:solidFill>
                <a:latin typeface="Nunito" pitchFamily="34" charset="0"/>
                <a:ea typeface="Nunito" pitchFamily="34" charset="-122"/>
                <a:cs typeface="Nunito" pitchFamily="34" charset="-120"/>
              </a:rPr>
              <a:t>Step 1 of 3</a:t>
            </a:r>
            <a:endParaRPr lang="en-US" sz="975" dirty="0"/>
          </a:p>
        </p:txBody>
      </p:sp>
      <p:sp>
        <p:nvSpPr>
          <p:cNvPr id="6" name="Text 2"/>
          <p:cNvSpPr txBox="1"/>
          <p:nvPr/>
        </p:nvSpPr>
        <p:spPr>
          <a:xfrm>
            <a:off x="856793" y="1238098"/>
            <a:ext cx="12916814" cy="743407"/>
          </a:xfrm>
          <a:prstGeom prst="rect">
            <a:avLst/>
          </a:prstGeom>
          <a:noFill/>
          <a:ln/>
        </p:spPr>
        <p:txBody>
          <a:bodyPr wrap="none" lIns="0" tIns="0" rIns="0" bIns="0" rtlCol="0" anchor="ctr"/>
          <a:lstStyle/>
          <a:p>
            <a:pPr algn="l" indent="0" marL="0">
              <a:buNone/>
            </a:pPr>
            <a:r>
              <a:rPr lang="en-US" sz="5850" b="1" spc="-175" kern="0" dirty="0">
                <a:solidFill>
                  <a:srgbClr val="2C4252"/>
                </a:solidFill>
                <a:latin typeface="Nunito" pitchFamily="34" charset="0"/>
                <a:ea typeface="Nunito" pitchFamily="34" charset="-122"/>
                <a:cs typeface="Nunito" pitchFamily="34" charset="-120"/>
              </a:rPr>
              <a:t>Open the call with confidence.</a:t>
            </a:r>
            <a:endParaRPr lang="en-US" sz="5850" dirty="0"/>
          </a:p>
        </p:txBody>
      </p:sp>
      <p:pic>
        <p:nvPicPr>
          <p:cNvPr id="7" name="Image 2" descr="gen-dedup-f23ee1c34f82a5638fbad4360acc6de8.png">    </p:cNvPr>
          <p:cNvPicPr>
            <a:picLocks noChangeAspect="1"/>
          </p:cNvPicPr>
          <p:nvPr/>
        </p:nvPicPr>
        <p:blipFill>
          <a:blip r:embed="rId3"/>
          <a:srcRect l="0" r="0" t="-7" b="-7"/>
          <a:stretch/>
        </p:blipFill>
        <p:spPr>
          <a:xfrm>
            <a:off x="856793" y="2857500"/>
            <a:ext cx="8000086" cy="3018434"/>
          </a:xfrm>
          <a:prstGeom prst="rect">
            <a:avLst/>
          </a:prstGeom>
        </p:spPr>
      </p:pic>
      <p:sp>
        <p:nvSpPr>
          <p:cNvPr id="8" name="Text 3"/>
          <p:cNvSpPr txBox="1"/>
          <p:nvPr/>
        </p:nvSpPr>
        <p:spPr>
          <a:xfrm>
            <a:off x="1199693" y="3562502"/>
            <a:ext cx="7315200" cy="1086307"/>
          </a:xfrm>
          <a:prstGeom prst="rect">
            <a:avLst/>
          </a:prstGeom>
          <a:noFill/>
          <a:ln/>
        </p:spPr>
        <p:txBody>
          <a:bodyPr wrap="square" lIns="0" tIns="0" rIns="0" bIns="0" rtlCol="0" anchor="ctr"/>
          <a:lstStyle/>
          <a:p>
            <a:pPr algn="l" indent="0" marL="0">
              <a:lnSpc>
                <a:spcPts val="2137"/>
              </a:lnSpc>
              <a:buNone/>
            </a:pPr>
            <a:r>
              <a:rPr lang="en-US" sz="1425" i="1" dirty="0">
                <a:solidFill>
                  <a:srgbClr val="2C4252"/>
                </a:solidFill>
                <a:latin typeface="Quicksand" pitchFamily="34" charset="0"/>
                <a:ea typeface="Quicksand" pitchFamily="34" charset="-122"/>
                <a:cs typeface="Quicksand" pitchFamily="34" charset="-120"/>
              </a:rPr>
              <a:t>"Hi, my name is </a:t>
            </a:r>
            <a:pPr algn="l" indent="0" marL="0">
              <a:lnSpc>
                <a:spcPts val="2137"/>
              </a:lnSpc>
              <a:buNone/>
            </a:pPr>
            <a:r>
              <a:rPr lang="en-US" sz="1425" b="1" i="1" dirty="0">
                <a:solidFill>
                  <a:srgbClr val="4B7FC2"/>
                </a:solidFill>
                <a:latin typeface="Quicksand" pitchFamily="34" charset="0"/>
                <a:ea typeface="Quicksand" pitchFamily="34" charset="-122"/>
                <a:cs typeface="Quicksand" pitchFamily="34" charset="-120"/>
              </a:rPr>
              <a:t>______</a:t>
            </a:r>
            <a:pPr algn="l" indent="0" marL="0">
              <a:lnSpc>
                <a:spcPts val="2137"/>
              </a:lnSpc>
              <a:buNone/>
            </a:pPr>
            <a:r>
              <a:rPr lang="en-US" sz="1425" i="1" dirty="0">
                <a:solidFill>
                  <a:srgbClr val="2C4252"/>
                </a:solidFill>
                <a:latin typeface="Quicksand" pitchFamily="34" charset="0"/>
                <a:ea typeface="Quicksand" pitchFamily="34" charset="-122"/>
                <a:cs typeface="Quicksand" pitchFamily="34" charset="-120"/>
              </a:rPr>
              <a:t>. I'm calling from </a:t>
            </a:r>
            <a:pPr algn="l" indent="0" marL="0">
              <a:lnSpc>
                <a:spcPts val="2137"/>
              </a:lnSpc>
              <a:buNone/>
            </a:pPr>
            <a:r>
              <a:rPr lang="en-US" sz="1425" b="1" i="1" dirty="0">
                <a:solidFill>
                  <a:srgbClr val="4B7FC2"/>
                </a:solidFill>
                <a:latin typeface="Quicksand" pitchFamily="34" charset="0"/>
                <a:ea typeface="Quicksand" pitchFamily="34" charset="-122"/>
                <a:cs typeface="Quicksand" pitchFamily="34" charset="-120"/>
              </a:rPr>
              <a:t>______________</a:t>
            </a:r>
            <a:pPr algn="l" indent="0" marL="0">
              <a:lnSpc>
                <a:spcPts val="2137"/>
              </a:lnSpc>
              <a:buNone/>
            </a:pPr>
            <a:r>
              <a:rPr lang="en-US" sz="1425" i="1" dirty="0">
                <a:solidFill>
                  <a:srgbClr val="2C4252"/>
                </a:solidFill>
                <a:latin typeface="Quicksand" pitchFamily="34" charset="0"/>
                <a:ea typeface="Quicksand" pitchFamily="34" charset="-122"/>
                <a:cs typeface="Quicksand" pitchFamily="34" charset="-120"/>
              </a:rPr>
              <a:t>. I sent over a records request for a mutual patient for continuation of care who now has an appointment tomorrow at 2pm. Can you confirm you received this request, and what's the status? The medical provider needs these records."</a:t>
            </a:r>
            <a:endParaRPr lang="en-US" sz="1425" dirty="0"/>
          </a:p>
        </p:txBody>
      </p:sp>
      <p:sp>
        <p:nvSpPr>
          <p:cNvPr id="9" name="Shape 4"/>
          <p:cNvSpPr/>
          <p:nvPr/>
        </p:nvSpPr>
        <p:spPr>
          <a:xfrm>
            <a:off x="1199693" y="3161995"/>
            <a:ext cx="2171700" cy="267005"/>
          </a:xfrm>
          <a:prstGeom prst="roundRect">
            <a:avLst>
              <a:gd name="adj" fmla="val 28425"/>
            </a:avLst>
          </a:prstGeom>
          <a:solidFill>
            <a:srgbClr val="4B7FC2"/>
          </a:solidFill>
          <a:ln w="12700">
            <a:solidFill>
              <a:srgbClr val="FFFFFF">
                <a:alpha val="0"/>
              </a:srgbClr>
            </a:solidFill>
            <a:prstDash val="solid"/>
          </a:ln>
        </p:spPr>
      </p:sp>
      <p:sp>
        <p:nvSpPr>
          <p:cNvPr id="10" name="Text 5"/>
          <p:cNvSpPr txBox="1"/>
          <p:nvPr/>
        </p:nvSpPr>
        <p:spPr>
          <a:xfrm>
            <a:off x="1199693" y="3161995"/>
            <a:ext cx="2171700" cy="267005"/>
          </a:xfrm>
          <a:prstGeom prst="rect">
            <a:avLst/>
          </a:prstGeom>
          <a:solidFill>
            <a:srgbClr val="FFFFFF">
              <a:alpha val="0"/>
            </a:srgbClr>
          </a:solidFill>
          <a:ln>
            <a:solidFill>
              <a:srgbClr val="FFFFFF">
                <a:alpha val="0"/>
              </a:srgbClr>
            </a:solidFill>
          </a:ln>
        </p:spPr>
        <p:txBody>
          <a:bodyPr wrap="none" lIns="127000" tIns="50800" rIns="127000" bIns="50800" rtlCol="0" anchor="ctr"/>
          <a:lstStyle/>
          <a:p>
            <a:pPr algn="l" indent="0" marL="0">
              <a:buNone/>
            </a:pPr>
            <a:r>
              <a:rPr lang="en-US" sz="900" b="1" spc="198" kern="0" dirty="0">
                <a:solidFill>
                  <a:srgbClr val="FFFFFF"/>
                </a:solidFill>
                <a:latin typeface="Nunito" pitchFamily="34" charset="0"/>
                <a:ea typeface="Nunito" pitchFamily="34" charset="-122"/>
                <a:cs typeface="Nunito" pitchFamily="34" charset="-120"/>
              </a:rPr>
              <a:t>Script · exact words</a:t>
            </a:r>
            <a:endParaRPr lang="en-US" sz="900" dirty="0"/>
          </a:p>
        </p:txBody>
      </p:sp>
      <p:sp>
        <p:nvSpPr>
          <p:cNvPr id="11" name="Text 6"/>
          <p:cNvSpPr txBox="1"/>
          <p:nvPr/>
        </p:nvSpPr>
        <p:spPr>
          <a:xfrm>
            <a:off x="1484986" y="4819802"/>
            <a:ext cx="7029907" cy="200254"/>
          </a:xfrm>
          <a:prstGeom prst="rect">
            <a:avLst/>
          </a:prstGeom>
          <a:noFill/>
          <a:ln/>
        </p:spPr>
        <p:txBody>
          <a:bodyPr wrap="none" lIns="0" tIns="0" rIns="0" bIns="0" rtlCol="0" anchor="ctr"/>
          <a:lstStyle/>
          <a:p>
            <a:pPr algn="l" indent="0" marL="0">
              <a:buNone/>
            </a:pPr>
            <a:r>
              <a:rPr lang="en-US" sz="1050" b="1" dirty="0">
                <a:solidFill>
                  <a:srgbClr val="3F5566"/>
                </a:solidFill>
                <a:latin typeface="Quicksand" pitchFamily="34" charset="0"/>
                <a:ea typeface="Quicksand" pitchFamily="34" charset="-122"/>
                <a:cs typeface="Quicksand" pitchFamily="34" charset="-120"/>
              </a:rPr>
              <a:t>First, check the portal — records might already be there.</a:t>
            </a:r>
            <a:endParaRPr lang="en-US" sz="1050" dirty="0"/>
          </a:p>
        </p:txBody>
      </p:sp>
      <p:sp>
        <p:nvSpPr>
          <p:cNvPr id="12" name="Shape 7"/>
          <p:cNvSpPr/>
          <p:nvPr/>
        </p:nvSpPr>
        <p:spPr>
          <a:xfrm>
            <a:off x="1199693" y="4895698"/>
            <a:ext cx="133502" cy="133502"/>
          </a:xfrm>
          <a:prstGeom prst="ellipse">
            <a:avLst/>
          </a:prstGeom>
          <a:solidFill>
            <a:srgbClr val="BBDCC1"/>
          </a:solidFill>
          <a:ln w="12700">
            <a:solidFill>
              <a:srgbClr val="FFFFFF">
                <a:alpha val="0"/>
              </a:srgbClr>
            </a:solidFill>
            <a:prstDash val="solid"/>
          </a:ln>
        </p:spPr>
      </p:sp>
      <p:sp>
        <p:nvSpPr>
          <p:cNvPr id="13" name="Text 8"/>
          <p:cNvSpPr txBox="1"/>
          <p:nvPr/>
        </p:nvSpPr>
        <p:spPr>
          <a:xfrm>
            <a:off x="1484986" y="5098694"/>
            <a:ext cx="7029907" cy="200254"/>
          </a:xfrm>
          <a:prstGeom prst="rect">
            <a:avLst/>
          </a:prstGeom>
          <a:noFill/>
          <a:ln/>
        </p:spPr>
        <p:txBody>
          <a:bodyPr wrap="none" lIns="0" tIns="0" rIns="0" bIns="0" rtlCol="0" anchor="ctr"/>
          <a:lstStyle/>
          <a:p>
            <a:pPr algn="l" indent="0" marL="0">
              <a:buNone/>
            </a:pPr>
            <a:r>
              <a:rPr lang="en-US" sz="1050" b="1" dirty="0">
                <a:solidFill>
                  <a:srgbClr val="3F5566"/>
                </a:solidFill>
                <a:latin typeface="Quicksand" pitchFamily="34" charset="0"/>
                <a:ea typeface="Quicksand" pitchFamily="34" charset="-122"/>
                <a:cs typeface="Quicksand" pitchFamily="34" charset="-120"/>
              </a:rPr>
              <a:t>Ask for the medical records department specifically.</a:t>
            </a:r>
            <a:endParaRPr lang="en-US" sz="1050" dirty="0"/>
          </a:p>
        </p:txBody>
      </p:sp>
      <p:sp>
        <p:nvSpPr>
          <p:cNvPr id="14" name="Shape 9"/>
          <p:cNvSpPr/>
          <p:nvPr/>
        </p:nvSpPr>
        <p:spPr>
          <a:xfrm>
            <a:off x="1199693" y="5174590"/>
            <a:ext cx="133502" cy="133502"/>
          </a:xfrm>
          <a:prstGeom prst="ellipse">
            <a:avLst/>
          </a:prstGeom>
          <a:solidFill>
            <a:srgbClr val="BBDCC1"/>
          </a:solidFill>
          <a:ln w="12700">
            <a:solidFill>
              <a:srgbClr val="FFFFFF">
                <a:alpha val="0"/>
              </a:srgbClr>
            </a:solidFill>
            <a:prstDash val="solid"/>
          </a:ln>
        </p:spPr>
      </p:sp>
      <p:sp>
        <p:nvSpPr>
          <p:cNvPr id="15" name="Text 10"/>
          <p:cNvSpPr txBox="1"/>
          <p:nvPr/>
        </p:nvSpPr>
        <p:spPr>
          <a:xfrm>
            <a:off x="1484986" y="5377586"/>
            <a:ext cx="7029907" cy="200254"/>
          </a:xfrm>
          <a:prstGeom prst="rect">
            <a:avLst/>
          </a:prstGeom>
          <a:noFill/>
          <a:ln/>
        </p:spPr>
        <p:txBody>
          <a:bodyPr wrap="none" lIns="0" tIns="0" rIns="0" bIns="0" rtlCol="0" anchor="ctr"/>
          <a:lstStyle/>
          <a:p>
            <a:pPr algn="l" indent="0" marL="0">
              <a:buNone/>
            </a:pPr>
            <a:r>
              <a:rPr lang="en-US" sz="1050" b="1" dirty="0">
                <a:solidFill>
                  <a:srgbClr val="3F5566"/>
                </a:solidFill>
                <a:latin typeface="Quicksand" pitchFamily="34" charset="0"/>
                <a:ea typeface="Quicksand" pitchFamily="34" charset="-122"/>
                <a:cs typeface="Quicksand" pitchFamily="34" charset="-120"/>
              </a:rPr>
              <a:t>Know the notes from the request before you call.</a:t>
            </a:r>
            <a:endParaRPr lang="en-US" sz="1050" dirty="0"/>
          </a:p>
        </p:txBody>
      </p:sp>
      <p:sp>
        <p:nvSpPr>
          <p:cNvPr id="16" name="Shape 11"/>
          <p:cNvSpPr/>
          <p:nvPr/>
        </p:nvSpPr>
        <p:spPr>
          <a:xfrm>
            <a:off x="1199693" y="5453482"/>
            <a:ext cx="133502" cy="133502"/>
          </a:xfrm>
          <a:prstGeom prst="ellipse">
            <a:avLst/>
          </a:prstGeom>
          <a:solidFill>
            <a:srgbClr val="BBDCC1"/>
          </a:solidFill>
          <a:ln w="12700">
            <a:solidFill>
              <a:srgbClr val="FFFFFF">
                <a:alpha val="0"/>
              </a:srgbClr>
            </a:solidFill>
            <a:prstDash val="solid"/>
          </a:ln>
        </p:spPr>
      </p:sp>
      <p:pic>
        <p:nvPicPr>
          <p:cNvPr id="17" name="Image 3" descr="gen-dedup-2cc0a1fd0135205d836636e155efadbd.png">    </p:cNvPr>
          <p:cNvPicPr>
            <a:picLocks noChangeAspect="1"/>
          </p:cNvPicPr>
          <p:nvPr/>
        </p:nvPicPr>
        <p:blipFill>
          <a:blip r:embed="rId4"/>
          <a:srcRect l="0" r="0" t="-22" b="-22"/>
          <a:stretch/>
        </p:blipFill>
        <p:spPr>
          <a:xfrm>
            <a:off x="9239098" y="2857500"/>
            <a:ext cx="3619195" cy="838505"/>
          </a:xfrm>
          <a:prstGeom prst="rect">
            <a:avLst/>
          </a:prstGeom>
        </p:spPr>
      </p:pic>
      <p:sp>
        <p:nvSpPr>
          <p:cNvPr id="18" name="Shape 12"/>
          <p:cNvSpPr/>
          <p:nvPr/>
        </p:nvSpPr>
        <p:spPr>
          <a:xfrm>
            <a:off x="9448495" y="3047695"/>
            <a:ext cx="457200" cy="457200"/>
          </a:xfrm>
          <a:prstGeom prst="roundRect">
            <a:avLst>
              <a:gd name="adj" fmla="val 29200"/>
            </a:avLst>
          </a:prstGeom>
          <a:solidFill>
            <a:srgbClr val="4B7FC2"/>
          </a:solidFill>
          <a:ln w="12700">
            <a:solidFill>
              <a:srgbClr val="FFFFFF">
                <a:alpha val="0"/>
              </a:srgbClr>
            </a:solidFill>
            <a:prstDash val="solid"/>
          </a:ln>
        </p:spPr>
      </p:sp>
      <p:sp>
        <p:nvSpPr>
          <p:cNvPr id="19" name="Text 13"/>
          <p:cNvSpPr txBox="1"/>
          <p:nvPr/>
        </p:nvSpPr>
        <p:spPr>
          <a:xfrm>
            <a:off x="9448495" y="3047695"/>
            <a:ext cx="457200" cy="457200"/>
          </a:xfrm>
          <a:prstGeom prst="rect">
            <a:avLst/>
          </a:prstGeom>
          <a:solidFill>
            <a:srgbClr val="FFFFFF">
              <a:alpha val="0"/>
            </a:srgbClr>
          </a:solidFill>
          <a:ln>
            <a:solidFill>
              <a:srgbClr val="FFFFFF">
                <a:alpha val="0"/>
              </a:srgbClr>
            </a:solidFill>
          </a:ln>
        </p:spPr>
        <p:txBody>
          <a:bodyPr wrap="square" lIns="0" tIns="0" rIns="0" bIns="0" rtlCol="0" anchor="ctr"/>
          <a:lstStyle/>
          <a:p>
            <a:pPr algn="ctr" indent="0" marL="0">
              <a:buNone/>
            </a:pPr>
            <a:r>
              <a:rPr lang="en-US" sz="1500" b="1" dirty="0">
                <a:solidFill>
                  <a:srgbClr val="FFFFFF"/>
                </a:solidFill>
                <a:latin typeface="Nunito" pitchFamily="34" charset="0"/>
                <a:ea typeface="Nunito" pitchFamily="34" charset="-122"/>
                <a:cs typeface="Nunito" pitchFamily="34" charset="-120"/>
              </a:rPr>
              <a:t>☎</a:t>
            </a:r>
            <a:endParaRPr lang="en-US" sz="1500" dirty="0"/>
          </a:p>
        </p:txBody>
      </p:sp>
      <p:sp>
        <p:nvSpPr>
          <p:cNvPr id="20" name="Text 14"/>
          <p:cNvSpPr txBox="1"/>
          <p:nvPr/>
        </p:nvSpPr>
        <p:spPr>
          <a:xfrm>
            <a:off x="10039198" y="3047695"/>
            <a:ext cx="2380183" cy="181051"/>
          </a:xfrm>
          <a:prstGeom prst="rect">
            <a:avLst/>
          </a:prstGeom>
          <a:noFill/>
          <a:ln/>
        </p:spPr>
        <p:txBody>
          <a:bodyPr wrap="none" lIns="0" tIns="0" rIns="0" bIns="0" rtlCol="0" anchor="ctr"/>
          <a:lstStyle/>
          <a:p>
            <a:pPr algn="l" indent="0" marL="0">
              <a:buNone/>
            </a:pPr>
            <a:r>
              <a:rPr lang="en-US" sz="1050" b="1" spc="42" kern="0" dirty="0">
                <a:solidFill>
                  <a:srgbClr val="2C4252"/>
                </a:solidFill>
                <a:latin typeface="Nunito" pitchFamily="34" charset="0"/>
                <a:ea typeface="Nunito" pitchFamily="34" charset="-122"/>
                <a:cs typeface="Nunito" pitchFamily="34" charset="-120"/>
              </a:rPr>
              <a:t>You're the physician's office</a:t>
            </a:r>
            <a:endParaRPr lang="en-US" sz="1050" dirty="0"/>
          </a:p>
        </p:txBody>
      </p:sp>
      <p:sp>
        <p:nvSpPr>
          <p:cNvPr id="21" name="Text 15"/>
          <p:cNvSpPr txBox="1"/>
          <p:nvPr/>
        </p:nvSpPr>
        <p:spPr>
          <a:xfrm>
            <a:off x="10039198" y="3257093"/>
            <a:ext cx="2380183" cy="171907"/>
          </a:xfrm>
          <a:prstGeom prst="rect">
            <a:avLst/>
          </a:prstGeom>
          <a:noFill/>
          <a:ln/>
        </p:spPr>
        <p:txBody>
          <a:bodyPr wrap="none" lIns="0" tIns="0" rIns="0" bIns="0" rtlCol="0" anchor="ctr"/>
          <a:lstStyle/>
          <a:p>
            <a:pPr algn="l" indent="0" marL="0">
              <a:buNone/>
            </a:pPr>
            <a:r>
              <a:rPr lang="en-US" sz="937" dirty="0">
                <a:solidFill>
                  <a:srgbClr val="3F5566"/>
                </a:solidFill>
                <a:latin typeface="Quicksand" pitchFamily="34" charset="0"/>
                <a:ea typeface="Quicksand" pitchFamily="34" charset="-122"/>
                <a:cs typeface="Quicksand" pitchFamily="34" charset="-120"/>
              </a:rPr>
              <a:t>Always introduce yourself that way.</a:t>
            </a:r>
            <a:endParaRPr lang="en-US" sz="937" dirty="0"/>
          </a:p>
        </p:txBody>
      </p:sp>
      <p:pic>
        <p:nvPicPr>
          <p:cNvPr id="22" name="Image 4" descr="gen-dedup-34785a9f8f27f885f5cc093db4a9b99c.png">    </p:cNvPr>
          <p:cNvPicPr>
            <a:picLocks noChangeAspect="1"/>
          </p:cNvPicPr>
          <p:nvPr/>
        </p:nvPicPr>
        <p:blipFill>
          <a:blip r:embed="rId5"/>
          <a:srcRect l="-16" r="-16" t="0" b="0"/>
          <a:stretch/>
        </p:blipFill>
        <p:spPr>
          <a:xfrm>
            <a:off x="9239098" y="3847795"/>
            <a:ext cx="3619195" cy="923544"/>
          </a:xfrm>
          <a:prstGeom prst="rect">
            <a:avLst/>
          </a:prstGeom>
        </p:spPr>
      </p:pic>
      <p:sp>
        <p:nvSpPr>
          <p:cNvPr id="23" name="Shape 16"/>
          <p:cNvSpPr/>
          <p:nvPr/>
        </p:nvSpPr>
        <p:spPr>
          <a:xfrm>
            <a:off x="9448495" y="4037990"/>
            <a:ext cx="457200" cy="457200"/>
          </a:xfrm>
          <a:prstGeom prst="roundRect">
            <a:avLst>
              <a:gd name="adj" fmla="val 29200"/>
            </a:avLst>
          </a:prstGeom>
          <a:solidFill>
            <a:srgbClr val="F4A78B"/>
          </a:solidFill>
          <a:ln w="12700">
            <a:solidFill>
              <a:srgbClr val="FFFFFF">
                <a:alpha val="0"/>
              </a:srgbClr>
            </a:solidFill>
            <a:prstDash val="solid"/>
          </a:ln>
        </p:spPr>
      </p:sp>
      <p:sp>
        <p:nvSpPr>
          <p:cNvPr id="24" name="Text 17"/>
          <p:cNvSpPr txBox="1"/>
          <p:nvPr/>
        </p:nvSpPr>
        <p:spPr>
          <a:xfrm>
            <a:off x="9448495" y="4037990"/>
            <a:ext cx="457200" cy="457200"/>
          </a:xfrm>
          <a:prstGeom prst="rect">
            <a:avLst/>
          </a:prstGeom>
          <a:solidFill>
            <a:srgbClr val="FFFFFF">
              <a:alpha val="0"/>
            </a:srgbClr>
          </a:solidFill>
          <a:ln>
            <a:solidFill>
              <a:srgbClr val="FFFFFF">
                <a:alpha val="0"/>
              </a:srgbClr>
            </a:solidFill>
          </a:ln>
        </p:spPr>
        <p:txBody>
          <a:bodyPr wrap="square" lIns="0" tIns="0" rIns="0" bIns="0" rtlCol="0" anchor="ctr"/>
          <a:lstStyle/>
          <a:p>
            <a:pPr algn="ctr" indent="0" marL="0">
              <a:buNone/>
            </a:pPr>
            <a:r>
              <a:rPr lang="en-US" sz="1500" b="1" dirty="0">
                <a:solidFill>
                  <a:srgbClr val="7A2E1A"/>
                </a:solidFill>
                <a:latin typeface="Nunito" pitchFamily="34" charset="0"/>
                <a:ea typeface="Nunito" pitchFamily="34" charset="-122"/>
                <a:cs typeface="Nunito" pitchFamily="34" charset="-120"/>
              </a:rPr>
              <a:t>✓</a:t>
            </a:r>
            <a:endParaRPr lang="en-US" sz="1500" dirty="0"/>
          </a:p>
        </p:txBody>
      </p:sp>
      <p:sp>
        <p:nvSpPr>
          <p:cNvPr id="25" name="Text 18"/>
          <p:cNvSpPr txBox="1"/>
          <p:nvPr/>
        </p:nvSpPr>
        <p:spPr>
          <a:xfrm>
            <a:off x="10039198" y="4037990"/>
            <a:ext cx="2609698" cy="181051"/>
          </a:xfrm>
          <a:prstGeom prst="rect">
            <a:avLst/>
          </a:prstGeom>
          <a:noFill/>
          <a:ln/>
        </p:spPr>
        <p:txBody>
          <a:bodyPr wrap="none" lIns="0" tIns="0" rIns="0" bIns="0" rtlCol="0" anchor="ctr"/>
          <a:lstStyle/>
          <a:p>
            <a:pPr algn="l" indent="0" marL="0">
              <a:buNone/>
            </a:pPr>
            <a:r>
              <a:rPr lang="en-US" sz="1050" b="1" spc="42" kern="0" dirty="0">
                <a:solidFill>
                  <a:srgbClr val="2C4252"/>
                </a:solidFill>
                <a:latin typeface="Nunito" pitchFamily="34" charset="0"/>
                <a:ea typeface="Nunito" pitchFamily="34" charset="-122"/>
                <a:cs typeface="Nunito" pitchFamily="34" charset="-120"/>
              </a:rPr>
              <a:t>Check the portal first</a:t>
            </a:r>
            <a:endParaRPr lang="en-US" sz="1050" dirty="0"/>
          </a:p>
        </p:txBody>
      </p:sp>
      <p:sp>
        <p:nvSpPr>
          <p:cNvPr id="26" name="Text 19"/>
          <p:cNvSpPr txBox="1"/>
          <p:nvPr/>
        </p:nvSpPr>
        <p:spPr>
          <a:xfrm>
            <a:off x="10039198" y="4248302"/>
            <a:ext cx="2609698" cy="333756"/>
          </a:xfrm>
          <a:prstGeom prst="rect">
            <a:avLst/>
          </a:prstGeom>
          <a:noFill/>
          <a:ln/>
        </p:spPr>
        <p:txBody>
          <a:bodyPr wrap="square" lIns="0" tIns="0" rIns="0" bIns="0" rtlCol="0" anchor="ctr"/>
          <a:lstStyle/>
          <a:p>
            <a:pPr algn="l" indent="0" marL="0">
              <a:lnSpc>
                <a:spcPts val="1312"/>
              </a:lnSpc>
              <a:buNone/>
            </a:pPr>
            <a:r>
              <a:rPr lang="en-US" sz="937" dirty="0">
                <a:solidFill>
                  <a:srgbClr val="3F5566"/>
                </a:solidFill>
                <a:latin typeface="Quicksand" pitchFamily="34" charset="0"/>
                <a:ea typeface="Quicksand" pitchFamily="34" charset="-122"/>
                <a:cs typeface="Quicksand" pitchFamily="34" charset="-120"/>
              </a:rPr>
              <a:t>Records might already be uploaded — saves a call.</a:t>
            </a:r>
            <a:endParaRPr lang="en-US" sz="937" dirty="0"/>
          </a:p>
        </p:txBody>
      </p:sp>
      <p:pic>
        <p:nvPicPr>
          <p:cNvPr id="27" name="Image 5" descr="gen-dedup-2cc0a1fd0135205d836636e155efadbd.png">    </p:cNvPr>
          <p:cNvPicPr>
            <a:picLocks noChangeAspect="1"/>
          </p:cNvPicPr>
          <p:nvPr/>
        </p:nvPicPr>
        <p:blipFill>
          <a:blip r:embed="rId6"/>
          <a:srcRect l="0" r="0" t="-22" b="-22"/>
          <a:stretch/>
        </p:blipFill>
        <p:spPr>
          <a:xfrm>
            <a:off x="9239098" y="4924044"/>
            <a:ext cx="3619195" cy="838505"/>
          </a:xfrm>
          <a:prstGeom prst="rect">
            <a:avLst/>
          </a:prstGeom>
        </p:spPr>
      </p:pic>
      <p:sp>
        <p:nvSpPr>
          <p:cNvPr id="28" name="Shape 20"/>
          <p:cNvSpPr/>
          <p:nvPr/>
        </p:nvSpPr>
        <p:spPr>
          <a:xfrm>
            <a:off x="9448495" y="5114239"/>
            <a:ext cx="457200" cy="457200"/>
          </a:xfrm>
          <a:prstGeom prst="roundRect">
            <a:avLst>
              <a:gd name="adj" fmla="val 29200"/>
            </a:avLst>
          </a:prstGeom>
          <a:solidFill>
            <a:srgbClr val="BBDCC1"/>
          </a:solidFill>
          <a:ln w="12700">
            <a:solidFill>
              <a:srgbClr val="FFFFFF">
                <a:alpha val="0"/>
              </a:srgbClr>
            </a:solidFill>
            <a:prstDash val="solid"/>
          </a:ln>
        </p:spPr>
      </p:sp>
      <p:sp>
        <p:nvSpPr>
          <p:cNvPr id="29" name="Text 21"/>
          <p:cNvSpPr txBox="1"/>
          <p:nvPr/>
        </p:nvSpPr>
        <p:spPr>
          <a:xfrm>
            <a:off x="9448495" y="5114239"/>
            <a:ext cx="457200" cy="457200"/>
          </a:xfrm>
          <a:prstGeom prst="rect">
            <a:avLst/>
          </a:prstGeom>
          <a:solidFill>
            <a:srgbClr val="FFFFFF">
              <a:alpha val="0"/>
            </a:srgbClr>
          </a:solidFill>
          <a:ln>
            <a:solidFill>
              <a:srgbClr val="FFFFFF">
                <a:alpha val="0"/>
              </a:srgbClr>
            </a:solidFill>
          </a:ln>
        </p:spPr>
        <p:txBody>
          <a:bodyPr wrap="square" lIns="0" tIns="0" rIns="0" bIns="0" rtlCol="0" anchor="ctr"/>
          <a:lstStyle/>
          <a:p>
            <a:pPr algn="ctr" indent="0" marL="0">
              <a:buNone/>
            </a:pPr>
            <a:r>
              <a:rPr lang="en-US" sz="1500" b="1" dirty="0">
                <a:solidFill>
                  <a:srgbClr val="2C4252"/>
                </a:solidFill>
                <a:latin typeface="Nunito" pitchFamily="34" charset="0"/>
                <a:ea typeface="Nunito" pitchFamily="34" charset="-122"/>
                <a:cs typeface="Nunito" pitchFamily="34" charset="-120"/>
              </a:rPr>
              <a:t>→</a:t>
            </a:r>
            <a:endParaRPr lang="en-US" sz="1500" dirty="0"/>
          </a:p>
        </p:txBody>
      </p:sp>
      <p:sp>
        <p:nvSpPr>
          <p:cNvPr id="30" name="Text 22"/>
          <p:cNvSpPr txBox="1"/>
          <p:nvPr/>
        </p:nvSpPr>
        <p:spPr>
          <a:xfrm>
            <a:off x="10039198" y="5114239"/>
            <a:ext cx="2238451" cy="181051"/>
          </a:xfrm>
          <a:prstGeom prst="rect">
            <a:avLst/>
          </a:prstGeom>
          <a:noFill/>
          <a:ln/>
        </p:spPr>
        <p:txBody>
          <a:bodyPr wrap="none" lIns="0" tIns="0" rIns="0" bIns="0" rtlCol="0" anchor="ctr"/>
          <a:lstStyle/>
          <a:p>
            <a:pPr algn="l" indent="0" marL="0">
              <a:buNone/>
            </a:pPr>
            <a:r>
              <a:rPr lang="en-US" sz="1050" b="1" spc="42" kern="0" dirty="0">
                <a:solidFill>
                  <a:srgbClr val="2C4252"/>
                </a:solidFill>
                <a:latin typeface="Nunito" pitchFamily="34" charset="0"/>
                <a:ea typeface="Nunito" pitchFamily="34" charset="-122"/>
                <a:cs typeface="Nunito" pitchFamily="34" charset="-120"/>
              </a:rPr>
              <a:t>Get a turnaround time</a:t>
            </a:r>
            <a:endParaRPr lang="en-US" sz="1050" dirty="0"/>
          </a:p>
        </p:txBody>
      </p:sp>
      <p:sp>
        <p:nvSpPr>
          <p:cNvPr id="31" name="Text 23"/>
          <p:cNvSpPr txBox="1"/>
          <p:nvPr/>
        </p:nvSpPr>
        <p:spPr>
          <a:xfrm>
            <a:off x="10039198" y="5324551"/>
            <a:ext cx="2663647" cy="171907"/>
          </a:xfrm>
          <a:prstGeom prst="rect">
            <a:avLst/>
          </a:prstGeom>
          <a:noFill/>
          <a:ln/>
        </p:spPr>
        <p:txBody>
          <a:bodyPr wrap="none" lIns="0" tIns="0" rIns="0" bIns="0" rtlCol="0" anchor="ctr"/>
          <a:lstStyle/>
          <a:p>
            <a:pPr algn="l" indent="0" marL="0">
              <a:buNone/>
            </a:pPr>
            <a:r>
              <a:rPr lang="en-US" sz="937" dirty="0">
                <a:solidFill>
                  <a:srgbClr val="3F5566"/>
                </a:solidFill>
                <a:highlight>
                  <a:srgbClr val="FFFFFF"/>
                </a:highlight>
                <a:latin typeface="Quicksand" pitchFamily="34" charset="0"/>
                <a:ea typeface="Quicksand" pitchFamily="34" charset="-122"/>
                <a:cs typeface="Quicksand" pitchFamily="34" charset="-120"/>
              </a:rPr>
              <a:t> Always pin down  </a:t>
            </a:r>
            <a:pPr algn="l" indent="0" marL="0">
              <a:buNone/>
            </a:pPr>
            <a:r>
              <a:rPr lang="en-US" sz="937" b="1" i="1" dirty="0">
                <a:solidFill>
                  <a:srgbClr val="4B7FC2"/>
                </a:solidFill>
                <a:highlight>
                  <a:srgbClr val="FFFFFF"/>
                </a:highlight>
                <a:latin typeface="Quicksand" pitchFamily="34" charset="0"/>
                <a:ea typeface="Quicksand" pitchFamily="34" charset="-122"/>
                <a:cs typeface="Quicksand" pitchFamily="34" charset="-120"/>
              </a:rPr>
              <a:t> when </a:t>
            </a:r>
            <a:pPr algn="l" indent="0" marL="0">
              <a:buNone/>
            </a:pPr>
            <a:r>
              <a:rPr lang="en-US" sz="937" dirty="0">
                <a:solidFill>
                  <a:srgbClr val="3F5566"/>
                </a:solidFill>
                <a:highlight>
                  <a:srgbClr val="FFFFFF"/>
                </a:highlight>
                <a:latin typeface="Quicksand" pitchFamily="34" charset="0"/>
                <a:ea typeface="Quicksand" pitchFamily="34" charset="-122"/>
                <a:cs typeface="Quicksand" pitchFamily="34" charset="-120"/>
              </a:rPr>
              <a:t>  you'll have them. </a:t>
            </a:r>
            <a:endParaRPr lang="en-US" sz="937"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7F2"/>
        </a:solidFill>
      </p:bgPr>
    </p:bg>
    <p:spTree>
      <p:nvGrpSpPr>
        <p:cNvPr id="1" name=""/>
        <p:cNvGrpSpPr/>
        <p:nvPr/>
      </p:nvGrpSpPr>
      <p:grpSpPr>
        <a:xfrm>
          <a:off x="0" y="0"/>
          <a:ext cx="0" cy="0"/>
          <a:chOff x="0" y="0"/>
          <a:chExt cx="0" cy="0"/>
        </a:xfrm>
      </p:grpSpPr>
      <p:sp>
        <p:nvSpPr>
          <p:cNvPr id="2" name="Shape 0"/>
          <p:cNvSpPr/>
          <p:nvPr/>
        </p:nvSpPr>
        <p:spPr>
          <a:xfrm>
            <a:off x="856793" y="705002"/>
            <a:ext cx="1419149" cy="323698"/>
          </a:xfrm>
          <a:prstGeom prst="roundRect">
            <a:avLst>
              <a:gd name="adj" fmla="val 50000"/>
            </a:avLst>
          </a:prstGeom>
          <a:solidFill>
            <a:srgbClr val="BBDCC1"/>
          </a:solidFill>
          <a:ln w="12700">
            <a:solidFill>
              <a:srgbClr val="FFFFFF">
                <a:alpha val="0"/>
              </a:srgbClr>
            </a:solidFill>
            <a:prstDash val="solid"/>
          </a:ln>
        </p:spPr>
      </p:sp>
      <p:sp>
        <p:nvSpPr>
          <p:cNvPr id="3" name="Text 1"/>
          <p:cNvSpPr/>
          <p:nvPr/>
        </p:nvSpPr>
        <p:spPr>
          <a:xfrm>
            <a:off x="856793" y="705002"/>
            <a:ext cx="1419149" cy="324612"/>
          </a:xfrm>
          <a:prstGeom prst="rect">
            <a:avLst/>
          </a:prstGeom>
          <a:solidFill>
            <a:srgbClr val="FFFFFF">
              <a:alpha val="0"/>
            </a:srgbClr>
          </a:solidFill>
          <a:ln>
            <a:solidFill>
              <a:srgbClr val="FFFFFF">
                <a:alpha val="0"/>
              </a:srgbClr>
            </a:solidFill>
          </a:ln>
        </p:spPr>
        <p:txBody>
          <a:bodyPr wrap="none" lIns="190500" tIns="76200" rIns="190500" bIns="76200" rtlCol="0" anchor="ctr"/>
          <a:lstStyle/>
          <a:p>
            <a:pPr algn="ctr" indent="0" marL="0">
              <a:buNone/>
            </a:pPr>
            <a:r>
              <a:rPr lang="en-US" sz="975" b="1" spc="214" kern="0" dirty="0">
                <a:solidFill>
                  <a:srgbClr val="2C4252"/>
                </a:solidFill>
                <a:latin typeface="Nunito" pitchFamily="34" charset="0"/>
                <a:ea typeface="Nunito" pitchFamily="34" charset="-122"/>
                <a:cs typeface="Nunito" pitchFamily="34" charset="-120"/>
              </a:rPr>
              <a:t>Step 2 of 3</a:t>
            </a:r>
            <a:endParaRPr lang="en-US" sz="975" dirty="0"/>
          </a:p>
        </p:txBody>
      </p:sp>
      <p:sp>
        <p:nvSpPr>
          <p:cNvPr id="4" name="Text 2"/>
          <p:cNvSpPr txBox="1"/>
          <p:nvPr/>
        </p:nvSpPr>
        <p:spPr>
          <a:xfrm>
            <a:off x="856793" y="1238098"/>
            <a:ext cx="11810390" cy="648310"/>
          </a:xfrm>
          <a:prstGeom prst="rect">
            <a:avLst/>
          </a:prstGeom>
          <a:noFill/>
          <a:ln/>
        </p:spPr>
        <p:txBody>
          <a:bodyPr wrap="none" lIns="0" tIns="0" rIns="0" bIns="0" rtlCol="0" anchor="ctr"/>
          <a:lstStyle/>
          <a:p>
            <a:pPr algn="l" indent="0" marL="0">
              <a:buNone/>
            </a:pPr>
            <a:r>
              <a:rPr lang="en-US" sz="4800" b="1" spc="-96" kern="0" dirty="0">
                <a:solidFill>
                  <a:srgbClr val="2C4252"/>
                </a:solidFill>
                <a:latin typeface="Nunito" pitchFamily="34" charset="0"/>
                <a:ea typeface="Nunito" pitchFamily="34" charset="-122"/>
                <a:cs typeface="Nunito" pitchFamily="34" charset="-120"/>
              </a:rPr>
              <a:t>Confirm </a:t>
            </a:r>
            <a:pPr algn="l" indent="0" marL="0">
              <a:buNone/>
            </a:pPr>
            <a:r>
              <a:rPr lang="en-US" sz="4800" b="1" spc="-96" kern="0" dirty="0">
                <a:solidFill>
                  <a:srgbClr val="4B7FC2"/>
                </a:solidFill>
                <a:latin typeface="Nunito" pitchFamily="34" charset="0"/>
                <a:ea typeface="Nunito" pitchFamily="34" charset="-122"/>
                <a:cs typeface="Nunito" pitchFamily="34" charset="-120"/>
              </a:rPr>
              <a:t>who</a:t>
            </a:r>
            <a:pPr algn="l" indent="0" marL="0">
              <a:buNone/>
            </a:pPr>
            <a:r>
              <a:rPr lang="en-US" sz="4800" b="1" spc="-96" kern="0" dirty="0">
                <a:solidFill>
                  <a:srgbClr val="2C4252"/>
                </a:solidFill>
                <a:latin typeface="Nunito" pitchFamily="34" charset="0"/>
                <a:ea typeface="Nunito" pitchFamily="34" charset="-122"/>
                <a:cs typeface="Nunito" pitchFamily="34" charset="-120"/>
              </a:rPr>
              <a:t>, </a:t>
            </a:r>
            <a:pPr algn="l" indent="0" marL="0">
              <a:buNone/>
            </a:pPr>
            <a:r>
              <a:rPr lang="en-US" sz="4800" b="1" spc="-96" kern="0" dirty="0">
                <a:solidFill>
                  <a:srgbClr val="4B7FC2"/>
                </a:solidFill>
                <a:latin typeface="Nunito" pitchFamily="34" charset="0"/>
                <a:ea typeface="Nunito" pitchFamily="34" charset="-122"/>
                <a:cs typeface="Nunito" pitchFamily="34" charset="-120"/>
              </a:rPr>
              <a:t>what</a:t>
            </a:r>
            <a:pPr algn="l" indent="0" marL="0">
              <a:buNone/>
            </a:pPr>
            <a:r>
              <a:rPr lang="en-US" sz="4800" b="1" spc="-96" kern="0" dirty="0">
                <a:solidFill>
                  <a:srgbClr val="2C4252"/>
                </a:solidFill>
                <a:latin typeface="Nunito" pitchFamily="34" charset="0"/>
                <a:ea typeface="Nunito" pitchFamily="34" charset="-122"/>
                <a:cs typeface="Nunito" pitchFamily="34" charset="-120"/>
              </a:rPr>
              <a:t>, </a:t>
            </a:r>
            <a:pPr algn="l" indent="0" marL="0">
              <a:buNone/>
            </a:pPr>
            <a:r>
              <a:rPr lang="en-US" sz="4800" b="1" spc="-96" kern="0" dirty="0">
                <a:solidFill>
                  <a:srgbClr val="4B7FC2"/>
                </a:solidFill>
                <a:latin typeface="Nunito" pitchFamily="34" charset="0"/>
                <a:ea typeface="Nunito" pitchFamily="34" charset="-122"/>
                <a:cs typeface="Nunito" pitchFamily="34" charset="-120"/>
              </a:rPr>
              <a:t>when</a:t>
            </a:r>
            <a:pPr algn="l" indent="0" marL="0">
              <a:buNone/>
            </a:pPr>
            <a:r>
              <a:rPr lang="en-US" sz="4800" b="1" spc="-96" kern="0" dirty="0">
                <a:solidFill>
                  <a:srgbClr val="2C4252"/>
                </a:solidFill>
                <a:latin typeface="Nunito" pitchFamily="34" charset="0"/>
                <a:ea typeface="Nunito" pitchFamily="34" charset="-122"/>
                <a:cs typeface="Nunito" pitchFamily="34" charset="-120"/>
              </a:rPr>
              <a:t>.</a:t>
            </a:r>
            <a:endParaRPr lang="en-US" sz="4800" dirty="0"/>
          </a:p>
        </p:txBody>
      </p:sp>
      <p:pic>
        <p:nvPicPr>
          <p:cNvPr id="5" name="Image 0" descr="gen-dedup-94c7b0326eef90522c30cec79688f6c2.png">    </p:cNvPr>
          <p:cNvPicPr>
            <a:picLocks noChangeAspect="1"/>
          </p:cNvPicPr>
          <p:nvPr/>
        </p:nvPicPr>
        <p:blipFill>
          <a:blip r:embed="rId1"/>
          <a:srcRect l="0" r="0" t="-5" b="-5"/>
          <a:stretch/>
        </p:blipFill>
        <p:spPr>
          <a:xfrm>
            <a:off x="856793" y="2476195"/>
            <a:ext cx="2871216" cy="1953158"/>
          </a:xfrm>
          <a:prstGeom prst="rect">
            <a:avLst/>
          </a:prstGeom>
        </p:spPr>
      </p:pic>
      <p:sp>
        <p:nvSpPr>
          <p:cNvPr id="6" name="Shape 3"/>
          <p:cNvSpPr/>
          <p:nvPr/>
        </p:nvSpPr>
        <p:spPr>
          <a:xfrm>
            <a:off x="856793" y="2476195"/>
            <a:ext cx="2876702" cy="580644"/>
          </a:xfrm>
          <a:prstGeom prst="roundRect">
            <a:avLst>
              <a:gd name="adj" fmla="val 36063"/>
            </a:avLst>
          </a:prstGeom>
          <a:solidFill>
            <a:srgbClr val="BFD8E9"/>
          </a:solidFill>
          <a:ln w="12700">
            <a:solidFill>
              <a:srgbClr val="FFFFFF">
                <a:alpha val="0"/>
              </a:srgbClr>
            </a:solidFill>
            <a:prstDash val="solid"/>
          </a:ln>
        </p:spPr>
      </p:sp>
      <p:sp>
        <p:nvSpPr>
          <p:cNvPr id="7" name="Shape 4"/>
          <p:cNvSpPr/>
          <p:nvPr/>
        </p:nvSpPr>
        <p:spPr>
          <a:xfrm>
            <a:off x="1067105" y="2648102"/>
            <a:ext cx="571500" cy="237744"/>
          </a:xfrm>
          <a:prstGeom prst="roundRect">
            <a:avLst>
              <a:gd name="adj" fmla="val 31923"/>
            </a:avLst>
          </a:prstGeom>
          <a:solidFill>
            <a:srgbClr val="FFFFFF"/>
          </a:solidFill>
          <a:ln w="12700">
            <a:solidFill>
              <a:srgbClr val="FFFFFF">
                <a:alpha val="0"/>
              </a:srgbClr>
            </a:solidFill>
            <a:prstDash val="solid"/>
          </a:ln>
        </p:spPr>
      </p:sp>
      <p:sp>
        <p:nvSpPr>
          <p:cNvPr id="8" name="Text 5"/>
          <p:cNvSpPr txBox="1"/>
          <p:nvPr/>
        </p:nvSpPr>
        <p:spPr>
          <a:xfrm>
            <a:off x="1067105" y="2648102"/>
            <a:ext cx="571500" cy="238658"/>
          </a:xfrm>
          <a:prstGeom prst="rect">
            <a:avLst/>
          </a:prstGeom>
          <a:solidFill>
            <a:srgbClr val="FFFFFF">
              <a:alpha val="0"/>
            </a:srgbClr>
          </a:solidFill>
          <a:ln>
            <a:solidFill>
              <a:srgbClr val="FFFFFF">
                <a:alpha val="0"/>
              </a:srgbClr>
            </a:solidFill>
          </a:ln>
        </p:spPr>
        <p:txBody>
          <a:bodyPr wrap="none" lIns="114300" tIns="50800" rIns="114300" bIns="50800" rtlCol="0" anchor="ctr"/>
          <a:lstStyle/>
          <a:p>
            <a:pPr algn="l" indent="0" marL="0">
              <a:buNone/>
            </a:pPr>
            <a:r>
              <a:rPr lang="en-US" sz="825" b="1" spc="148" kern="0" dirty="0">
                <a:solidFill>
                  <a:srgbClr val="2C4252"/>
                </a:solidFill>
                <a:latin typeface="Nunito" pitchFamily="34" charset="0"/>
                <a:ea typeface="Nunito" pitchFamily="34" charset="-122"/>
                <a:cs typeface="Nunito" pitchFamily="34" charset="-120"/>
              </a:rPr>
              <a:t>WHO</a:t>
            </a:r>
            <a:endParaRPr lang="en-US" sz="825" dirty="0"/>
          </a:p>
        </p:txBody>
      </p:sp>
      <p:sp>
        <p:nvSpPr>
          <p:cNvPr id="9" name="Text 6"/>
          <p:cNvSpPr txBox="1"/>
          <p:nvPr/>
        </p:nvSpPr>
        <p:spPr>
          <a:xfrm>
            <a:off x="3068726" y="2695651"/>
            <a:ext cx="571500" cy="143561"/>
          </a:xfrm>
          <a:prstGeom prst="rect">
            <a:avLst/>
          </a:prstGeom>
          <a:noFill/>
          <a:ln/>
        </p:spPr>
        <p:txBody>
          <a:bodyPr wrap="none" lIns="0" tIns="0" rIns="0" bIns="0" rtlCol="0" anchor="ctr"/>
          <a:lstStyle/>
          <a:p>
            <a:pPr algn="l" indent="0" marL="0">
              <a:buNone/>
            </a:pPr>
            <a:r>
              <a:rPr lang="en-US" sz="825" b="1" spc="82" kern="0" dirty="0">
                <a:solidFill>
                  <a:srgbClr val="2C4252"/>
                </a:solidFill>
                <a:latin typeface="Nunito" pitchFamily="34" charset="0"/>
                <a:ea typeface="Nunito" pitchFamily="34" charset="-122"/>
                <a:cs typeface="Nunito" pitchFamily="34" charset="-120"/>
              </a:rPr>
              <a:t>COL · B</a:t>
            </a:r>
            <a:endParaRPr lang="en-US" sz="825" dirty="0"/>
          </a:p>
        </p:txBody>
      </p:sp>
      <p:sp>
        <p:nvSpPr>
          <p:cNvPr id="10" name="Text 7"/>
          <p:cNvSpPr txBox="1"/>
          <p:nvPr/>
        </p:nvSpPr>
        <p:spPr>
          <a:xfrm>
            <a:off x="1067105" y="3114446"/>
            <a:ext cx="2457907" cy="438912"/>
          </a:xfrm>
          <a:prstGeom prst="rect">
            <a:avLst/>
          </a:prstGeom>
          <a:noFill/>
          <a:ln/>
        </p:spPr>
        <p:txBody>
          <a:bodyPr wrap="none" lIns="0" tIns="0" rIns="0" bIns="0" rtlCol="0" anchor="ctr"/>
          <a:lstStyle/>
          <a:p>
            <a:pPr algn="l" indent="0" marL="0">
              <a:buNone/>
            </a:pPr>
            <a:r>
              <a:rPr lang="en-US" sz="3450" b="1" spc="-69" kern="0" dirty="0">
                <a:solidFill>
                  <a:srgbClr val="4B7FC2"/>
                </a:solidFill>
                <a:latin typeface="Nunito" pitchFamily="34" charset="0"/>
                <a:ea typeface="Nunito" pitchFamily="34" charset="-122"/>
                <a:cs typeface="Nunito" pitchFamily="34" charset="-120"/>
              </a:rPr>
              <a:t>01</a:t>
            </a:r>
            <a:endParaRPr lang="en-US" sz="3450" dirty="0"/>
          </a:p>
        </p:txBody>
      </p:sp>
      <p:sp>
        <p:nvSpPr>
          <p:cNvPr id="11" name="Text 8"/>
          <p:cNvSpPr txBox="1"/>
          <p:nvPr/>
        </p:nvSpPr>
        <p:spPr>
          <a:xfrm>
            <a:off x="1067105" y="3610051"/>
            <a:ext cx="2457907" cy="200254"/>
          </a:xfrm>
          <a:prstGeom prst="rect">
            <a:avLst/>
          </a:prstGeom>
          <a:noFill/>
          <a:ln/>
        </p:spPr>
        <p:txBody>
          <a:bodyPr wrap="none" lIns="0" tIns="0" rIns="0" bIns="0" rtlCol="0" anchor="ctr"/>
          <a:lstStyle/>
          <a:p>
            <a:pPr algn="l" indent="0" marL="0">
              <a:buNone/>
            </a:pPr>
            <a:r>
              <a:rPr lang="en-US" sz="1275" b="1" dirty="0">
                <a:solidFill>
                  <a:srgbClr val="2C4252"/>
                </a:solidFill>
                <a:latin typeface="Nunito" pitchFamily="34" charset="0"/>
                <a:ea typeface="Nunito" pitchFamily="34" charset="-122"/>
                <a:cs typeface="Nunito" pitchFamily="34" charset="-120"/>
              </a:rPr>
              <a:t>Patient name &amp; DOB</a:t>
            </a:r>
            <a:endParaRPr lang="en-US" sz="1275" dirty="0"/>
          </a:p>
        </p:txBody>
      </p:sp>
      <p:sp>
        <p:nvSpPr>
          <p:cNvPr id="12" name="Text 9"/>
          <p:cNvSpPr txBox="1"/>
          <p:nvPr/>
        </p:nvSpPr>
        <p:spPr>
          <a:xfrm>
            <a:off x="1067105" y="3861511"/>
            <a:ext cx="2457907" cy="362102"/>
          </a:xfrm>
          <a:prstGeom prst="rect">
            <a:avLst/>
          </a:prstGeom>
          <a:noFill/>
          <a:ln/>
        </p:spPr>
        <p:txBody>
          <a:bodyPr wrap="square" lIns="0" tIns="0" rIns="0" bIns="0" rtlCol="0" anchor="ctr"/>
          <a:lstStyle/>
          <a:p>
            <a:pPr algn="l" indent="0" marL="0">
              <a:lnSpc>
                <a:spcPts val="1414"/>
              </a:lnSpc>
              <a:buNone/>
            </a:pPr>
            <a:r>
              <a:rPr lang="en-US" sz="975" dirty="0">
                <a:solidFill>
                  <a:srgbClr val="3F5566"/>
                </a:solidFill>
                <a:latin typeface="Quicksand" pitchFamily="34" charset="0"/>
                <a:ea typeface="Quicksand" pitchFamily="34" charset="-122"/>
                <a:cs typeface="Quicksand" pitchFamily="34" charset="-120"/>
              </a:rPr>
              <a:t>Confirm the patient identity. </a:t>
            </a:r>
            <a:pPr algn="l" indent="0" marL="0">
              <a:lnSpc>
                <a:spcPts val="1414"/>
              </a:lnSpc>
              <a:buNone/>
            </a:pPr>
            <a:r>
              <a:rPr lang="en-US" sz="975" i="1" dirty="0">
                <a:solidFill>
                  <a:srgbClr val="3F5566"/>
                </a:solidFill>
                <a:latin typeface="Quicksand" pitchFamily="34" charset="0"/>
                <a:ea typeface="Quicksand" pitchFamily="34" charset="-122"/>
                <a:cs typeface="Quicksand" pitchFamily="34" charset="-120"/>
              </a:rPr>
              <a:t>Both</a:t>
            </a:r>
            <a:pPr algn="l" indent="0" marL="0">
              <a:lnSpc>
                <a:spcPts val="1414"/>
              </a:lnSpc>
              <a:buNone/>
            </a:pPr>
            <a:r>
              <a:rPr lang="en-US" sz="975" dirty="0">
                <a:solidFill>
                  <a:srgbClr val="3F5566"/>
                </a:solidFill>
                <a:latin typeface="Quicksand" pitchFamily="34" charset="0"/>
                <a:ea typeface="Quicksand" pitchFamily="34" charset="-122"/>
                <a:cs typeface="Quicksand" pitchFamily="34" charset="-120"/>
              </a:rPr>
              <a:t> are always required.</a:t>
            </a:r>
            <a:endParaRPr lang="en-US" sz="975" dirty="0"/>
          </a:p>
        </p:txBody>
      </p:sp>
      <p:pic>
        <p:nvPicPr>
          <p:cNvPr id="13" name="Image 1" descr="gen-dedup-94c7b0326eef90522c30cec79688f6c2.png">    </p:cNvPr>
          <p:cNvPicPr>
            <a:picLocks noChangeAspect="1"/>
          </p:cNvPicPr>
          <p:nvPr/>
        </p:nvPicPr>
        <p:blipFill>
          <a:blip r:embed="rId2"/>
          <a:srcRect l="0" r="0" t="-5" b="-5"/>
          <a:stretch/>
        </p:blipFill>
        <p:spPr>
          <a:xfrm>
            <a:off x="3899916" y="2476195"/>
            <a:ext cx="2871216" cy="1953158"/>
          </a:xfrm>
          <a:prstGeom prst="rect">
            <a:avLst/>
          </a:prstGeom>
        </p:spPr>
      </p:pic>
      <p:sp>
        <p:nvSpPr>
          <p:cNvPr id="14" name="Shape 10"/>
          <p:cNvSpPr/>
          <p:nvPr/>
        </p:nvSpPr>
        <p:spPr>
          <a:xfrm>
            <a:off x="3899916" y="2476195"/>
            <a:ext cx="2876702" cy="580644"/>
          </a:xfrm>
          <a:prstGeom prst="roundRect">
            <a:avLst>
              <a:gd name="adj" fmla="val 36063"/>
            </a:avLst>
          </a:prstGeom>
          <a:solidFill>
            <a:srgbClr val="F4A78B"/>
          </a:solidFill>
          <a:ln w="12700">
            <a:solidFill>
              <a:srgbClr val="FFFFFF">
                <a:alpha val="0"/>
              </a:srgbClr>
            </a:solidFill>
            <a:prstDash val="solid"/>
          </a:ln>
        </p:spPr>
      </p:sp>
      <p:sp>
        <p:nvSpPr>
          <p:cNvPr id="15" name="Shape 11"/>
          <p:cNvSpPr/>
          <p:nvPr/>
        </p:nvSpPr>
        <p:spPr>
          <a:xfrm>
            <a:off x="4110228" y="2648102"/>
            <a:ext cx="647395" cy="237744"/>
          </a:xfrm>
          <a:prstGeom prst="roundRect">
            <a:avLst>
              <a:gd name="adj" fmla="val 31923"/>
            </a:avLst>
          </a:prstGeom>
          <a:solidFill>
            <a:srgbClr val="7A2E1A"/>
          </a:solidFill>
          <a:ln w="12700">
            <a:solidFill>
              <a:srgbClr val="FFFFFF">
                <a:alpha val="0"/>
              </a:srgbClr>
            </a:solidFill>
            <a:prstDash val="solid"/>
          </a:ln>
        </p:spPr>
      </p:sp>
      <p:sp>
        <p:nvSpPr>
          <p:cNvPr id="16" name="Text 12"/>
          <p:cNvSpPr txBox="1"/>
          <p:nvPr/>
        </p:nvSpPr>
        <p:spPr>
          <a:xfrm>
            <a:off x="4110228" y="2648102"/>
            <a:ext cx="648310" cy="238658"/>
          </a:xfrm>
          <a:prstGeom prst="rect">
            <a:avLst/>
          </a:prstGeom>
          <a:solidFill>
            <a:srgbClr val="FFFFFF">
              <a:alpha val="0"/>
            </a:srgbClr>
          </a:solidFill>
          <a:ln>
            <a:solidFill>
              <a:srgbClr val="FFFFFF">
                <a:alpha val="0"/>
              </a:srgbClr>
            </a:solidFill>
          </a:ln>
        </p:spPr>
        <p:txBody>
          <a:bodyPr wrap="none" lIns="114300" tIns="50800" rIns="114300" bIns="50800" rtlCol="0" anchor="ctr"/>
          <a:lstStyle/>
          <a:p>
            <a:pPr algn="l" indent="0" marL="0">
              <a:buNone/>
            </a:pPr>
            <a:r>
              <a:rPr lang="en-US" sz="825" b="1" spc="148" kern="0" dirty="0">
                <a:solidFill>
                  <a:srgbClr val="FFFFFF"/>
                </a:solidFill>
                <a:latin typeface="Nunito" pitchFamily="34" charset="0"/>
                <a:ea typeface="Nunito" pitchFamily="34" charset="-122"/>
                <a:cs typeface="Nunito" pitchFamily="34" charset="-120"/>
              </a:rPr>
              <a:t>WHAT</a:t>
            </a:r>
            <a:endParaRPr lang="en-US" sz="825" dirty="0"/>
          </a:p>
        </p:txBody>
      </p:sp>
      <p:sp>
        <p:nvSpPr>
          <p:cNvPr id="17" name="Text 13"/>
          <p:cNvSpPr txBox="1"/>
          <p:nvPr/>
        </p:nvSpPr>
        <p:spPr>
          <a:xfrm>
            <a:off x="6331306" y="2695651"/>
            <a:ext cx="238658" cy="143561"/>
          </a:xfrm>
          <a:prstGeom prst="rect">
            <a:avLst/>
          </a:prstGeom>
          <a:noFill/>
          <a:ln/>
        </p:spPr>
        <p:txBody>
          <a:bodyPr wrap="none" lIns="0" tIns="0" rIns="0" bIns="0" rtlCol="0" anchor="ctr"/>
          <a:lstStyle/>
          <a:p>
            <a:pPr algn="l" indent="0" marL="0">
              <a:buNone/>
            </a:pPr>
            <a:r>
              <a:rPr lang="en-US" sz="825" b="1" spc="82" kern="0" dirty="0">
                <a:solidFill>
                  <a:srgbClr val="7A2E1A"/>
                </a:solidFill>
                <a:latin typeface="Nunito" pitchFamily="34" charset="0"/>
                <a:ea typeface="Nunito" pitchFamily="34" charset="-122"/>
                <a:cs typeface="Nunito" pitchFamily="34" charset="-120"/>
              </a:rPr>
              <a:t>DOI</a:t>
            </a:r>
            <a:endParaRPr lang="en-US" sz="825" dirty="0"/>
          </a:p>
        </p:txBody>
      </p:sp>
      <p:sp>
        <p:nvSpPr>
          <p:cNvPr id="18" name="Text 14"/>
          <p:cNvSpPr txBox="1"/>
          <p:nvPr/>
        </p:nvSpPr>
        <p:spPr>
          <a:xfrm>
            <a:off x="4110228" y="3114446"/>
            <a:ext cx="2457907" cy="438912"/>
          </a:xfrm>
          <a:prstGeom prst="rect">
            <a:avLst/>
          </a:prstGeom>
          <a:noFill/>
          <a:ln/>
        </p:spPr>
        <p:txBody>
          <a:bodyPr wrap="none" lIns="0" tIns="0" rIns="0" bIns="0" rtlCol="0" anchor="ctr"/>
          <a:lstStyle/>
          <a:p>
            <a:pPr algn="l" indent="0" marL="0">
              <a:buNone/>
            </a:pPr>
            <a:r>
              <a:rPr lang="en-US" sz="3450" b="1" spc="-69" kern="0" dirty="0">
                <a:solidFill>
                  <a:srgbClr val="C75C2E"/>
                </a:solidFill>
                <a:latin typeface="Nunito" pitchFamily="34" charset="0"/>
                <a:ea typeface="Nunito" pitchFamily="34" charset="-122"/>
                <a:cs typeface="Nunito" pitchFamily="34" charset="-120"/>
              </a:rPr>
              <a:t>02</a:t>
            </a:r>
            <a:endParaRPr lang="en-US" sz="3450" dirty="0"/>
          </a:p>
        </p:txBody>
      </p:sp>
      <p:sp>
        <p:nvSpPr>
          <p:cNvPr id="19" name="Text 15"/>
          <p:cNvSpPr txBox="1"/>
          <p:nvPr/>
        </p:nvSpPr>
        <p:spPr>
          <a:xfrm>
            <a:off x="4110228" y="3610051"/>
            <a:ext cx="2457907" cy="200254"/>
          </a:xfrm>
          <a:prstGeom prst="rect">
            <a:avLst/>
          </a:prstGeom>
          <a:noFill/>
          <a:ln/>
        </p:spPr>
        <p:txBody>
          <a:bodyPr wrap="none" lIns="0" tIns="0" rIns="0" bIns="0" rtlCol="0" anchor="ctr"/>
          <a:lstStyle/>
          <a:p>
            <a:pPr algn="l" indent="0" marL="0">
              <a:buNone/>
            </a:pPr>
            <a:r>
              <a:rPr lang="en-US" sz="1275" b="1" dirty="0">
                <a:solidFill>
                  <a:srgbClr val="2C4252"/>
                </a:solidFill>
                <a:latin typeface="Nunito" pitchFamily="34" charset="0"/>
                <a:ea typeface="Nunito" pitchFamily="34" charset="-122"/>
                <a:cs typeface="Nunito" pitchFamily="34" charset="-120"/>
              </a:rPr>
              <a:t>Date of injury — only</a:t>
            </a:r>
            <a:endParaRPr lang="en-US" sz="1275" dirty="0"/>
          </a:p>
        </p:txBody>
      </p:sp>
      <p:sp>
        <p:nvSpPr>
          <p:cNvPr id="20" name="Text 16"/>
          <p:cNvSpPr txBox="1"/>
          <p:nvPr/>
        </p:nvSpPr>
        <p:spPr>
          <a:xfrm>
            <a:off x="4110228" y="3861511"/>
            <a:ext cx="2457907" cy="362102"/>
          </a:xfrm>
          <a:prstGeom prst="rect">
            <a:avLst/>
          </a:prstGeom>
          <a:noFill/>
          <a:ln/>
        </p:spPr>
        <p:txBody>
          <a:bodyPr wrap="square" lIns="0" tIns="0" rIns="0" bIns="0" rtlCol="0" anchor="ctr"/>
          <a:lstStyle/>
          <a:p>
            <a:pPr algn="l" indent="0" marL="0">
              <a:lnSpc>
                <a:spcPts val="1414"/>
              </a:lnSpc>
              <a:buNone/>
            </a:pPr>
            <a:r>
              <a:rPr lang="en-US" sz="975" dirty="0">
                <a:solidFill>
                  <a:srgbClr val="3F5566"/>
                </a:solidFill>
                <a:latin typeface="Quicksand" pitchFamily="34" charset="0"/>
                <a:ea typeface="Quicksand" pitchFamily="34" charset="-122"/>
                <a:cs typeface="Quicksand" pitchFamily="34" charset="-120"/>
              </a:rPr>
              <a:t>Make clear: we need records from the DOI due to injury, not unrelated sick visits.</a:t>
            </a:r>
            <a:endParaRPr lang="en-US" sz="975" dirty="0"/>
          </a:p>
        </p:txBody>
      </p:sp>
      <p:pic>
        <p:nvPicPr>
          <p:cNvPr id="21" name="Image 2" descr="gen-dedup-94c7b0326eef90522c30cec79688f6c2.png">    </p:cNvPr>
          <p:cNvPicPr>
            <a:picLocks noChangeAspect="1"/>
          </p:cNvPicPr>
          <p:nvPr/>
        </p:nvPicPr>
        <p:blipFill>
          <a:blip r:embed="rId3"/>
          <a:srcRect l="0" r="0" t="-5" b="-5"/>
          <a:stretch/>
        </p:blipFill>
        <p:spPr>
          <a:xfrm>
            <a:off x="6943039" y="2476195"/>
            <a:ext cx="2871216" cy="1953158"/>
          </a:xfrm>
          <a:prstGeom prst="rect">
            <a:avLst/>
          </a:prstGeom>
        </p:spPr>
      </p:pic>
      <p:sp>
        <p:nvSpPr>
          <p:cNvPr id="22" name="Shape 17"/>
          <p:cNvSpPr/>
          <p:nvPr/>
        </p:nvSpPr>
        <p:spPr>
          <a:xfrm>
            <a:off x="6943039" y="2476195"/>
            <a:ext cx="2876702" cy="580644"/>
          </a:xfrm>
          <a:prstGeom prst="roundRect">
            <a:avLst>
              <a:gd name="adj" fmla="val 36063"/>
            </a:avLst>
          </a:prstGeom>
          <a:solidFill>
            <a:srgbClr val="BBDCC1"/>
          </a:solidFill>
          <a:ln w="12700">
            <a:solidFill>
              <a:srgbClr val="FFFFFF">
                <a:alpha val="0"/>
              </a:srgbClr>
            </a:solidFill>
            <a:prstDash val="solid"/>
          </a:ln>
        </p:spPr>
      </p:sp>
      <p:sp>
        <p:nvSpPr>
          <p:cNvPr id="23" name="Shape 18"/>
          <p:cNvSpPr/>
          <p:nvPr/>
        </p:nvSpPr>
        <p:spPr>
          <a:xfrm>
            <a:off x="7152437" y="2648102"/>
            <a:ext cx="647395" cy="237744"/>
          </a:xfrm>
          <a:prstGeom prst="roundRect">
            <a:avLst>
              <a:gd name="adj" fmla="val 31923"/>
            </a:avLst>
          </a:prstGeom>
          <a:solidFill>
            <a:srgbClr val="2C4252"/>
          </a:solidFill>
          <a:ln w="12700">
            <a:solidFill>
              <a:srgbClr val="FFFFFF">
                <a:alpha val="0"/>
              </a:srgbClr>
            </a:solidFill>
            <a:prstDash val="solid"/>
          </a:ln>
        </p:spPr>
      </p:sp>
      <p:sp>
        <p:nvSpPr>
          <p:cNvPr id="24" name="Text 19"/>
          <p:cNvSpPr txBox="1"/>
          <p:nvPr/>
        </p:nvSpPr>
        <p:spPr>
          <a:xfrm>
            <a:off x="7152437" y="2648102"/>
            <a:ext cx="648310" cy="238658"/>
          </a:xfrm>
          <a:prstGeom prst="rect">
            <a:avLst/>
          </a:prstGeom>
          <a:solidFill>
            <a:srgbClr val="FFFFFF">
              <a:alpha val="0"/>
            </a:srgbClr>
          </a:solidFill>
          <a:ln>
            <a:solidFill>
              <a:srgbClr val="FFFFFF">
                <a:alpha val="0"/>
              </a:srgbClr>
            </a:solidFill>
          </a:ln>
        </p:spPr>
        <p:txBody>
          <a:bodyPr wrap="none" lIns="114300" tIns="50800" rIns="114300" bIns="50800" rtlCol="0" anchor="ctr"/>
          <a:lstStyle/>
          <a:p>
            <a:pPr algn="l" indent="0" marL="0">
              <a:buNone/>
            </a:pPr>
            <a:r>
              <a:rPr lang="en-US" sz="825" b="1" spc="148" kern="0" dirty="0">
                <a:solidFill>
                  <a:srgbClr val="BBDCC1"/>
                </a:solidFill>
                <a:latin typeface="Nunito" pitchFamily="34" charset="0"/>
                <a:ea typeface="Nunito" pitchFamily="34" charset="-122"/>
                <a:cs typeface="Nunito" pitchFamily="34" charset="-120"/>
              </a:rPr>
              <a:t>WHEN</a:t>
            </a:r>
            <a:endParaRPr lang="en-US" sz="825" dirty="0"/>
          </a:p>
        </p:txBody>
      </p:sp>
      <p:sp>
        <p:nvSpPr>
          <p:cNvPr id="25" name="Text 20"/>
          <p:cNvSpPr txBox="1"/>
          <p:nvPr/>
        </p:nvSpPr>
        <p:spPr>
          <a:xfrm>
            <a:off x="9148572" y="2695651"/>
            <a:ext cx="571500" cy="143561"/>
          </a:xfrm>
          <a:prstGeom prst="rect">
            <a:avLst/>
          </a:prstGeom>
          <a:noFill/>
          <a:ln/>
        </p:spPr>
        <p:txBody>
          <a:bodyPr wrap="none" lIns="0" tIns="0" rIns="0" bIns="0" rtlCol="0" anchor="ctr"/>
          <a:lstStyle/>
          <a:p>
            <a:pPr algn="l" indent="0" marL="0">
              <a:buNone/>
            </a:pPr>
            <a:r>
              <a:rPr lang="en-US" sz="825" b="1" spc="82" kern="0" dirty="0">
                <a:solidFill>
                  <a:srgbClr val="2C4252"/>
                </a:solidFill>
                <a:latin typeface="Nunito" pitchFamily="34" charset="0"/>
                <a:ea typeface="Nunito" pitchFamily="34" charset="-122"/>
                <a:cs typeface="Nunito" pitchFamily="34" charset="-120"/>
              </a:rPr>
              <a:t>COL · A</a:t>
            </a:r>
            <a:endParaRPr lang="en-US" sz="825" dirty="0"/>
          </a:p>
        </p:txBody>
      </p:sp>
      <p:sp>
        <p:nvSpPr>
          <p:cNvPr id="26" name="Text 21"/>
          <p:cNvSpPr txBox="1"/>
          <p:nvPr/>
        </p:nvSpPr>
        <p:spPr>
          <a:xfrm>
            <a:off x="7152437" y="3114446"/>
            <a:ext cx="2457907" cy="438912"/>
          </a:xfrm>
          <a:prstGeom prst="rect">
            <a:avLst/>
          </a:prstGeom>
          <a:noFill/>
          <a:ln/>
        </p:spPr>
        <p:txBody>
          <a:bodyPr wrap="none" lIns="0" tIns="0" rIns="0" bIns="0" rtlCol="0" anchor="ctr"/>
          <a:lstStyle/>
          <a:p>
            <a:pPr algn="l" indent="0" marL="0">
              <a:buNone/>
            </a:pPr>
            <a:r>
              <a:rPr lang="en-US" sz="3450" b="1" spc="-69" kern="0" dirty="0">
                <a:solidFill>
                  <a:srgbClr val="3F7E5A"/>
                </a:solidFill>
                <a:latin typeface="Nunito" pitchFamily="34" charset="0"/>
                <a:ea typeface="Nunito" pitchFamily="34" charset="-122"/>
                <a:cs typeface="Nunito" pitchFamily="34" charset="-120"/>
              </a:rPr>
              <a:t>03</a:t>
            </a:r>
            <a:endParaRPr lang="en-US" sz="3450" dirty="0"/>
          </a:p>
        </p:txBody>
      </p:sp>
      <p:sp>
        <p:nvSpPr>
          <p:cNvPr id="27" name="Text 22"/>
          <p:cNvSpPr txBox="1"/>
          <p:nvPr/>
        </p:nvSpPr>
        <p:spPr>
          <a:xfrm>
            <a:off x="7152437" y="3610051"/>
            <a:ext cx="2457907" cy="200254"/>
          </a:xfrm>
          <a:prstGeom prst="rect">
            <a:avLst/>
          </a:prstGeom>
          <a:noFill/>
          <a:ln/>
        </p:spPr>
        <p:txBody>
          <a:bodyPr wrap="none" lIns="0" tIns="0" rIns="0" bIns="0" rtlCol="0" anchor="ctr"/>
          <a:lstStyle/>
          <a:p>
            <a:pPr algn="l" indent="0" marL="0">
              <a:buNone/>
            </a:pPr>
            <a:r>
              <a:rPr lang="en-US" sz="1275" b="1" dirty="0">
                <a:solidFill>
                  <a:srgbClr val="2C4252"/>
                </a:solidFill>
                <a:latin typeface="Nunito" pitchFamily="34" charset="0"/>
                <a:ea typeface="Nunito" pitchFamily="34" charset="-122"/>
                <a:cs typeface="Nunito" pitchFamily="34" charset="-120"/>
              </a:rPr>
              <a:t>The original request date</a:t>
            </a:r>
            <a:endParaRPr lang="en-US" sz="1275" dirty="0"/>
          </a:p>
        </p:txBody>
      </p:sp>
      <p:sp>
        <p:nvSpPr>
          <p:cNvPr id="28" name="Text 23"/>
          <p:cNvSpPr txBox="1"/>
          <p:nvPr/>
        </p:nvSpPr>
        <p:spPr>
          <a:xfrm>
            <a:off x="7152437" y="3861511"/>
            <a:ext cx="2457907" cy="362102"/>
          </a:xfrm>
          <a:prstGeom prst="rect">
            <a:avLst/>
          </a:prstGeom>
          <a:noFill/>
          <a:ln/>
        </p:spPr>
        <p:txBody>
          <a:bodyPr wrap="square" lIns="0" tIns="0" rIns="0" bIns="0" rtlCol="0" anchor="ctr"/>
          <a:lstStyle/>
          <a:p>
            <a:pPr algn="l" indent="0" marL="0">
              <a:lnSpc>
                <a:spcPts val="1414"/>
              </a:lnSpc>
              <a:buNone/>
            </a:pPr>
            <a:r>
              <a:rPr lang="en-US" sz="975" dirty="0">
                <a:solidFill>
                  <a:srgbClr val="3F5566"/>
                </a:solidFill>
                <a:latin typeface="Quicksand" pitchFamily="34" charset="0"/>
                <a:ea typeface="Quicksand" pitchFamily="34" charset="-122"/>
                <a:cs typeface="Quicksand" pitchFamily="34" charset="-120"/>
              </a:rPr>
              <a:t>Have the request date from column A ready — they'll ask.</a:t>
            </a:r>
            <a:endParaRPr lang="en-US" sz="975" dirty="0"/>
          </a:p>
        </p:txBody>
      </p:sp>
      <p:pic>
        <p:nvPicPr>
          <p:cNvPr id="29" name="Image 3" descr="gen-dedup-19b05158657ccf89e6e970bc873dea9d.png">    </p:cNvPr>
          <p:cNvPicPr>
            <a:picLocks noChangeAspect="1"/>
          </p:cNvPicPr>
          <p:nvPr/>
        </p:nvPicPr>
        <p:blipFill>
          <a:blip r:embed="rId4"/>
          <a:srcRect l="0" r="0" t="-5" b="-5"/>
          <a:stretch/>
        </p:blipFill>
        <p:spPr>
          <a:xfrm>
            <a:off x="9986162" y="2476195"/>
            <a:ext cx="2871216" cy="1953158"/>
          </a:xfrm>
          <a:prstGeom prst="rect">
            <a:avLst/>
          </a:prstGeom>
        </p:spPr>
      </p:pic>
      <p:sp>
        <p:nvSpPr>
          <p:cNvPr id="30" name="Shape 24"/>
          <p:cNvSpPr/>
          <p:nvPr/>
        </p:nvSpPr>
        <p:spPr>
          <a:xfrm>
            <a:off x="9986162" y="2476195"/>
            <a:ext cx="2876702" cy="580644"/>
          </a:xfrm>
          <a:prstGeom prst="roundRect">
            <a:avLst>
              <a:gd name="adj" fmla="val 36063"/>
            </a:avLst>
          </a:prstGeom>
          <a:solidFill>
            <a:srgbClr val="000000">
              <a:alpha val="18000"/>
            </a:srgbClr>
          </a:solidFill>
          <a:ln w="12700">
            <a:solidFill>
              <a:srgbClr val="FFFFFF">
                <a:alpha val="0"/>
              </a:srgbClr>
            </a:solidFill>
            <a:prstDash val="solid"/>
          </a:ln>
        </p:spPr>
      </p:sp>
      <p:sp>
        <p:nvSpPr>
          <p:cNvPr id="31" name="Shape 25"/>
          <p:cNvSpPr/>
          <p:nvPr/>
        </p:nvSpPr>
        <p:spPr>
          <a:xfrm>
            <a:off x="10195560" y="2648102"/>
            <a:ext cx="552298" cy="237744"/>
          </a:xfrm>
          <a:prstGeom prst="roundRect">
            <a:avLst>
              <a:gd name="adj" fmla="val 31923"/>
            </a:avLst>
          </a:prstGeom>
          <a:solidFill>
            <a:srgbClr val="FFFFFF"/>
          </a:solidFill>
          <a:ln w="12700">
            <a:solidFill>
              <a:srgbClr val="FFFFFF">
                <a:alpha val="0"/>
              </a:srgbClr>
            </a:solidFill>
            <a:prstDash val="solid"/>
          </a:ln>
        </p:spPr>
      </p:sp>
      <p:sp>
        <p:nvSpPr>
          <p:cNvPr id="32" name="Text 26"/>
          <p:cNvSpPr txBox="1"/>
          <p:nvPr/>
        </p:nvSpPr>
        <p:spPr>
          <a:xfrm>
            <a:off x="10195560" y="2648102"/>
            <a:ext cx="553212" cy="238658"/>
          </a:xfrm>
          <a:prstGeom prst="rect">
            <a:avLst/>
          </a:prstGeom>
          <a:solidFill>
            <a:srgbClr val="FFFFFF">
              <a:alpha val="0"/>
            </a:srgbClr>
          </a:solidFill>
          <a:ln>
            <a:solidFill>
              <a:srgbClr val="FFFFFF">
                <a:alpha val="0"/>
              </a:srgbClr>
            </a:solidFill>
          </a:ln>
        </p:spPr>
        <p:txBody>
          <a:bodyPr wrap="none" lIns="114300" tIns="50800" rIns="114300" bIns="50800" rtlCol="0" anchor="ctr"/>
          <a:lstStyle/>
          <a:p>
            <a:pPr algn="l" indent="0" marL="0">
              <a:buNone/>
            </a:pPr>
            <a:r>
              <a:rPr lang="en-US" sz="825" b="1" spc="148" kern="0" dirty="0">
                <a:solidFill>
                  <a:srgbClr val="2C4252"/>
                </a:solidFill>
                <a:latin typeface="Nunito" pitchFamily="34" charset="0"/>
                <a:ea typeface="Nunito" pitchFamily="34" charset="-122"/>
                <a:cs typeface="Nunito" pitchFamily="34" charset="-120"/>
              </a:rPr>
              <a:t>WHY</a:t>
            </a:r>
            <a:endParaRPr lang="en-US" sz="825" dirty="0"/>
          </a:p>
        </p:txBody>
      </p:sp>
      <p:sp>
        <p:nvSpPr>
          <p:cNvPr id="33" name="Text 27"/>
          <p:cNvSpPr txBox="1"/>
          <p:nvPr/>
        </p:nvSpPr>
        <p:spPr>
          <a:xfrm>
            <a:off x="12144146" y="2695651"/>
            <a:ext cx="505663" cy="143561"/>
          </a:xfrm>
          <a:prstGeom prst="rect">
            <a:avLst/>
          </a:prstGeom>
          <a:noFill/>
          <a:ln/>
        </p:spPr>
        <p:txBody>
          <a:bodyPr wrap="none" lIns="0" tIns="0" rIns="0" bIns="0" rtlCol="0" anchor="ctr"/>
          <a:lstStyle/>
          <a:p>
            <a:pPr algn="l" indent="0" marL="0">
              <a:buNone/>
            </a:pPr>
            <a:r>
              <a:rPr lang="en-US" sz="825" b="1" spc="82" kern="0" dirty="0">
                <a:solidFill>
                  <a:srgbClr val="BBDCC1"/>
                </a:solidFill>
                <a:latin typeface="Nunito" pitchFamily="34" charset="0"/>
                <a:ea typeface="Nunito" pitchFamily="34" charset="-122"/>
                <a:cs typeface="Nunito" pitchFamily="34" charset="-120"/>
              </a:rPr>
              <a:t>URGENT</a:t>
            </a:r>
            <a:endParaRPr lang="en-US" sz="825" dirty="0"/>
          </a:p>
        </p:txBody>
      </p:sp>
      <p:sp>
        <p:nvSpPr>
          <p:cNvPr id="34" name="Text 28"/>
          <p:cNvSpPr txBox="1"/>
          <p:nvPr/>
        </p:nvSpPr>
        <p:spPr>
          <a:xfrm>
            <a:off x="10195560" y="3114446"/>
            <a:ext cx="2457907" cy="438912"/>
          </a:xfrm>
          <a:prstGeom prst="rect">
            <a:avLst/>
          </a:prstGeom>
          <a:noFill/>
          <a:ln/>
        </p:spPr>
        <p:txBody>
          <a:bodyPr wrap="none" lIns="0" tIns="0" rIns="0" bIns="0" rtlCol="0" anchor="ctr"/>
          <a:lstStyle/>
          <a:p>
            <a:pPr algn="l" indent="0" marL="0">
              <a:buNone/>
            </a:pPr>
            <a:r>
              <a:rPr lang="en-US" sz="3450" b="1" spc="-69" kern="0" dirty="0">
                <a:solidFill>
                  <a:srgbClr val="FFFFFF"/>
                </a:solidFill>
                <a:latin typeface="Nunito" pitchFamily="34" charset="0"/>
                <a:ea typeface="Nunito" pitchFamily="34" charset="-122"/>
                <a:cs typeface="Nunito" pitchFamily="34" charset="-120"/>
              </a:rPr>
              <a:t>04</a:t>
            </a:r>
            <a:endParaRPr lang="en-US" sz="3450" dirty="0"/>
          </a:p>
        </p:txBody>
      </p:sp>
      <p:sp>
        <p:nvSpPr>
          <p:cNvPr id="35" name="Text 29"/>
          <p:cNvSpPr txBox="1"/>
          <p:nvPr/>
        </p:nvSpPr>
        <p:spPr>
          <a:xfrm>
            <a:off x="10195560" y="3610051"/>
            <a:ext cx="2924251" cy="200254"/>
          </a:xfrm>
          <a:prstGeom prst="rect">
            <a:avLst/>
          </a:prstGeom>
          <a:noFill/>
          <a:ln/>
        </p:spPr>
        <p:txBody>
          <a:bodyPr wrap="none" lIns="0" tIns="0" rIns="0" bIns="0" rtlCol="0" anchor="ctr"/>
          <a:lstStyle/>
          <a:p>
            <a:pPr algn="l" indent="0" marL="0">
              <a:buNone/>
            </a:pPr>
            <a:r>
              <a:rPr lang="en-US" sz="1275" b="1" dirty="0">
                <a:solidFill>
                  <a:srgbClr val="FFFFFF"/>
                </a:solidFill>
                <a:latin typeface="Nunito" pitchFamily="34" charset="0"/>
                <a:ea typeface="Nunito" pitchFamily="34" charset="-122"/>
                <a:cs typeface="Nunito" pitchFamily="34" charset="-120"/>
              </a:rPr>
              <a:t>Patient is being treated today</a:t>
            </a:r>
            <a:endParaRPr lang="en-US" sz="1275" dirty="0"/>
          </a:p>
        </p:txBody>
      </p:sp>
      <p:sp>
        <p:nvSpPr>
          <p:cNvPr id="36" name="Text 30"/>
          <p:cNvSpPr txBox="1"/>
          <p:nvPr/>
        </p:nvSpPr>
        <p:spPr>
          <a:xfrm>
            <a:off x="10195560" y="3861511"/>
            <a:ext cx="2457907" cy="362102"/>
          </a:xfrm>
          <a:prstGeom prst="rect">
            <a:avLst/>
          </a:prstGeom>
          <a:noFill/>
          <a:ln/>
        </p:spPr>
        <p:txBody>
          <a:bodyPr wrap="square" lIns="0" tIns="0" rIns="0" bIns="0" rtlCol="0" anchor="ctr"/>
          <a:lstStyle/>
          <a:p>
            <a:pPr algn="l" indent="0" marL="0">
              <a:lnSpc>
                <a:spcPts val="1414"/>
              </a:lnSpc>
              <a:buNone/>
            </a:pPr>
            <a:r>
              <a:rPr lang="en-US" sz="975" dirty="0">
                <a:solidFill>
                  <a:srgbClr val="DDE6EF"/>
                </a:solidFill>
                <a:latin typeface="Quicksand" pitchFamily="34" charset="0"/>
                <a:ea typeface="Quicksand" pitchFamily="34" charset="-122"/>
                <a:cs typeface="Quicksand" pitchFamily="34" charset="-120"/>
              </a:rPr>
              <a:t>Records are needed for the </a:t>
            </a:r>
            <a:pPr algn="l" indent="0" marL="0">
              <a:lnSpc>
                <a:spcPts val="1414"/>
              </a:lnSpc>
              <a:buNone/>
            </a:pPr>
            <a:r>
              <a:rPr lang="en-US" sz="975" i="1" dirty="0">
                <a:solidFill>
                  <a:srgbClr val="DDE6EF"/>
                </a:solidFill>
                <a:latin typeface="Quicksand" pitchFamily="34" charset="0"/>
                <a:ea typeface="Quicksand" pitchFamily="34" charset="-122"/>
                <a:cs typeface="Quicksand" pitchFamily="34" charset="-120"/>
              </a:rPr>
              <a:t>tomorrow</a:t>
            </a:r>
            <a:pPr algn="l" indent="0" marL="0">
              <a:lnSpc>
                <a:spcPts val="1414"/>
              </a:lnSpc>
              <a:buNone/>
            </a:pPr>
            <a:r>
              <a:rPr lang="en-US" sz="975" dirty="0">
                <a:solidFill>
                  <a:srgbClr val="DDE6EF"/>
                </a:solidFill>
                <a:latin typeface="Quicksand" pitchFamily="34" charset="0"/>
                <a:ea typeface="Quicksand" pitchFamily="34" charset="-122"/>
                <a:cs typeface="Quicksand" pitchFamily="34" charset="-120"/>
              </a:rPr>
              <a:t> appointment — there's been a delay.</a:t>
            </a:r>
            <a:endParaRPr lang="en-US" sz="975" dirty="0"/>
          </a:p>
        </p:txBody>
      </p:sp>
      <p:sp>
        <p:nvSpPr>
          <p:cNvPr id="37" name="Shape 31"/>
          <p:cNvSpPr/>
          <p:nvPr/>
        </p:nvSpPr>
        <p:spPr>
          <a:xfrm>
            <a:off x="856793" y="6438290"/>
            <a:ext cx="5372100" cy="800100"/>
          </a:xfrm>
          <a:prstGeom prst="roundRect">
            <a:avLst>
              <a:gd name="adj" fmla="val 21371"/>
            </a:avLst>
          </a:prstGeom>
          <a:solidFill>
            <a:srgbClr val="FFFFFF"/>
          </a:solidFill>
          <a:ln w="12700">
            <a:solidFill>
              <a:srgbClr val="FFFFFF">
                <a:alpha val="0"/>
              </a:srgbClr>
            </a:solidFill>
            <a:prstDash val="solid"/>
          </a:ln>
          <a:effectLst>
            <a:outerShdw sx="100000" sy="100000" kx="0" ky="0" algn="bl" rotWithShape="0" blurRad="215900" dist="76200" dir="16200000">
              <a:srgbClr val="2c4252">
                <a:alpha val="8000"/>
              </a:srgbClr>
            </a:outerShdw>
          </a:effectLst>
        </p:spPr>
      </p:sp>
      <p:sp>
        <p:nvSpPr>
          <p:cNvPr id="38" name="Shape 32"/>
          <p:cNvSpPr/>
          <p:nvPr/>
        </p:nvSpPr>
        <p:spPr>
          <a:xfrm>
            <a:off x="1085393" y="6610198"/>
            <a:ext cx="457200" cy="457200"/>
          </a:xfrm>
          <a:prstGeom prst="roundRect">
            <a:avLst>
              <a:gd name="adj" fmla="val 29200"/>
            </a:avLst>
          </a:prstGeom>
          <a:solidFill>
            <a:srgbClr val="BBDCC1"/>
          </a:solidFill>
          <a:ln w="12700">
            <a:solidFill>
              <a:srgbClr val="FFFFFF">
                <a:alpha val="0"/>
              </a:srgbClr>
            </a:solidFill>
            <a:prstDash val="solid"/>
          </a:ln>
        </p:spPr>
      </p:sp>
      <p:sp>
        <p:nvSpPr>
          <p:cNvPr id="39" name="Text 33"/>
          <p:cNvSpPr txBox="1"/>
          <p:nvPr/>
        </p:nvSpPr>
        <p:spPr>
          <a:xfrm>
            <a:off x="1085393" y="6610198"/>
            <a:ext cx="457200" cy="457200"/>
          </a:xfrm>
          <a:prstGeom prst="rect">
            <a:avLst/>
          </a:prstGeom>
          <a:solidFill>
            <a:srgbClr val="FFFFFF">
              <a:alpha val="0"/>
            </a:srgbClr>
          </a:solidFill>
          <a:ln>
            <a:solidFill>
              <a:srgbClr val="FFFFFF">
                <a:alpha val="0"/>
              </a:srgbClr>
            </a:solidFill>
          </a:ln>
        </p:spPr>
        <p:txBody>
          <a:bodyPr wrap="square" lIns="0" tIns="0" rIns="0" bIns="0" rtlCol="0" anchor="ctr"/>
          <a:lstStyle/>
          <a:p>
            <a:pPr algn="ctr" indent="0" marL="0">
              <a:buNone/>
            </a:pPr>
            <a:r>
              <a:rPr lang="en-US" sz="1500" b="1" dirty="0">
                <a:solidFill>
                  <a:srgbClr val="2C4252"/>
                </a:solidFill>
                <a:latin typeface="Nunito" pitchFamily="34" charset="0"/>
                <a:ea typeface="Nunito" pitchFamily="34" charset="-122"/>
                <a:cs typeface="Nunito" pitchFamily="34" charset="-120"/>
              </a:rPr>
              <a:t>★</a:t>
            </a:r>
            <a:endParaRPr lang="en-US" sz="1500" dirty="0"/>
          </a:p>
        </p:txBody>
      </p:sp>
      <p:sp>
        <p:nvSpPr>
          <p:cNvPr id="40" name="Text 34"/>
          <p:cNvSpPr txBox="1"/>
          <p:nvPr/>
        </p:nvSpPr>
        <p:spPr>
          <a:xfrm>
            <a:off x="1714500" y="6646774"/>
            <a:ext cx="4286707" cy="191110"/>
          </a:xfrm>
          <a:prstGeom prst="rect">
            <a:avLst/>
          </a:prstGeom>
          <a:noFill/>
          <a:ln/>
        </p:spPr>
        <p:txBody>
          <a:bodyPr wrap="none" lIns="0" tIns="0" rIns="0" bIns="0" rtlCol="0" anchor="ctr"/>
          <a:lstStyle/>
          <a:p>
            <a:pPr algn="l" indent="0" marL="0">
              <a:buNone/>
            </a:pPr>
            <a:r>
              <a:rPr lang="en-US" sz="1125" b="1" dirty="0">
                <a:solidFill>
                  <a:srgbClr val="2C4252"/>
                </a:solidFill>
                <a:latin typeface="Nunito" pitchFamily="34" charset="0"/>
                <a:ea typeface="Nunito" pitchFamily="34" charset="-122"/>
                <a:cs typeface="Nunito" pitchFamily="34" charset="-120"/>
              </a:rPr>
              <a:t>Tip — be clear about the injury</a:t>
            </a:r>
            <a:endParaRPr lang="en-US" sz="1125" dirty="0"/>
          </a:p>
        </p:txBody>
      </p:sp>
      <p:sp>
        <p:nvSpPr>
          <p:cNvPr id="41" name="Text 35"/>
          <p:cNvSpPr txBox="1"/>
          <p:nvPr/>
        </p:nvSpPr>
        <p:spPr>
          <a:xfrm>
            <a:off x="1714500" y="6857086"/>
            <a:ext cx="4972507" cy="181051"/>
          </a:xfrm>
          <a:prstGeom prst="rect">
            <a:avLst/>
          </a:prstGeom>
          <a:noFill/>
          <a:ln/>
        </p:spPr>
        <p:txBody>
          <a:bodyPr wrap="none" lIns="0" tIns="0" rIns="0" bIns="0" rtlCol="0" anchor="ctr"/>
          <a:lstStyle/>
          <a:p>
            <a:pPr algn="l" indent="0" marL="0">
              <a:buNone/>
            </a:pPr>
            <a:r>
              <a:rPr lang="en-US" sz="975" dirty="0">
                <a:solidFill>
                  <a:srgbClr val="3F5566"/>
                </a:solidFill>
                <a:latin typeface="Quicksand" pitchFamily="34" charset="0"/>
                <a:ea typeface="Quicksand" pitchFamily="34" charset="-122"/>
                <a:cs typeface="Quicksand" pitchFamily="34" charset="-120"/>
              </a:rPr>
              <a:t>Patients can have many visits. We only want the accident-related records.</a:t>
            </a:r>
            <a:endParaRPr lang="en-US" sz="97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7F2"/>
        </a:solidFill>
      </p:bgPr>
    </p:bg>
    <p:spTree>
      <p:nvGrpSpPr>
        <p:cNvPr id="1" name=""/>
        <p:cNvGrpSpPr/>
        <p:nvPr/>
      </p:nvGrpSpPr>
      <p:grpSpPr>
        <a:xfrm>
          <a:off x="0" y="0"/>
          <a:ext cx="0" cy="0"/>
          <a:chOff x="0" y="0"/>
          <a:chExt cx="0" cy="0"/>
        </a:xfrm>
      </p:grpSpPr>
      <p:pic>
        <p:nvPicPr>
          <p:cNvPr id="2" name="Image 0" descr="gen-dedup-b772c727692b4ebbacc9f8cc513c6330.png">    </p:cNvPr>
          <p:cNvPicPr>
            <a:picLocks noChangeAspect="1"/>
          </p:cNvPicPr>
          <p:nvPr/>
        </p:nvPicPr>
        <p:blipFill>
          <a:blip r:embed="rId1">
            <a:alphaModFix amt="50000"/>
          </a:blip>
          <a:srcRect l="0" r="0" t="0" b="0"/>
          <a:stretch/>
        </p:blipFill>
        <p:spPr>
          <a:xfrm>
            <a:off x="-1714500" y="5428793"/>
            <a:ext cx="4000500" cy="4000500"/>
          </a:xfrm>
          <a:prstGeom prst="rect">
            <a:avLst/>
          </a:prstGeom>
        </p:spPr>
      </p:pic>
      <p:sp>
        <p:nvSpPr>
          <p:cNvPr id="3" name="Shape 0"/>
          <p:cNvSpPr/>
          <p:nvPr/>
        </p:nvSpPr>
        <p:spPr>
          <a:xfrm>
            <a:off x="856793" y="705002"/>
            <a:ext cx="1419149" cy="323698"/>
          </a:xfrm>
          <a:prstGeom prst="roundRect">
            <a:avLst>
              <a:gd name="adj" fmla="val 50000"/>
            </a:avLst>
          </a:prstGeom>
          <a:solidFill>
            <a:srgbClr val="BBDCC1"/>
          </a:solidFill>
          <a:ln w="12700">
            <a:solidFill>
              <a:srgbClr val="FFFFFF">
                <a:alpha val="0"/>
              </a:srgbClr>
            </a:solidFill>
            <a:prstDash val="solid"/>
          </a:ln>
        </p:spPr>
      </p:sp>
      <p:sp>
        <p:nvSpPr>
          <p:cNvPr id="4" name="Text 1"/>
          <p:cNvSpPr/>
          <p:nvPr/>
        </p:nvSpPr>
        <p:spPr>
          <a:xfrm>
            <a:off x="856793" y="705002"/>
            <a:ext cx="1419149" cy="324612"/>
          </a:xfrm>
          <a:prstGeom prst="rect">
            <a:avLst/>
          </a:prstGeom>
          <a:solidFill>
            <a:srgbClr val="FFFFFF">
              <a:alpha val="0"/>
            </a:srgbClr>
          </a:solidFill>
          <a:ln>
            <a:solidFill>
              <a:srgbClr val="FFFFFF">
                <a:alpha val="0"/>
              </a:srgbClr>
            </a:solidFill>
          </a:ln>
        </p:spPr>
        <p:txBody>
          <a:bodyPr wrap="none" lIns="190500" tIns="76200" rIns="190500" bIns="76200" rtlCol="0" anchor="ctr"/>
          <a:lstStyle/>
          <a:p>
            <a:pPr algn="ctr" indent="0" marL="0">
              <a:buNone/>
            </a:pPr>
            <a:r>
              <a:rPr lang="en-US" sz="975" b="1" spc="214" kern="0" dirty="0">
                <a:solidFill>
                  <a:srgbClr val="2C4252"/>
                </a:solidFill>
                <a:latin typeface="Nunito" pitchFamily="34" charset="0"/>
                <a:ea typeface="Nunito" pitchFamily="34" charset="-122"/>
                <a:cs typeface="Nunito" pitchFamily="34" charset="-120"/>
              </a:rPr>
              <a:t>Step 3 of 3</a:t>
            </a:r>
            <a:endParaRPr lang="en-US" sz="975" dirty="0"/>
          </a:p>
        </p:txBody>
      </p:sp>
      <p:sp>
        <p:nvSpPr>
          <p:cNvPr id="5" name="Text 2"/>
          <p:cNvSpPr txBox="1"/>
          <p:nvPr/>
        </p:nvSpPr>
        <p:spPr>
          <a:xfrm>
            <a:off x="856793" y="1238098"/>
            <a:ext cx="11810390" cy="629107"/>
          </a:xfrm>
          <a:prstGeom prst="rect">
            <a:avLst/>
          </a:prstGeom>
          <a:noFill/>
          <a:ln/>
        </p:spPr>
        <p:txBody>
          <a:bodyPr wrap="none" lIns="0" tIns="0" rIns="0" bIns="0" rtlCol="0" anchor="ctr"/>
          <a:lstStyle/>
          <a:p>
            <a:pPr algn="l" indent="0" marL="0">
              <a:buNone/>
            </a:pPr>
            <a:r>
              <a:rPr lang="en-US" sz="4650" b="1" spc="-93" kern="0" dirty="0">
                <a:solidFill>
                  <a:srgbClr val="2C4252"/>
                </a:solidFill>
                <a:latin typeface="Nunito" pitchFamily="34" charset="0"/>
                <a:ea typeface="Nunito" pitchFamily="34" charset="-122"/>
                <a:cs typeface="Nunito" pitchFamily="34" charset="-120"/>
              </a:rPr>
              <a:t>Follow up </a:t>
            </a:r>
            <a:pPr algn="l" indent="0" marL="0">
              <a:buNone/>
            </a:pPr>
            <a:r>
              <a:rPr lang="en-US" sz="4650" b="1" spc="-93" kern="0" dirty="0">
                <a:solidFill>
                  <a:srgbClr val="4B7FC2"/>
                </a:solidFill>
                <a:latin typeface="Nunito" pitchFamily="34" charset="0"/>
                <a:ea typeface="Nunito" pitchFamily="34" charset="-122"/>
                <a:cs typeface="Nunito" pitchFamily="34" charset="-120"/>
              </a:rPr>
              <a:t>until received</a:t>
            </a:r>
            <a:pPr algn="l" indent="0" marL="0">
              <a:buNone/>
            </a:pPr>
            <a:r>
              <a:rPr lang="en-US" sz="4650" b="1" spc="-93" kern="0" dirty="0">
                <a:solidFill>
                  <a:srgbClr val="2C4252"/>
                </a:solidFill>
                <a:latin typeface="Nunito" pitchFamily="34" charset="0"/>
                <a:ea typeface="Nunito" pitchFamily="34" charset="-122"/>
                <a:cs typeface="Nunito" pitchFamily="34" charset="-120"/>
              </a:rPr>
              <a:t>.</a:t>
            </a:r>
            <a:endParaRPr lang="en-US" sz="4650" dirty="0"/>
          </a:p>
        </p:txBody>
      </p:sp>
      <p:sp>
        <p:nvSpPr>
          <p:cNvPr id="6" name="Text 3"/>
          <p:cNvSpPr txBox="1"/>
          <p:nvPr/>
        </p:nvSpPr>
        <p:spPr>
          <a:xfrm>
            <a:off x="856793" y="2143354"/>
            <a:ext cx="9258300" cy="228600"/>
          </a:xfrm>
          <a:prstGeom prst="rect">
            <a:avLst/>
          </a:prstGeom>
          <a:noFill/>
          <a:ln/>
        </p:spPr>
        <p:txBody>
          <a:bodyPr wrap="none" lIns="0" tIns="0" rIns="0" bIns="0" rtlCol="0" anchor="ctr"/>
          <a:lstStyle/>
          <a:p>
            <a:pPr algn="l" indent="0" marL="0">
              <a:buNone/>
            </a:pPr>
            <a:r>
              <a:rPr lang="en-US" sz="1200" dirty="0">
                <a:solidFill>
                  <a:srgbClr val="3F5566"/>
                </a:solidFill>
                <a:latin typeface="Quicksand" pitchFamily="34" charset="0"/>
                <a:ea typeface="Quicksand" pitchFamily="34" charset="-122"/>
                <a:cs typeface="Quicksand" pitchFamily="34" charset="-120"/>
              </a:rPr>
              <a:t>These steps keep repeating until the patient has what they need. Be politely persistent — that's the whole job.</a:t>
            </a:r>
            <a:endParaRPr lang="en-US" sz="1200" dirty="0"/>
          </a:p>
        </p:txBody>
      </p:sp>
      <p:pic>
        <p:nvPicPr>
          <p:cNvPr id="7" name="Image 1" descr="gen-dedup-2fc034e8e722aec582167443a29c951c.png">    </p:cNvPr>
          <p:cNvPicPr>
            <a:picLocks noChangeAspect="1"/>
          </p:cNvPicPr>
          <p:nvPr/>
        </p:nvPicPr>
        <p:blipFill>
          <a:blip r:embed="rId2"/>
          <a:srcRect l="0" r="0" t="-10" b="-10"/>
          <a:stretch/>
        </p:blipFill>
        <p:spPr>
          <a:xfrm>
            <a:off x="856793" y="2666390"/>
            <a:ext cx="4009644" cy="2168042"/>
          </a:xfrm>
          <a:prstGeom prst="rect">
            <a:avLst/>
          </a:prstGeom>
        </p:spPr>
      </p:pic>
      <p:sp>
        <p:nvSpPr>
          <p:cNvPr id="8" name="Text 4"/>
          <p:cNvSpPr txBox="1"/>
          <p:nvPr/>
        </p:nvSpPr>
        <p:spPr>
          <a:xfrm>
            <a:off x="1104595" y="3247949"/>
            <a:ext cx="3514954" cy="210312"/>
          </a:xfrm>
          <a:prstGeom prst="rect">
            <a:avLst/>
          </a:prstGeom>
          <a:noFill/>
          <a:ln/>
        </p:spPr>
        <p:txBody>
          <a:bodyPr wrap="none" lIns="0" tIns="0" rIns="0" bIns="0" rtlCol="0" anchor="ctr"/>
          <a:lstStyle/>
          <a:p>
            <a:pPr algn="l" indent="0" marL="0">
              <a:buNone/>
            </a:pPr>
            <a:r>
              <a:rPr lang="en-US" sz="1350" b="1" dirty="0">
                <a:solidFill>
                  <a:srgbClr val="2C4252"/>
                </a:solidFill>
                <a:latin typeface="Nunito" pitchFamily="34" charset="0"/>
                <a:ea typeface="Nunito" pitchFamily="34" charset="-122"/>
                <a:cs typeface="Nunito" pitchFamily="34" charset="-120"/>
              </a:rPr>
              <a:t>"We'll send it in X days."</a:t>
            </a:r>
            <a:endParaRPr lang="en-US" sz="1350" dirty="0"/>
          </a:p>
        </p:txBody>
      </p:sp>
      <p:sp>
        <p:nvSpPr>
          <p:cNvPr id="9" name="Text 5"/>
          <p:cNvSpPr txBox="1"/>
          <p:nvPr/>
        </p:nvSpPr>
        <p:spPr>
          <a:xfrm>
            <a:off x="1104595" y="3529584"/>
            <a:ext cx="3514954" cy="391363"/>
          </a:xfrm>
          <a:prstGeom prst="rect">
            <a:avLst/>
          </a:prstGeom>
          <a:noFill/>
          <a:ln/>
        </p:spPr>
        <p:txBody>
          <a:bodyPr wrap="square" lIns="0" tIns="0" rIns="0" bIns="0" rtlCol="0" anchor="ctr"/>
          <a:lstStyle/>
          <a:p>
            <a:pPr algn="l" indent="0" marL="0">
              <a:lnSpc>
                <a:spcPts val="1519"/>
              </a:lnSpc>
              <a:buNone/>
            </a:pPr>
            <a:r>
              <a:rPr lang="en-US" sz="1012" dirty="0">
                <a:solidFill>
                  <a:srgbClr val="3F5566"/>
                </a:solidFill>
                <a:latin typeface="Quicksand" pitchFamily="34" charset="0"/>
                <a:ea typeface="Quicksand" pitchFamily="34" charset="-122"/>
                <a:cs typeface="Quicksand" pitchFamily="34" charset="-120"/>
              </a:rPr>
              <a:t>Tell them you'll call back at that exact time if records aren't received. </a:t>
            </a:r>
            <a:pPr algn="l" indent="0" marL="0">
              <a:lnSpc>
                <a:spcPts val="1519"/>
              </a:lnSpc>
              <a:buNone/>
            </a:pPr>
            <a:r>
              <a:rPr lang="en-US" sz="1012" b="1" dirty="0">
                <a:solidFill>
                  <a:srgbClr val="2C4252"/>
                </a:solidFill>
                <a:latin typeface="Quicksand" pitchFamily="34" charset="0"/>
                <a:ea typeface="Quicksand" pitchFamily="34" charset="-122"/>
                <a:cs typeface="Quicksand" pitchFamily="34" charset="-120"/>
              </a:rPr>
              <a:t>Then call back at that time.</a:t>
            </a:r>
            <a:endParaRPr lang="en-US" sz="1012" dirty="0"/>
          </a:p>
        </p:txBody>
      </p:sp>
      <p:pic>
        <p:nvPicPr>
          <p:cNvPr id="10" name="Image 2" descr="gen-dedup-390a24fda4c3866183156ac7569cae05.png">    </p:cNvPr>
          <p:cNvPicPr>
            <a:picLocks noChangeAspect="1"/>
          </p:cNvPicPr>
          <p:nvPr/>
        </p:nvPicPr>
        <p:blipFill>
          <a:blip r:embed="rId3"/>
          <a:srcRect l="0" r="0" t="-10" b="-10"/>
          <a:stretch/>
        </p:blipFill>
        <p:spPr>
          <a:xfrm>
            <a:off x="5038344" y="2666390"/>
            <a:ext cx="4009644" cy="2168042"/>
          </a:xfrm>
          <a:prstGeom prst="rect">
            <a:avLst/>
          </a:prstGeom>
        </p:spPr>
      </p:pic>
      <p:sp>
        <p:nvSpPr>
          <p:cNvPr id="11" name="Text 6"/>
          <p:cNvSpPr txBox="1"/>
          <p:nvPr/>
        </p:nvSpPr>
        <p:spPr>
          <a:xfrm>
            <a:off x="5286146" y="3247949"/>
            <a:ext cx="3514954" cy="210312"/>
          </a:xfrm>
          <a:prstGeom prst="rect">
            <a:avLst/>
          </a:prstGeom>
          <a:noFill/>
          <a:ln/>
        </p:spPr>
        <p:txBody>
          <a:bodyPr wrap="none" lIns="0" tIns="0" rIns="0" bIns="0" rtlCol="0" anchor="ctr"/>
          <a:lstStyle/>
          <a:p>
            <a:pPr algn="l" indent="0" marL="0">
              <a:buNone/>
            </a:pPr>
            <a:r>
              <a:rPr lang="en-US" sz="1350" b="1" dirty="0">
                <a:solidFill>
                  <a:srgbClr val="2C4252"/>
                </a:solidFill>
                <a:latin typeface="Nunito" pitchFamily="34" charset="0"/>
                <a:ea typeface="Nunito" pitchFamily="34" charset="-122"/>
                <a:cs typeface="Nunito" pitchFamily="34" charset="-120"/>
              </a:rPr>
              <a:t>"We already sent it."</a:t>
            </a:r>
            <a:endParaRPr lang="en-US" sz="1350" dirty="0"/>
          </a:p>
        </p:txBody>
      </p:sp>
      <p:sp>
        <p:nvSpPr>
          <p:cNvPr id="12" name="Text 7"/>
          <p:cNvSpPr txBox="1"/>
          <p:nvPr/>
        </p:nvSpPr>
        <p:spPr>
          <a:xfrm>
            <a:off x="5286146" y="3529584"/>
            <a:ext cx="3514954" cy="391363"/>
          </a:xfrm>
          <a:prstGeom prst="rect">
            <a:avLst/>
          </a:prstGeom>
          <a:noFill/>
          <a:ln/>
        </p:spPr>
        <p:txBody>
          <a:bodyPr wrap="square" lIns="0" tIns="0" rIns="0" bIns="0" rtlCol="0" anchor="ctr"/>
          <a:lstStyle/>
          <a:p>
            <a:pPr algn="l" indent="0" marL="0">
              <a:lnSpc>
                <a:spcPts val="1519"/>
              </a:lnSpc>
              <a:buNone/>
            </a:pPr>
            <a:r>
              <a:rPr lang="en-US" sz="1012" dirty="0">
                <a:solidFill>
                  <a:srgbClr val="3F5566"/>
                </a:solidFill>
                <a:latin typeface="Quicksand" pitchFamily="34" charset="0"/>
                <a:ea typeface="Quicksand" pitchFamily="34" charset="-122"/>
                <a:cs typeface="Quicksand" pitchFamily="34" charset="-120"/>
              </a:rPr>
              <a:t>Ask where they sent it. Have them </a:t>
            </a:r>
            <a:pPr algn="l" indent="0" marL="0">
              <a:lnSpc>
                <a:spcPts val="1519"/>
              </a:lnSpc>
              <a:buNone/>
            </a:pPr>
            <a:r>
              <a:rPr lang="en-US" sz="1012" b="1" dirty="0">
                <a:solidFill>
                  <a:srgbClr val="2C4252"/>
                </a:solidFill>
                <a:latin typeface="Quicksand" pitchFamily="34" charset="0"/>
                <a:ea typeface="Quicksand" pitchFamily="34" charset="-122"/>
                <a:cs typeface="Quicksand" pitchFamily="34" charset="-120"/>
              </a:rPr>
              <a:t>resend</a:t>
            </a:r>
            <a:pPr algn="l" indent="0" marL="0">
              <a:lnSpc>
                <a:spcPts val="1519"/>
              </a:lnSpc>
              <a:buNone/>
            </a:pPr>
            <a:r>
              <a:rPr lang="en-US" sz="1012" dirty="0">
                <a:solidFill>
                  <a:srgbClr val="3F5566"/>
                </a:solidFill>
                <a:latin typeface="Quicksand" pitchFamily="34" charset="0"/>
                <a:ea typeface="Quicksand" pitchFamily="34" charset="-122"/>
                <a:cs typeface="Quicksand" pitchFamily="34" charset="-120"/>
              </a:rPr>
              <a:t> — we still haven't received it.</a:t>
            </a:r>
            <a:endParaRPr lang="en-US" sz="1012" dirty="0"/>
          </a:p>
        </p:txBody>
      </p:sp>
      <p:sp>
        <p:nvSpPr>
          <p:cNvPr id="13" name="Text 8"/>
          <p:cNvSpPr txBox="1"/>
          <p:nvPr/>
        </p:nvSpPr>
        <p:spPr>
          <a:xfrm>
            <a:off x="5286146" y="3991356"/>
            <a:ext cx="3514954" cy="372161"/>
          </a:xfrm>
          <a:prstGeom prst="rect">
            <a:avLst/>
          </a:prstGeom>
          <a:noFill/>
          <a:ln/>
        </p:spPr>
        <p:txBody>
          <a:bodyPr wrap="square" lIns="0" tIns="0" rIns="0" bIns="0" rtlCol="0" anchor="ctr"/>
          <a:lstStyle/>
          <a:p>
            <a:pPr algn="l" indent="0" marL="0">
              <a:lnSpc>
                <a:spcPts val="1462"/>
              </a:lnSpc>
              <a:buNone/>
            </a:pPr>
            <a:r>
              <a:rPr lang="en-US" sz="975" dirty="0">
                <a:solidFill>
                  <a:srgbClr val="3F5566"/>
                </a:solidFill>
                <a:latin typeface="Quicksand" pitchFamily="34" charset="0"/>
                <a:ea typeface="Quicksand" pitchFamily="34" charset="-122"/>
                <a:cs typeface="Quicksand" pitchFamily="34" charset="-120"/>
              </a:rPr>
              <a:t>Confirm the fax # / email matches what's in the log. Update if they have a new one.</a:t>
            </a:r>
            <a:endParaRPr lang="en-US" sz="975" dirty="0"/>
          </a:p>
        </p:txBody>
      </p:sp>
      <p:sp>
        <p:nvSpPr>
          <p:cNvPr id="14" name="Shape 9"/>
          <p:cNvSpPr/>
          <p:nvPr/>
        </p:nvSpPr>
        <p:spPr>
          <a:xfrm>
            <a:off x="1104595" y="2894990"/>
            <a:ext cx="1133856" cy="237744"/>
          </a:xfrm>
          <a:prstGeom prst="roundRect">
            <a:avLst>
              <a:gd name="adj" fmla="val 31923"/>
            </a:avLst>
          </a:prstGeom>
          <a:solidFill>
            <a:srgbClr val="F4A78B"/>
          </a:solidFill>
          <a:ln w="12700">
            <a:solidFill>
              <a:srgbClr val="FFFFFF">
                <a:alpha val="0"/>
              </a:srgbClr>
            </a:solidFill>
            <a:prstDash val="solid"/>
          </a:ln>
        </p:spPr>
      </p:sp>
      <p:sp>
        <p:nvSpPr>
          <p:cNvPr id="15" name="Text 10"/>
          <p:cNvSpPr txBox="1"/>
          <p:nvPr/>
        </p:nvSpPr>
        <p:spPr>
          <a:xfrm>
            <a:off x="1104595" y="2894990"/>
            <a:ext cx="1133856" cy="238658"/>
          </a:xfrm>
          <a:prstGeom prst="rect">
            <a:avLst/>
          </a:prstGeom>
          <a:solidFill>
            <a:srgbClr val="FFFFFF">
              <a:alpha val="0"/>
            </a:srgbClr>
          </a:solidFill>
          <a:ln>
            <a:solidFill>
              <a:srgbClr val="FFFFFF">
                <a:alpha val="0"/>
              </a:srgbClr>
            </a:solidFill>
          </a:ln>
        </p:spPr>
        <p:txBody>
          <a:bodyPr wrap="none" lIns="114300" tIns="50800" rIns="114300" bIns="50800" rtlCol="0" anchor="ctr"/>
          <a:lstStyle/>
          <a:p>
            <a:pPr algn="l" indent="0" marL="0">
              <a:buNone/>
            </a:pPr>
            <a:r>
              <a:rPr lang="en-US" sz="825" b="1" spc="181" kern="0" dirty="0">
                <a:solidFill>
                  <a:srgbClr val="7A2E1A"/>
                </a:solidFill>
                <a:latin typeface="Nunito" pitchFamily="34" charset="0"/>
                <a:ea typeface="Nunito" pitchFamily="34" charset="-122"/>
                <a:cs typeface="Nunito" pitchFamily="34" charset="-120"/>
              </a:rPr>
              <a:t>SCENARIO A</a:t>
            </a:r>
            <a:endParaRPr lang="en-US" sz="825" dirty="0"/>
          </a:p>
        </p:txBody>
      </p:sp>
      <p:sp>
        <p:nvSpPr>
          <p:cNvPr id="16" name="Shape 11"/>
          <p:cNvSpPr/>
          <p:nvPr/>
        </p:nvSpPr>
        <p:spPr>
          <a:xfrm>
            <a:off x="5286146" y="2894990"/>
            <a:ext cx="1123798" cy="237744"/>
          </a:xfrm>
          <a:prstGeom prst="roundRect">
            <a:avLst>
              <a:gd name="adj" fmla="val 31923"/>
            </a:avLst>
          </a:prstGeom>
          <a:solidFill>
            <a:srgbClr val="BFD8E9"/>
          </a:solidFill>
          <a:ln w="12700">
            <a:solidFill>
              <a:srgbClr val="FFFFFF">
                <a:alpha val="0"/>
              </a:srgbClr>
            </a:solidFill>
            <a:prstDash val="solid"/>
          </a:ln>
        </p:spPr>
      </p:sp>
      <p:sp>
        <p:nvSpPr>
          <p:cNvPr id="17" name="Text 12"/>
          <p:cNvSpPr txBox="1"/>
          <p:nvPr/>
        </p:nvSpPr>
        <p:spPr>
          <a:xfrm>
            <a:off x="5286146" y="2894990"/>
            <a:ext cx="1124712" cy="238658"/>
          </a:xfrm>
          <a:prstGeom prst="rect">
            <a:avLst/>
          </a:prstGeom>
          <a:solidFill>
            <a:srgbClr val="FFFFFF">
              <a:alpha val="0"/>
            </a:srgbClr>
          </a:solidFill>
          <a:ln>
            <a:solidFill>
              <a:srgbClr val="FFFFFF">
                <a:alpha val="0"/>
              </a:srgbClr>
            </a:solidFill>
          </a:ln>
        </p:spPr>
        <p:txBody>
          <a:bodyPr wrap="none" lIns="114300" tIns="50800" rIns="114300" bIns="50800" rtlCol="0" anchor="ctr"/>
          <a:lstStyle/>
          <a:p>
            <a:pPr algn="l" indent="0" marL="0">
              <a:buNone/>
            </a:pPr>
            <a:r>
              <a:rPr lang="en-US" sz="825" b="1" spc="181" kern="0" dirty="0">
                <a:solidFill>
                  <a:srgbClr val="2C4252"/>
                </a:solidFill>
                <a:latin typeface="Nunito" pitchFamily="34" charset="0"/>
                <a:ea typeface="Nunito" pitchFamily="34" charset="-122"/>
                <a:cs typeface="Nunito" pitchFamily="34" charset="-120"/>
              </a:rPr>
              <a:t>SCENARIO B</a:t>
            </a:r>
            <a:endParaRPr lang="en-US" sz="825" dirty="0"/>
          </a:p>
        </p:txBody>
      </p:sp>
      <p:sp>
        <p:nvSpPr>
          <p:cNvPr id="18" name="Text 13"/>
          <p:cNvSpPr txBox="1"/>
          <p:nvPr/>
        </p:nvSpPr>
        <p:spPr>
          <a:xfrm>
            <a:off x="1104595" y="3991356"/>
            <a:ext cx="3514954" cy="171907"/>
          </a:xfrm>
          <a:prstGeom prst="rect">
            <a:avLst/>
          </a:prstGeom>
          <a:noFill/>
          <a:ln/>
        </p:spPr>
        <p:txBody>
          <a:bodyPr wrap="none" lIns="0" tIns="0" rIns="0" bIns="0" rtlCol="0" anchor="ctr"/>
          <a:lstStyle/>
          <a:p>
            <a:pPr algn="l" indent="0" marL="0">
              <a:buNone/>
            </a:pPr>
            <a:r>
              <a:rPr lang="en-US" sz="1200" b="1" dirty="0">
                <a:solidFill>
                  <a:srgbClr val="4B7FC2"/>
                </a:solidFill>
                <a:latin typeface="Nunito" pitchFamily="34" charset="0"/>
                <a:ea typeface="Nunito" pitchFamily="34" charset="-122"/>
                <a:cs typeface="Nunito" pitchFamily="34" charset="-120"/>
              </a:rPr>
              <a:t>›</a:t>
            </a:r>
            <a:pPr algn="l" indent="0" marL="0">
              <a:buNone/>
            </a:pPr>
            <a:r>
              <a:rPr lang="en-US" sz="937" b="1" dirty="0">
                <a:solidFill>
                  <a:srgbClr val="2C4252"/>
                </a:solidFill>
                <a:latin typeface="Quicksand" pitchFamily="34" charset="0"/>
                <a:ea typeface="Quicksand" pitchFamily="34" charset="-122"/>
                <a:cs typeface="Quicksand" pitchFamily="34" charset="-120"/>
              </a:rPr>
              <a:t> Ask for the </a:t>
            </a:r>
            <a:pPr algn="l" indent="0" marL="0">
              <a:buNone/>
            </a:pPr>
            <a:r>
              <a:rPr lang="en-US" sz="937" b="1" dirty="0">
                <a:solidFill>
                  <a:srgbClr val="2C4252"/>
                </a:solidFill>
                <a:latin typeface="Quicksand" pitchFamily="34" charset="0"/>
                <a:ea typeface="Quicksand" pitchFamily="34" charset="-122"/>
                <a:cs typeface="Quicksand" pitchFamily="34" charset="-120"/>
              </a:rPr>
              <a:t>person who handled you last</a:t>
            </a:r>
            <a:pPr algn="l" indent="0" marL="0">
              <a:buNone/>
            </a:pPr>
            <a:r>
              <a:rPr lang="en-US" sz="937" b="1" dirty="0">
                <a:solidFill>
                  <a:srgbClr val="2C4252"/>
                </a:solidFill>
                <a:latin typeface="Quicksand" pitchFamily="34" charset="0"/>
                <a:ea typeface="Quicksand" pitchFamily="34" charset="-122"/>
                <a:cs typeface="Quicksand" pitchFamily="34" charset="-120"/>
              </a:rPr>
              <a:t>.</a:t>
            </a:r>
            <a:endParaRPr lang="en-US" sz="937" dirty="0"/>
          </a:p>
        </p:txBody>
      </p:sp>
      <p:sp>
        <p:nvSpPr>
          <p:cNvPr id="19" name="Text 14"/>
          <p:cNvSpPr txBox="1"/>
          <p:nvPr/>
        </p:nvSpPr>
        <p:spPr>
          <a:xfrm>
            <a:off x="1104595" y="4215384"/>
            <a:ext cx="3514954" cy="171907"/>
          </a:xfrm>
          <a:prstGeom prst="rect">
            <a:avLst/>
          </a:prstGeom>
          <a:noFill/>
          <a:ln/>
        </p:spPr>
        <p:txBody>
          <a:bodyPr wrap="none" lIns="0" tIns="0" rIns="0" bIns="0" rtlCol="0" anchor="ctr"/>
          <a:lstStyle/>
          <a:p>
            <a:pPr algn="l" indent="0" marL="0">
              <a:buNone/>
            </a:pPr>
            <a:r>
              <a:rPr lang="en-US" sz="1200" b="1" dirty="0">
                <a:solidFill>
                  <a:srgbClr val="4B7FC2"/>
                </a:solidFill>
                <a:latin typeface="Nunito" pitchFamily="34" charset="0"/>
                <a:ea typeface="Nunito" pitchFamily="34" charset="-122"/>
                <a:cs typeface="Nunito" pitchFamily="34" charset="-120"/>
              </a:rPr>
              <a:t>›</a:t>
            </a:r>
            <a:pPr algn="l" indent="0" marL="0">
              <a:buNone/>
            </a:pPr>
            <a:r>
              <a:rPr lang="en-US" sz="937" b="1" dirty="0">
                <a:solidFill>
                  <a:srgbClr val="2C4252"/>
                </a:solidFill>
                <a:latin typeface="Quicksand" pitchFamily="34" charset="0"/>
                <a:ea typeface="Quicksand" pitchFamily="34" charset="-122"/>
                <a:cs typeface="Quicksand" pitchFamily="34" charset="-120"/>
              </a:rPr>
              <a:t> Reference the </a:t>
            </a:r>
            <a:pPr algn="l" indent="0" marL="0">
              <a:buNone/>
            </a:pPr>
            <a:r>
              <a:rPr lang="en-US" sz="937" b="1" dirty="0">
                <a:solidFill>
                  <a:srgbClr val="2C4252"/>
                </a:solidFill>
                <a:latin typeface="Quicksand" pitchFamily="34" charset="0"/>
                <a:ea typeface="Quicksand" pitchFamily="34" charset="-122"/>
                <a:cs typeface="Quicksand" pitchFamily="34" charset="-120"/>
              </a:rPr>
              <a:t>previous ETA</a:t>
            </a:r>
            <a:pPr algn="l" indent="0" marL="0">
              <a:buNone/>
            </a:pPr>
            <a:r>
              <a:rPr lang="en-US" sz="937" b="1" dirty="0">
                <a:solidFill>
                  <a:srgbClr val="2C4252"/>
                </a:solidFill>
                <a:latin typeface="Quicksand" pitchFamily="34" charset="0"/>
                <a:ea typeface="Quicksand" pitchFamily="34" charset="-122"/>
                <a:cs typeface="Quicksand" pitchFamily="34" charset="-120"/>
              </a:rPr>
              <a:t> they gave you.</a:t>
            </a:r>
            <a:endParaRPr lang="en-US" sz="937" dirty="0"/>
          </a:p>
        </p:txBody>
      </p:sp>
      <p:sp>
        <p:nvSpPr>
          <p:cNvPr id="20" name="Text 15"/>
          <p:cNvSpPr txBox="1"/>
          <p:nvPr/>
        </p:nvSpPr>
        <p:spPr>
          <a:xfrm>
            <a:off x="1104595" y="4439412"/>
            <a:ext cx="3514954" cy="171907"/>
          </a:xfrm>
          <a:prstGeom prst="rect">
            <a:avLst/>
          </a:prstGeom>
          <a:noFill/>
          <a:ln/>
        </p:spPr>
        <p:txBody>
          <a:bodyPr wrap="none" lIns="0" tIns="0" rIns="0" bIns="0" rtlCol="0" anchor="ctr"/>
          <a:lstStyle/>
          <a:p>
            <a:pPr algn="l" indent="0" marL="0">
              <a:buNone/>
            </a:pPr>
            <a:r>
              <a:rPr lang="en-US" sz="1200" b="1" dirty="0">
                <a:solidFill>
                  <a:srgbClr val="4B7FC2"/>
                </a:solidFill>
                <a:latin typeface="Nunito" pitchFamily="34" charset="0"/>
                <a:ea typeface="Nunito" pitchFamily="34" charset="-122"/>
                <a:cs typeface="Nunito" pitchFamily="34" charset="-120"/>
              </a:rPr>
              <a:t>›</a:t>
            </a:r>
            <a:pPr algn="l" indent="0" marL="0">
              <a:buNone/>
            </a:pPr>
            <a:r>
              <a:rPr lang="en-US" sz="937" b="1" dirty="0">
                <a:solidFill>
                  <a:srgbClr val="2C4252"/>
                </a:solidFill>
                <a:latin typeface="Quicksand" pitchFamily="34" charset="0"/>
                <a:ea typeface="Quicksand" pitchFamily="34" charset="-122"/>
                <a:cs typeface="Quicksand" pitchFamily="34" charset="-120"/>
              </a:rPr>
              <a:t> Get </a:t>
            </a:r>
            <a:pPr algn="l" indent="0" marL="0">
              <a:buNone/>
            </a:pPr>
            <a:r>
              <a:rPr lang="en-US" sz="937" b="1" i="1" dirty="0">
                <a:solidFill>
                  <a:srgbClr val="4B7FC2"/>
                </a:solidFill>
                <a:latin typeface="Quicksand" pitchFamily="34" charset="0"/>
                <a:ea typeface="Quicksand" pitchFamily="34" charset="-122"/>
                <a:cs typeface="Quicksand" pitchFamily="34" charset="-120"/>
              </a:rPr>
              <a:t>pushy — but professionally.</a:t>
            </a:r>
            <a:endParaRPr lang="en-US" sz="937" dirty="0"/>
          </a:p>
        </p:txBody>
      </p:sp>
      <p:pic>
        <p:nvPicPr>
          <p:cNvPr id="21" name="Image 3" descr="gen-dedup-512e56e34d36a96db0bd3c0798dc81f0.png">    </p:cNvPr>
          <p:cNvPicPr>
            <a:picLocks noChangeAspect="1"/>
          </p:cNvPicPr>
          <p:nvPr/>
        </p:nvPicPr>
        <p:blipFill>
          <a:blip r:embed="rId4"/>
          <a:srcRect l="0" r="0" t="-5" b="-5"/>
          <a:stretch/>
        </p:blipFill>
        <p:spPr>
          <a:xfrm>
            <a:off x="9619488" y="2666390"/>
            <a:ext cx="3237890" cy="3619195"/>
          </a:xfrm>
          <a:prstGeom prst="rect">
            <a:avLst/>
          </a:prstGeom>
        </p:spPr>
      </p:pic>
      <p:sp>
        <p:nvSpPr>
          <p:cNvPr id="22" name="Text 16"/>
          <p:cNvSpPr txBox="1"/>
          <p:nvPr/>
        </p:nvSpPr>
        <p:spPr>
          <a:xfrm>
            <a:off x="9867290" y="2894990"/>
            <a:ext cx="2743200" cy="143561"/>
          </a:xfrm>
          <a:prstGeom prst="rect">
            <a:avLst/>
          </a:prstGeom>
          <a:noFill/>
          <a:ln/>
        </p:spPr>
        <p:txBody>
          <a:bodyPr wrap="none" lIns="0" tIns="0" rIns="0" bIns="0" rtlCol="0" anchor="ctr"/>
          <a:lstStyle/>
          <a:p>
            <a:pPr algn="l" indent="0" marL="0">
              <a:buNone/>
            </a:pPr>
            <a:r>
              <a:rPr lang="en-US" sz="825" b="1" spc="231" kern="0" dirty="0">
                <a:solidFill>
                  <a:srgbClr val="BBDCC1"/>
                </a:solidFill>
                <a:latin typeface="Nunito" pitchFamily="34" charset="0"/>
                <a:ea typeface="Nunito" pitchFamily="34" charset="-122"/>
                <a:cs typeface="Nunito" pitchFamily="34" charset="-120"/>
              </a:rPr>
              <a:t>Friendly persistent</a:t>
            </a:r>
            <a:endParaRPr lang="en-US" sz="825" dirty="0"/>
          </a:p>
        </p:txBody>
      </p:sp>
      <p:sp>
        <p:nvSpPr>
          <p:cNvPr id="23" name="Text 17"/>
          <p:cNvSpPr txBox="1"/>
          <p:nvPr/>
        </p:nvSpPr>
        <p:spPr>
          <a:xfrm>
            <a:off x="9867290" y="3172054"/>
            <a:ext cx="3264408" cy="247802"/>
          </a:xfrm>
          <a:prstGeom prst="rect">
            <a:avLst/>
          </a:prstGeom>
          <a:noFill/>
          <a:ln/>
        </p:spPr>
        <p:txBody>
          <a:bodyPr wrap="none" lIns="0" tIns="0" rIns="0" bIns="0" rtlCol="0" anchor="ctr"/>
          <a:lstStyle/>
          <a:p>
            <a:pPr algn="l" indent="0" marL="0">
              <a:buNone/>
            </a:pPr>
            <a:r>
              <a:rPr lang="en-US" sz="1650" b="1" dirty="0">
                <a:solidFill>
                  <a:srgbClr val="FFFFFF"/>
                </a:solidFill>
                <a:latin typeface="Nunito" pitchFamily="34" charset="0"/>
                <a:ea typeface="Nunito" pitchFamily="34" charset="-122"/>
                <a:cs typeface="Nunito" pitchFamily="34" charset="-120"/>
              </a:rPr>
              <a:t>Get pushy, professionally.</a:t>
            </a:r>
            <a:endParaRPr lang="en-US" sz="1650" dirty="0"/>
          </a:p>
        </p:txBody>
      </p:sp>
      <p:sp>
        <p:nvSpPr>
          <p:cNvPr id="24" name="Text 18"/>
          <p:cNvSpPr txBox="1"/>
          <p:nvPr/>
        </p:nvSpPr>
        <p:spPr>
          <a:xfrm>
            <a:off x="9867290" y="3507638"/>
            <a:ext cx="2743200" cy="372161"/>
          </a:xfrm>
          <a:prstGeom prst="rect">
            <a:avLst/>
          </a:prstGeom>
          <a:noFill/>
          <a:ln/>
        </p:spPr>
        <p:txBody>
          <a:bodyPr wrap="square" lIns="0" tIns="0" rIns="0" bIns="0" rtlCol="0" anchor="ctr"/>
          <a:lstStyle/>
          <a:p>
            <a:pPr algn="l" indent="0" marL="0">
              <a:lnSpc>
                <a:spcPts val="1462"/>
              </a:lnSpc>
              <a:buNone/>
            </a:pPr>
            <a:r>
              <a:rPr lang="en-US" sz="975" dirty="0">
                <a:solidFill>
                  <a:srgbClr val="DDE6EF"/>
                </a:solidFill>
                <a:latin typeface="Quicksand" pitchFamily="34" charset="0"/>
                <a:ea typeface="Quicksand" pitchFamily="34" charset="-122"/>
                <a:cs typeface="Quicksand" pitchFamily="34" charset="-120"/>
              </a:rPr>
              <a:t>You're advocating for a real patient who needs records to feel whole again. Be warm, be firm.</a:t>
            </a:r>
            <a:endParaRPr lang="en-US" sz="975" dirty="0"/>
          </a:p>
        </p:txBody>
      </p:sp>
      <p:sp>
        <p:nvSpPr>
          <p:cNvPr id="25" name="Shape 19"/>
          <p:cNvSpPr/>
          <p:nvPr/>
        </p:nvSpPr>
        <p:spPr>
          <a:xfrm>
            <a:off x="9867290" y="4012387"/>
            <a:ext cx="2743200" cy="981151"/>
          </a:xfrm>
          <a:prstGeom prst="roundRect">
            <a:avLst>
              <a:gd name="adj" fmla="val 13607"/>
            </a:avLst>
          </a:prstGeom>
          <a:solidFill>
            <a:srgbClr val="FFFFFF">
              <a:alpha val="14000"/>
            </a:srgbClr>
          </a:solidFill>
          <a:ln w="12700">
            <a:solidFill>
              <a:srgbClr val="FFFFFF">
                <a:alpha val="0"/>
              </a:srgbClr>
            </a:solidFill>
            <a:prstDash val="solid"/>
          </a:ln>
        </p:spPr>
      </p:sp>
      <p:sp>
        <p:nvSpPr>
          <p:cNvPr id="26" name="Text 20"/>
          <p:cNvSpPr txBox="1"/>
          <p:nvPr/>
        </p:nvSpPr>
        <p:spPr>
          <a:xfrm>
            <a:off x="10000793" y="4145890"/>
            <a:ext cx="2477110" cy="715061"/>
          </a:xfrm>
          <a:prstGeom prst="rect">
            <a:avLst/>
          </a:prstGeom>
          <a:noFill/>
          <a:ln/>
        </p:spPr>
        <p:txBody>
          <a:bodyPr wrap="square" lIns="0" tIns="0" rIns="0" bIns="0" rtlCol="0" anchor="ctr"/>
          <a:lstStyle/>
          <a:p>
            <a:pPr algn="l" indent="0" marL="0">
              <a:lnSpc>
                <a:spcPts val="1406"/>
              </a:lnSpc>
              <a:buNone/>
            </a:pPr>
            <a:r>
              <a:rPr lang="en-US" sz="937" b="1" i="1" dirty="0">
                <a:solidFill>
                  <a:srgbClr val="BBDCC1"/>
                </a:solidFill>
                <a:latin typeface="Quicksand" pitchFamily="34" charset="0"/>
                <a:ea typeface="Quicksand" pitchFamily="34" charset="-122"/>
                <a:cs typeface="Quicksand" pitchFamily="34" charset="-120"/>
              </a:rPr>
              <a:t>"I spoke with _________ who said records would arrive by _________. They still haven't — we need them for tomorrow's appointment."</a:t>
            </a:r>
            <a:endParaRPr lang="en-US" sz="937" dirty="0"/>
          </a:p>
        </p:txBody>
      </p:sp>
      <p:sp>
        <p:nvSpPr>
          <p:cNvPr id="27" name="Shape 21"/>
          <p:cNvSpPr/>
          <p:nvPr/>
        </p:nvSpPr>
        <p:spPr>
          <a:xfrm>
            <a:off x="856793" y="6495898"/>
            <a:ext cx="4295851" cy="742493"/>
          </a:xfrm>
          <a:prstGeom prst="roundRect">
            <a:avLst>
              <a:gd name="adj" fmla="val 23030"/>
            </a:avLst>
          </a:prstGeom>
          <a:solidFill>
            <a:srgbClr val="2C4252"/>
          </a:solidFill>
          <a:ln w="12700">
            <a:solidFill>
              <a:srgbClr val="FFFFFF">
                <a:alpha val="0"/>
              </a:srgbClr>
            </a:solidFill>
            <a:prstDash val="solid"/>
          </a:ln>
        </p:spPr>
      </p:sp>
      <p:sp>
        <p:nvSpPr>
          <p:cNvPr id="28" name="Shape 22"/>
          <p:cNvSpPr/>
          <p:nvPr/>
        </p:nvSpPr>
        <p:spPr>
          <a:xfrm>
            <a:off x="1067105" y="6666890"/>
            <a:ext cx="399593" cy="399593"/>
          </a:xfrm>
          <a:prstGeom prst="roundRect">
            <a:avLst>
              <a:gd name="adj" fmla="val 33410"/>
            </a:avLst>
          </a:prstGeom>
          <a:solidFill>
            <a:srgbClr val="BBDCC1"/>
          </a:solidFill>
          <a:ln w="12700">
            <a:solidFill>
              <a:srgbClr val="FFFFFF">
                <a:alpha val="0"/>
              </a:srgbClr>
            </a:solidFill>
            <a:prstDash val="solid"/>
          </a:ln>
        </p:spPr>
      </p:sp>
      <p:sp>
        <p:nvSpPr>
          <p:cNvPr id="29" name="Text 23"/>
          <p:cNvSpPr txBox="1"/>
          <p:nvPr/>
        </p:nvSpPr>
        <p:spPr>
          <a:xfrm>
            <a:off x="1067105" y="6666890"/>
            <a:ext cx="400507" cy="400507"/>
          </a:xfrm>
          <a:prstGeom prst="rect">
            <a:avLst/>
          </a:prstGeom>
          <a:solidFill>
            <a:srgbClr val="FFFFFF">
              <a:alpha val="0"/>
            </a:srgbClr>
          </a:solidFill>
          <a:ln>
            <a:solidFill>
              <a:srgbClr val="FFFFFF">
                <a:alpha val="0"/>
              </a:srgbClr>
            </a:solidFill>
          </a:ln>
        </p:spPr>
        <p:txBody>
          <a:bodyPr wrap="square" lIns="0" tIns="0" rIns="0" bIns="0" rtlCol="0" anchor="ctr"/>
          <a:lstStyle/>
          <a:p>
            <a:pPr algn="ctr" indent="0" marL="0">
              <a:buNone/>
            </a:pPr>
            <a:r>
              <a:rPr lang="en-US" sz="1350" b="1" dirty="0">
                <a:solidFill>
                  <a:srgbClr val="2C4252"/>
                </a:solidFill>
                <a:latin typeface="Nunito" pitchFamily="34" charset="0"/>
                <a:ea typeface="Nunito" pitchFamily="34" charset="-122"/>
                <a:cs typeface="Nunito" pitchFamily="34" charset="-120"/>
              </a:rPr>
              <a:t>↻</a:t>
            </a:r>
            <a:endParaRPr lang="en-US" sz="1350" dirty="0"/>
          </a:p>
        </p:txBody>
      </p:sp>
      <p:sp>
        <p:nvSpPr>
          <p:cNvPr id="30" name="Text 24"/>
          <p:cNvSpPr txBox="1"/>
          <p:nvPr/>
        </p:nvSpPr>
        <p:spPr>
          <a:xfrm>
            <a:off x="1619402" y="6776618"/>
            <a:ext cx="3937406" cy="181051"/>
          </a:xfrm>
          <a:prstGeom prst="rect">
            <a:avLst/>
          </a:prstGeom>
          <a:noFill/>
          <a:ln/>
        </p:spPr>
        <p:txBody>
          <a:bodyPr wrap="none" lIns="0" tIns="0" rIns="0" bIns="0" rtlCol="0" anchor="ctr"/>
          <a:lstStyle/>
          <a:p>
            <a:pPr algn="l" indent="0" marL="0">
              <a:buNone/>
            </a:pPr>
            <a:r>
              <a:rPr lang="en-US" sz="1125" b="1" dirty="0">
                <a:solidFill>
                  <a:srgbClr val="FFFFFF"/>
                </a:solidFill>
                <a:latin typeface="Quicksand" pitchFamily="34" charset="0"/>
                <a:ea typeface="Quicksand" pitchFamily="34" charset="-122"/>
                <a:cs typeface="Quicksand" pitchFamily="34" charset="-120"/>
              </a:rPr>
              <a:t>Repeat these steps until the request is received.</a:t>
            </a:r>
            <a:endParaRPr lang="en-US" sz="1125"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7F2"/>
        </a:solidFill>
      </p:bgPr>
    </p:bg>
    <p:spTree>
      <p:nvGrpSpPr>
        <p:cNvPr id="1" name=""/>
        <p:cNvGrpSpPr/>
        <p:nvPr/>
      </p:nvGrpSpPr>
      <p:grpSpPr>
        <a:xfrm>
          <a:off x="0" y="0"/>
          <a:ext cx="0" cy="0"/>
          <a:chOff x="0" y="0"/>
          <a:chExt cx="0" cy="0"/>
        </a:xfrm>
      </p:grpSpPr>
      <p:pic>
        <p:nvPicPr>
          <p:cNvPr id="2" name="Image 0" descr="gen-dedup-0477ce9e1508341eada0109158e3675e.png">    </p:cNvPr>
          <p:cNvPicPr>
            <a:picLocks noChangeAspect="1"/>
          </p:cNvPicPr>
          <p:nvPr/>
        </p:nvPicPr>
        <p:blipFill>
          <a:blip r:embed="rId1">
            <a:alphaModFix amt="40000"/>
          </a:blip>
          <a:srcRect l="0" r="0" t="0" b="0"/>
          <a:stretch/>
        </p:blipFill>
        <p:spPr>
          <a:xfrm>
            <a:off x="11620195" y="-1524305"/>
            <a:ext cx="3619195" cy="3619195"/>
          </a:xfrm>
          <a:prstGeom prst="rect">
            <a:avLst/>
          </a:prstGeom>
        </p:spPr>
      </p:pic>
      <p:pic>
        <p:nvPicPr>
          <p:cNvPr id="3" name="Image 1" descr="gen-dedup-a4f4ed4bcd0a841775521fa2e27ecca6.png">    </p:cNvPr>
          <p:cNvPicPr>
            <a:picLocks noChangeAspect="1"/>
          </p:cNvPicPr>
          <p:nvPr/>
        </p:nvPicPr>
        <p:blipFill>
          <a:blip r:embed="rId2">
            <a:alphaModFix amt="50000"/>
          </a:blip>
          <a:srcRect l="0" r="0" t="0" b="0"/>
          <a:stretch/>
        </p:blipFill>
        <p:spPr>
          <a:xfrm>
            <a:off x="-1714500" y="6000293"/>
            <a:ext cx="3429000" cy="3429000"/>
          </a:xfrm>
          <a:prstGeom prst="rect">
            <a:avLst/>
          </a:prstGeom>
        </p:spPr>
      </p:pic>
      <p:sp>
        <p:nvSpPr>
          <p:cNvPr id="4" name="Shape 0"/>
          <p:cNvSpPr/>
          <p:nvPr/>
        </p:nvSpPr>
        <p:spPr>
          <a:xfrm>
            <a:off x="856793" y="705002"/>
            <a:ext cx="1600200" cy="323698"/>
          </a:xfrm>
          <a:prstGeom prst="roundRect">
            <a:avLst>
              <a:gd name="adj" fmla="val 50000"/>
            </a:avLst>
          </a:prstGeom>
          <a:solidFill>
            <a:srgbClr val="F4A78B"/>
          </a:solidFill>
          <a:ln w="12700">
            <a:solidFill>
              <a:srgbClr val="FFFFFF">
                <a:alpha val="0"/>
              </a:srgbClr>
            </a:solidFill>
            <a:prstDash val="solid"/>
          </a:ln>
        </p:spPr>
      </p:sp>
      <p:sp>
        <p:nvSpPr>
          <p:cNvPr id="5" name="Text 1"/>
          <p:cNvSpPr/>
          <p:nvPr/>
        </p:nvSpPr>
        <p:spPr>
          <a:xfrm>
            <a:off x="856793" y="705002"/>
            <a:ext cx="1600200" cy="324612"/>
          </a:xfrm>
          <a:prstGeom prst="rect">
            <a:avLst/>
          </a:prstGeom>
          <a:solidFill>
            <a:srgbClr val="FFFFFF">
              <a:alpha val="0"/>
            </a:srgbClr>
          </a:solidFill>
          <a:ln>
            <a:solidFill>
              <a:srgbClr val="FFFFFF">
                <a:alpha val="0"/>
              </a:srgbClr>
            </a:solidFill>
          </a:ln>
        </p:spPr>
        <p:txBody>
          <a:bodyPr wrap="none" lIns="190500" tIns="76200" rIns="190500" bIns="76200" rtlCol="0" anchor="ctr"/>
          <a:lstStyle/>
          <a:p>
            <a:pPr algn="ctr" indent="0" marL="0">
              <a:buNone/>
            </a:pPr>
            <a:r>
              <a:rPr lang="en-US" sz="975" b="1" spc="214" kern="0" dirty="0">
                <a:solidFill>
                  <a:srgbClr val="7A2E1A"/>
                </a:solidFill>
                <a:latin typeface="Nunito" pitchFamily="34" charset="0"/>
                <a:ea typeface="Nunito" pitchFamily="34" charset="-122"/>
                <a:cs typeface="Nunito" pitchFamily="34" charset="-120"/>
              </a:rPr>
              <a:t>Special case</a:t>
            </a:r>
            <a:endParaRPr lang="en-US" sz="975" dirty="0"/>
          </a:p>
        </p:txBody>
      </p:sp>
      <p:sp>
        <p:nvSpPr>
          <p:cNvPr id="6" name="Text 2"/>
          <p:cNvSpPr txBox="1"/>
          <p:nvPr/>
        </p:nvSpPr>
        <p:spPr>
          <a:xfrm>
            <a:off x="856793" y="1238098"/>
            <a:ext cx="12001500" cy="1086307"/>
          </a:xfrm>
          <a:prstGeom prst="rect">
            <a:avLst/>
          </a:prstGeom>
          <a:noFill/>
          <a:ln/>
        </p:spPr>
        <p:txBody>
          <a:bodyPr wrap="square" lIns="0" tIns="0" rIns="0" bIns="0" rtlCol="0" anchor="ctr"/>
          <a:lstStyle/>
          <a:p>
            <a:pPr algn="l" indent="0" marL="0">
              <a:lnSpc>
                <a:spcPct val="105000"/>
              </a:lnSpc>
              <a:buNone/>
            </a:pPr>
            <a:r>
              <a:rPr lang="en-US" sz="4050" b="1" spc="-81" kern="0" dirty="0">
                <a:solidFill>
                  <a:srgbClr val="2C4252"/>
                </a:solidFill>
                <a:latin typeface="Nunito" pitchFamily="34" charset="0"/>
                <a:ea typeface="Nunito" pitchFamily="34" charset="-122"/>
                <a:cs typeface="Nunito" pitchFamily="34" charset="-120"/>
              </a:rPr>
              <a:t>If a request was denied — </a:t>
            </a:r>
            <a:pPr algn="l" indent="0" marL="0">
              <a:lnSpc>
                <a:spcPct val="105000"/>
              </a:lnSpc>
              <a:buNone/>
            </a:pPr>
            <a:r>
              <a:rPr lang="en-US" sz="4050" b="1" spc="-81" kern="0" dirty="0">
                <a:solidFill>
                  <a:srgbClr val="C75C2E"/>
                </a:solidFill>
                <a:latin typeface="Nunito" pitchFamily="34" charset="0"/>
                <a:ea typeface="Nunito" pitchFamily="34" charset="-122"/>
                <a:cs typeface="Nunito" pitchFamily="34" charset="-120"/>
              </a:rPr>
              <a:t>patient not found</a:t>
            </a:r>
            <a:pPr algn="l" indent="0" marL="0">
              <a:lnSpc>
                <a:spcPct val="105000"/>
              </a:lnSpc>
              <a:buNone/>
            </a:pPr>
            <a:r>
              <a:rPr lang="en-US" sz="4050" b="1" spc="-81" kern="0" dirty="0">
                <a:solidFill>
                  <a:srgbClr val="2C4252"/>
                </a:solidFill>
                <a:latin typeface="Nunito" pitchFamily="34" charset="0"/>
                <a:ea typeface="Nunito" pitchFamily="34" charset="-122"/>
                <a:cs typeface="Nunito" pitchFamily="34" charset="-120"/>
              </a:rPr>
              <a:t> in the system.</a:t>
            </a:r>
            <a:endParaRPr lang="en-US" sz="4050" dirty="0"/>
          </a:p>
        </p:txBody>
      </p:sp>
      <p:pic>
        <p:nvPicPr>
          <p:cNvPr id="7" name="Image 2" descr="gen-dedup-6a61fa0fae4bab1c685367fbe9b2b03d.png">    </p:cNvPr>
          <p:cNvPicPr>
            <a:picLocks noChangeAspect="1"/>
          </p:cNvPicPr>
          <p:nvPr/>
        </p:nvPicPr>
        <p:blipFill>
          <a:blip r:embed="rId3"/>
          <a:srcRect l="-23" r="-23" t="0" b="0"/>
          <a:stretch/>
        </p:blipFill>
        <p:spPr>
          <a:xfrm>
            <a:off x="856793" y="2286000"/>
            <a:ext cx="12000586" cy="856793"/>
          </a:xfrm>
          <a:prstGeom prst="rect">
            <a:avLst/>
          </a:prstGeom>
        </p:spPr>
      </p:pic>
      <p:sp>
        <p:nvSpPr>
          <p:cNvPr id="8" name="Shape 3"/>
          <p:cNvSpPr/>
          <p:nvPr/>
        </p:nvSpPr>
        <p:spPr>
          <a:xfrm>
            <a:off x="1085393" y="2476195"/>
            <a:ext cx="476402" cy="476402"/>
          </a:xfrm>
          <a:prstGeom prst="roundRect">
            <a:avLst>
              <a:gd name="adj" fmla="val 28023"/>
            </a:avLst>
          </a:prstGeom>
          <a:solidFill>
            <a:srgbClr val="7A2E1A"/>
          </a:solidFill>
          <a:ln w="12700">
            <a:solidFill>
              <a:srgbClr val="FFFFFF">
                <a:alpha val="0"/>
              </a:srgbClr>
            </a:solidFill>
            <a:prstDash val="solid"/>
          </a:ln>
        </p:spPr>
      </p:sp>
      <p:sp>
        <p:nvSpPr>
          <p:cNvPr id="9" name="Text 4"/>
          <p:cNvSpPr txBox="1"/>
          <p:nvPr/>
        </p:nvSpPr>
        <p:spPr>
          <a:xfrm>
            <a:off x="1085393" y="2476195"/>
            <a:ext cx="476402" cy="476402"/>
          </a:xfrm>
          <a:prstGeom prst="rect">
            <a:avLst/>
          </a:prstGeom>
          <a:solidFill>
            <a:srgbClr val="FFFFFF">
              <a:alpha val="0"/>
            </a:srgbClr>
          </a:solidFill>
          <a:ln>
            <a:solidFill>
              <a:srgbClr val="FFFFFF">
                <a:alpha val="0"/>
              </a:srgbClr>
            </a:solidFill>
          </a:ln>
        </p:spPr>
        <p:txBody>
          <a:bodyPr wrap="square" lIns="0" tIns="0" rIns="0" bIns="0" rtlCol="0" anchor="ctr"/>
          <a:lstStyle/>
          <a:p>
            <a:pPr algn="ctr" indent="0" marL="0">
              <a:buNone/>
            </a:pPr>
            <a:r>
              <a:rPr lang="en-US" sz="1800" b="1" dirty="0">
                <a:solidFill>
                  <a:srgbClr val="FFD95C"/>
                </a:solidFill>
                <a:latin typeface="Nunito" pitchFamily="34" charset="0"/>
                <a:ea typeface="Nunito" pitchFamily="34" charset="-122"/>
                <a:cs typeface="Nunito" pitchFamily="34" charset="-120"/>
              </a:rPr>
              <a:t>!</a:t>
            </a:r>
            <a:endParaRPr lang="en-US" sz="1800" dirty="0"/>
          </a:p>
        </p:txBody>
      </p:sp>
      <p:sp>
        <p:nvSpPr>
          <p:cNvPr id="10" name="Text 5"/>
          <p:cNvSpPr txBox="1"/>
          <p:nvPr/>
        </p:nvSpPr>
        <p:spPr>
          <a:xfrm>
            <a:off x="1714500" y="2497226"/>
            <a:ext cx="4846320" cy="228600"/>
          </a:xfrm>
          <a:prstGeom prst="rect">
            <a:avLst/>
          </a:prstGeom>
          <a:noFill/>
          <a:ln/>
        </p:spPr>
        <p:txBody>
          <a:bodyPr wrap="none" lIns="0" tIns="0" rIns="0" bIns="0" rtlCol="0" anchor="ctr"/>
          <a:lstStyle/>
          <a:p>
            <a:pPr algn="l" indent="0" marL="0">
              <a:buNone/>
            </a:pPr>
            <a:r>
              <a:rPr lang="en-US" sz="1350" b="1" dirty="0">
                <a:solidFill>
                  <a:srgbClr val="7A2E1A"/>
                </a:solidFill>
                <a:latin typeface="Nunito" pitchFamily="34" charset="0"/>
                <a:ea typeface="Nunito" pitchFamily="34" charset="-122"/>
                <a:cs typeface="Nunito" pitchFamily="34" charset="-120"/>
              </a:rPr>
              <a:t>Before marking a row red — try these in order.</a:t>
            </a:r>
            <a:endParaRPr lang="en-US" sz="1350" dirty="0"/>
          </a:p>
        </p:txBody>
      </p:sp>
      <p:sp>
        <p:nvSpPr>
          <p:cNvPr id="11" name="Text 6"/>
          <p:cNvSpPr txBox="1"/>
          <p:nvPr/>
        </p:nvSpPr>
        <p:spPr>
          <a:xfrm>
            <a:off x="1714500" y="2745029"/>
            <a:ext cx="5153558" cy="191110"/>
          </a:xfrm>
          <a:prstGeom prst="rect">
            <a:avLst/>
          </a:prstGeom>
          <a:noFill/>
          <a:ln/>
        </p:spPr>
        <p:txBody>
          <a:bodyPr wrap="none" lIns="0" tIns="0" rIns="0" bIns="0" rtlCol="0" anchor="ctr"/>
          <a:lstStyle/>
          <a:p>
            <a:pPr algn="l" indent="0" marL="0">
              <a:buNone/>
            </a:pPr>
            <a:r>
              <a:rPr lang="en-US" sz="1050" dirty="0">
                <a:solidFill>
                  <a:srgbClr val="7A2E1A"/>
                </a:solidFill>
                <a:latin typeface="Quicksand" pitchFamily="34" charset="0"/>
                <a:ea typeface="Quicksand" pitchFamily="34" charset="-122"/>
                <a:cs typeface="Quicksand" pitchFamily="34" charset="-120"/>
              </a:rPr>
              <a:t>We only flip to red </a:t>
            </a:r>
            <a:pPr algn="l" indent="0" marL="0">
              <a:buNone/>
            </a:pPr>
            <a:r>
              <a:rPr lang="en-US" sz="1050" b="1" dirty="0">
                <a:solidFill>
                  <a:srgbClr val="7A2E1A"/>
                </a:solidFill>
                <a:latin typeface="Quicksand" pitchFamily="34" charset="0"/>
                <a:ea typeface="Quicksand" pitchFamily="34" charset="-122"/>
                <a:cs typeface="Quicksand" pitchFamily="34" charset="-120"/>
              </a:rPr>
              <a:t>after trying everything</a:t>
            </a:r>
            <a:pPr algn="l" indent="0" marL="0">
              <a:buNone/>
            </a:pPr>
            <a:r>
              <a:rPr lang="en-US" sz="1050" dirty="0">
                <a:solidFill>
                  <a:srgbClr val="7A2E1A"/>
                </a:solidFill>
                <a:latin typeface="Quicksand" pitchFamily="34" charset="0"/>
                <a:ea typeface="Quicksand" pitchFamily="34" charset="-122"/>
                <a:cs typeface="Quicksand" pitchFamily="34" charset="-120"/>
              </a:rPr>
              <a:t>. Confirm first, then escalate.</a:t>
            </a:r>
            <a:endParaRPr lang="en-US" sz="1050" dirty="0"/>
          </a:p>
        </p:txBody>
      </p:sp>
      <p:pic>
        <p:nvPicPr>
          <p:cNvPr id="12" name="Image 3" descr="gen-dedup-2ab6eb2f0b499958aab5a4352e7bbe3c.png">    </p:cNvPr>
          <p:cNvPicPr>
            <a:picLocks noChangeAspect="1"/>
          </p:cNvPicPr>
          <p:nvPr/>
        </p:nvPicPr>
        <p:blipFill>
          <a:blip r:embed="rId4"/>
          <a:srcRect l="0" r="0" t="-3" b="-3"/>
          <a:stretch/>
        </p:blipFill>
        <p:spPr>
          <a:xfrm>
            <a:off x="856793" y="3381451"/>
            <a:ext cx="3886200" cy="2558491"/>
          </a:xfrm>
          <a:prstGeom prst="rect">
            <a:avLst/>
          </a:prstGeom>
        </p:spPr>
      </p:pic>
      <p:sp>
        <p:nvSpPr>
          <p:cNvPr id="13" name="Shape 7"/>
          <p:cNvSpPr/>
          <p:nvPr/>
        </p:nvSpPr>
        <p:spPr>
          <a:xfrm>
            <a:off x="1104595" y="3629254"/>
            <a:ext cx="513893" cy="513893"/>
          </a:xfrm>
          <a:prstGeom prst="roundRect">
            <a:avLst>
              <a:gd name="adj" fmla="val 29715"/>
            </a:avLst>
          </a:prstGeom>
          <a:solidFill>
            <a:srgbClr val="F4A78B"/>
          </a:solidFill>
          <a:ln w="12700">
            <a:solidFill>
              <a:srgbClr val="FFFFFF">
                <a:alpha val="0"/>
              </a:srgbClr>
            </a:solidFill>
            <a:prstDash val="solid"/>
          </a:ln>
        </p:spPr>
      </p:sp>
      <p:sp>
        <p:nvSpPr>
          <p:cNvPr id="14" name="Text 8"/>
          <p:cNvSpPr/>
          <p:nvPr/>
        </p:nvSpPr>
        <p:spPr>
          <a:xfrm>
            <a:off x="1104595" y="3629254"/>
            <a:ext cx="514807" cy="514807"/>
          </a:xfrm>
          <a:prstGeom prst="rect">
            <a:avLst/>
          </a:prstGeom>
          <a:solidFill>
            <a:srgbClr val="FFFFFF">
              <a:alpha val="0"/>
            </a:srgbClr>
          </a:solidFill>
          <a:ln>
            <a:solidFill>
              <a:srgbClr val="FFFFFF">
                <a:alpha val="0"/>
              </a:srgbClr>
            </a:solidFill>
          </a:ln>
        </p:spPr>
        <p:txBody>
          <a:bodyPr wrap="none" lIns="0" tIns="0" rIns="0" bIns="0" rtlCol="0" anchor="ctr"/>
          <a:lstStyle/>
          <a:p>
            <a:pPr algn="ctr" indent="0" marL="0">
              <a:buNone/>
            </a:pPr>
            <a:r>
              <a:rPr lang="en-US" sz="1650" b="1" dirty="0">
                <a:solidFill>
                  <a:srgbClr val="7A2E1A"/>
                </a:solidFill>
                <a:latin typeface="Nunito" pitchFamily="34" charset="0"/>
                <a:ea typeface="Nunito" pitchFamily="34" charset="-122"/>
                <a:cs typeface="Nunito" pitchFamily="34" charset="-120"/>
              </a:rPr>
              <a:t>01</a:t>
            </a:r>
            <a:endParaRPr lang="en-US" sz="1650" dirty="0"/>
          </a:p>
        </p:txBody>
      </p:sp>
      <p:sp>
        <p:nvSpPr>
          <p:cNvPr id="15" name="Text 9"/>
          <p:cNvSpPr txBox="1"/>
          <p:nvPr/>
        </p:nvSpPr>
        <p:spPr>
          <a:xfrm>
            <a:off x="1104595" y="4276649"/>
            <a:ext cx="3391510" cy="210312"/>
          </a:xfrm>
          <a:prstGeom prst="rect">
            <a:avLst/>
          </a:prstGeom>
          <a:noFill/>
          <a:ln/>
        </p:spPr>
        <p:txBody>
          <a:bodyPr wrap="none" lIns="0" tIns="0" rIns="0" bIns="0" rtlCol="0" anchor="ctr"/>
          <a:lstStyle/>
          <a:p>
            <a:pPr algn="l" indent="0" marL="0">
              <a:buNone/>
            </a:pPr>
            <a:r>
              <a:rPr lang="en-US" sz="1350" b="1" dirty="0">
                <a:solidFill>
                  <a:srgbClr val="2C4252"/>
                </a:solidFill>
                <a:latin typeface="Nunito" pitchFamily="34" charset="0"/>
                <a:ea typeface="Nunito" pitchFamily="34" charset="-122"/>
                <a:cs typeface="Nunito" pitchFamily="34" charset="-120"/>
              </a:rPr>
              <a:t>Confirm identity info</a:t>
            </a:r>
            <a:endParaRPr lang="en-US" sz="1350" dirty="0"/>
          </a:p>
        </p:txBody>
      </p:sp>
      <p:sp>
        <p:nvSpPr>
          <p:cNvPr id="16" name="Text 10"/>
          <p:cNvSpPr txBox="1"/>
          <p:nvPr/>
        </p:nvSpPr>
        <p:spPr>
          <a:xfrm>
            <a:off x="1104595" y="4558284"/>
            <a:ext cx="3391510" cy="600761"/>
          </a:xfrm>
          <a:prstGeom prst="rect">
            <a:avLst/>
          </a:prstGeom>
          <a:noFill/>
          <a:ln/>
        </p:spPr>
        <p:txBody>
          <a:bodyPr wrap="square" lIns="0" tIns="0" rIns="0" bIns="0" rtlCol="0" anchor="ctr"/>
          <a:lstStyle/>
          <a:p>
            <a:pPr algn="l" indent="0" marL="0">
              <a:lnSpc>
                <a:spcPts val="1575"/>
              </a:lnSpc>
              <a:buNone/>
            </a:pPr>
            <a:r>
              <a:rPr lang="en-US" sz="1050" dirty="0">
                <a:solidFill>
                  <a:srgbClr val="3F5566"/>
                </a:solidFill>
                <a:latin typeface="Quicksand" pitchFamily="34" charset="0"/>
                <a:ea typeface="Quicksand" pitchFamily="34" charset="-122"/>
                <a:cs typeface="Quicksand" pitchFamily="34" charset="-120"/>
              </a:rPr>
              <a:t>Verify the DOB and correct spelling of the patient's </a:t>
            </a:r>
            <a:pPr algn="l" indent="0" marL="0">
              <a:lnSpc>
                <a:spcPts val="1575"/>
              </a:lnSpc>
              <a:buNone/>
            </a:pPr>
            <a:r>
              <a:rPr lang="en-US" sz="1050" b="1" dirty="0">
                <a:solidFill>
                  <a:srgbClr val="2C4252"/>
                </a:solidFill>
                <a:latin typeface="Quicksand" pitchFamily="34" charset="0"/>
                <a:ea typeface="Quicksand" pitchFamily="34" charset="-122"/>
                <a:cs typeface="Quicksand" pitchFamily="34" charset="-120"/>
              </a:rPr>
              <a:t>name</a:t>
            </a:r>
            <a:pPr algn="l" indent="0" marL="0">
              <a:lnSpc>
                <a:spcPts val="1575"/>
              </a:lnSpc>
              <a:buNone/>
            </a:pPr>
            <a:r>
              <a:rPr lang="en-US" sz="1050" dirty="0">
                <a:solidFill>
                  <a:srgbClr val="3F5566"/>
                </a:solidFill>
                <a:latin typeface="Quicksand" pitchFamily="34" charset="0"/>
                <a:ea typeface="Quicksand" pitchFamily="34" charset="-122"/>
                <a:cs typeface="Quicksand" pitchFamily="34" charset="-120"/>
              </a:rPr>
              <a:t>. If anything's off, request the right info from the MR department via team chat.</a:t>
            </a:r>
            <a:endParaRPr lang="en-US" sz="1050" dirty="0"/>
          </a:p>
        </p:txBody>
      </p:sp>
      <p:pic>
        <p:nvPicPr>
          <p:cNvPr id="17" name="Image 4" descr="gen-dedup-2ab6eb2f0b499958aab5a4352e7bbe3c.png">    </p:cNvPr>
          <p:cNvPicPr>
            <a:picLocks noChangeAspect="1"/>
          </p:cNvPicPr>
          <p:nvPr/>
        </p:nvPicPr>
        <p:blipFill>
          <a:blip r:embed="rId5"/>
          <a:srcRect l="0" r="0" t="-3" b="-3"/>
          <a:stretch/>
        </p:blipFill>
        <p:spPr>
          <a:xfrm>
            <a:off x="4914900" y="3381451"/>
            <a:ext cx="3886200" cy="2558491"/>
          </a:xfrm>
          <a:prstGeom prst="rect">
            <a:avLst/>
          </a:prstGeom>
        </p:spPr>
      </p:pic>
      <p:sp>
        <p:nvSpPr>
          <p:cNvPr id="18" name="Shape 11"/>
          <p:cNvSpPr/>
          <p:nvPr/>
        </p:nvSpPr>
        <p:spPr>
          <a:xfrm>
            <a:off x="5161788" y="3629254"/>
            <a:ext cx="513893" cy="513893"/>
          </a:xfrm>
          <a:prstGeom prst="roundRect">
            <a:avLst>
              <a:gd name="adj" fmla="val 29715"/>
            </a:avLst>
          </a:prstGeom>
          <a:solidFill>
            <a:srgbClr val="BFD8E9"/>
          </a:solidFill>
          <a:ln w="12700">
            <a:solidFill>
              <a:srgbClr val="FFFFFF">
                <a:alpha val="0"/>
              </a:srgbClr>
            </a:solidFill>
            <a:prstDash val="solid"/>
          </a:ln>
        </p:spPr>
      </p:sp>
      <p:sp>
        <p:nvSpPr>
          <p:cNvPr id="19" name="Text 12"/>
          <p:cNvSpPr/>
          <p:nvPr/>
        </p:nvSpPr>
        <p:spPr>
          <a:xfrm>
            <a:off x="5161788" y="3629254"/>
            <a:ext cx="514807" cy="514807"/>
          </a:xfrm>
          <a:prstGeom prst="rect">
            <a:avLst/>
          </a:prstGeom>
          <a:solidFill>
            <a:srgbClr val="FFFFFF">
              <a:alpha val="0"/>
            </a:srgbClr>
          </a:solidFill>
          <a:ln>
            <a:solidFill>
              <a:srgbClr val="FFFFFF">
                <a:alpha val="0"/>
              </a:srgbClr>
            </a:solidFill>
          </a:ln>
        </p:spPr>
        <p:txBody>
          <a:bodyPr wrap="none" lIns="0" tIns="0" rIns="0" bIns="0" rtlCol="0" anchor="ctr"/>
          <a:lstStyle/>
          <a:p>
            <a:pPr algn="ctr" indent="0" marL="0">
              <a:buNone/>
            </a:pPr>
            <a:r>
              <a:rPr lang="en-US" sz="1650" b="1" dirty="0">
                <a:solidFill>
                  <a:srgbClr val="2C4252"/>
                </a:solidFill>
                <a:latin typeface="Nunito" pitchFamily="34" charset="0"/>
                <a:ea typeface="Nunito" pitchFamily="34" charset="-122"/>
                <a:cs typeface="Nunito" pitchFamily="34" charset="-120"/>
              </a:rPr>
              <a:t>02</a:t>
            </a:r>
            <a:endParaRPr lang="en-US" sz="1650" dirty="0"/>
          </a:p>
        </p:txBody>
      </p:sp>
      <p:sp>
        <p:nvSpPr>
          <p:cNvPr id="20" name="Text 13"/>
          <p:cNvSpPr txBox="1"/>
          <p:nvPr/>
        </p:nvSpPr>
        <p:spPr>
          <a:xfrm>
            <a:off x="5161788" y="4276649"/>
            <a:ext cx="3391510" cy="210312"/>
          </a:xfrm>
          <a:prstGeom prst="rect">
            <a:avLst/>
          </a:prstGeom>
          <a:noFill/>
          <a:ln/>
        </p:spPr>
        <p:txBody>
          <a:bodyPr wrap="none" lIns="0" tIns="0" rIns="0" bIns="0" rtlCol="0" anchor="ctr"/>
          <a:lstStyle/>
          <a:p>
            <a:pPr algn="l" indent="0" marL="0">
              <a:buNone/>
            </a:pPr>
            <a:r>
              <a:rPr lang="en-US" sz="1350" b="1" dirty="0">
                <a:solidFill>
                  <a:srgbClr val="2C4252"/>
                </a:solidFill>
                <a:latin typeface="Nunito" pitchFamily="34" charset="0"/>
                <a:ea typeface="Nunito" pitchFamily="34" charset="-122"/>
                <a:cs typeface="Nunito" pitchFamily="34" charset="-120"/>
              </a:rPr>
              <a:t>Check the fax number</a:t>
            </a:r>
            <a:endParaRPr lang="en-US" sz="1350" dirty="0"/>
          </a:p>
        </p:txBody>
      </p:sp>
      <p:sp>
        <p:nvSpPr>
          <p:cNvPr id="21" name="Text 14"/>
          <p:cNvSpPr txBox="1"/>
          <p:nvPr/>
        </p:nvSpPr>
        <p:spPr>
          <a:xfrm>
            <a:off x="5161788" y="4558284"/>
            <a:ext cx="3391510" cy="600761"/>
          </a:xfrm>
          <a:prstGeom prst="rect">
            <a:avLst/>
          </a:prstGeom>
          <a:noFill/>
          <a:ln/>
        </p:spPr>
        <p:txBody>
          <a:bodyPr wrap="square" lIns="0" tIns="0" rIns="0" bIns="0" rtlCol="0" anchor="ctr"/>
          <a:lstStyle/>
          <a:p>
            <a:pPr algn="l" indent="0" marL="0">
              <a:lnSpc>
                <a:spcPts val="1575"/>
              </a:lnSpc>
              <a:buNone/>
            </a:pPr>
            <a:r>
              <a:rPr lang="en-US" sz="1050" dirty="0">
                <a:solidFill>
                  <a:srgbClr val="3F5566"/>
                </a:solidFill>
                <a:latin typeface="Quicksand" pitchFamily="34" charset="0"/>
                <a:ea typeface="Quicksand" pitchFamily="34" charset="-122"/>
                <a:cs typeface="Quicksand" pitchFamily="34" charset="-120"/>
              </a:rPr>
              <a:t>Confirm the fax number the request was originally sent to — always in </a:t>
            </a:r>
            <a:pPr algn="l" indent="0" marL="0">
              <a:lnSpc>
                <a:spcPts val="1575"/>
              </a:lnSpc>
              <a:buNone/>
            </a:pPr>
            <a:r>
              <a:rPr lang="en-US" sz="1050" b="1" dirty="0">
                <a:solidFill>
                  <a:srgbClr val="2C4252"/>
                </a:solidFill>
                <a:latin typeface="Quicksand" pitchFamily="34" charset="0"/>
                <a:ea typeface="Quicksand" pitchFamily="34" charset="-122"/>
                <a:cs typeface="Quicksand" pitchFamily="34" charset="-120"/>
              </a:rPr>
              <a:t>column 5</a:t>
            </a:r>
            <a:pPr algn="l" indent="0" marL="0">
              <a:lnSpc>
                <a:spcPts val="1575"/>
              </a:lnSpc>
              <a:buNone/>
            </a:pPr>
            <a:r>
              <a:rPr lang="en-US" sz="1050" dirty="0">
                <a:solidFill>
                  <a:srgbClr val="3F5566"/>
                </a:solidFill>
                <a:latin typeface="Quicksand" pitchFamily="34" charset="0"/>
                <a:ea typeface="Quicksand" pitchFamily="34" charset="-122"/>
                <a:cs typeface="Quicksand" pitchFamily="34" charset="-120"/>
              </a:rPr>
              <a:t> of the log. If they have a new one, share it with the team so they can update.</a:t>
            </a:r>
            <a:endParaRPr lang="en-US" sz="1050" dirty="0"/>
          </a:p>
        </p:txBody>
      </p:sp>
      <p:sp>
        <p:nvSpPr>
          <p:cNvPr id="22" name="Shape 15"/>
          <p:cNvSpPr/>
          <p:nvPr/>
        </p:nvSpPr>
        <p:spPr>
          <a:xfrm>
            <a:off x="5161788" y="5291633"/>
            <a:ext cx="3390595" cy="381305"/>
          </a:xfrm>
          <a:prstGeom prst="roundRect">
            <a:avLst>
              <a:gd name="adj" fmla="val 29976"/>
            </a:avLst>
          </a:prstGeom>
          <a:solidFill>
            <a:srgbClr val="FAF7F2"/>
          </a:solidFill>
          <a:ln/>
        </p:spPr>
      </p:sp>
      <p:sp>
        <p:nvSpPr>
          <p:cNvPr id="23" name="Shape 16"/>
          <p:cNvSpPr/>
          <p:nvPr/>
        </p:nvSpPr>
        <p:spPr>
          <a:xfrm>
            <a:off x="5161788" y="5291633"/>
            <a:ext cx="28346" cy="381305"/>
          </a:xfrm>
          <a:prstGeom prst="roundRect">
            <a:avLst>
              <a:gd name="adj" fmla="val 403231"/>
            </a:avLst>
          </a:prstGeom>
          <a:solidFill>
            <a:srgbClr val="4B7FC2"/>
          </a:solidFill>
          <a:ln w="12700">
            <a:solidFill>
              <a:srgbClr val="4B7FC2">
                <a:alpha val="0"/>
              </a:srgbClr>
            </a:solidFill>
            <a:prstDash val="solid"/>
          </a:ln>
        </p:spPr>
      </p:sp>
      <p:sp>
        <p:nvSpPr>
          <p:cNvPr id="24" name="Text 17"/>
          <p:cNvSpPr txBox="1"/>
          <p:nvPr/>
        </p:nvSpPr>
        <p:spPr>
          <a:xfrm>
            <a:off x="5161788" y="5291633"/>
            <a:ext cx="3391510" cy="381305"/>
          </a:xfrm>
          <a:prstGeom prst="rect">
            <a:avLst/>
          </a:prstGeom>
          <a:solidFill>
            <a:srgbClr val="FFFFFF">
              <a:alpha val="0"/>
            </a:srgbClr>
          </a:solidFill>
          <a:ln>
            <a:solidFill>
              <a:srgbClr val="FFFFFF">
                <a:alpha val="0"/>
              </a:srgbClr>
            </a:solidFill>
          </a:ln>
        </p:spPr>
        <p:txBody>
          <a:bodyPr wrap="none" lIns="127000" tIns="114300" rIns="127000" bIns="114300" rtlCol="0" anchor="ctr"/>
          <a:lstStyle/>
          <a:p>
            <a:pPr algn="l" indent="0" marL="0">
              <a:buNone/>
            </a:pPr>
            <a:r>
              <a:rPr lang="en-US" sz="937" b="1" dirty="0">
                <a:solidFill>
                  <a:srgbClr val="5C6F7E"/>
                </a:solidFill>
                <a:latin typeface="Quicksand" pitchFamily="34" charset="0"/>
                <a:ea typeface="Quicksand" pitchFamily="34" charset="-122"/>
                <a:cs typeface="Quicksand" pitchFamily="34" charset="-120"/>
              </a:rPr>
              <a:t>Updating the log helps everyone.</a:t>
            </a:r>
            <a:endParaRPr lang="en-US" sz="937" dirty="0"/>
          </a:p>
        </p:txBody>
      </p:sp>
      <p:pic>
        <p:nvPicPr>
          <p:cNvPr id="25" name="Image 5" descr="gen-dedup-2ab6eb2f0b499958aab5a4352e7bbe3c.png">    </p:cNvPr>
          <p:cNvPicPr>
            <a:picLocks noChangeAspect="1"/>
          </p:cNvPicPr>
          <p:nvPr/>
        </p:nvPicPr>
        <p:blipFill>
          <a:blip r:embed="rId6"/>
          <a:srcRect l="0" r="0" t="-3" b="-3"/>
          <a:stretch/>
        </p:blipFill>
        <p:spPr>
          <a:xfrm>
            <a:off x="8972093" y="3381451"/>
            <a:ext cx="3886200" cy="2558491"/>
          </a:xfrm>
          <a:prstGeom prst="rect">
            <a:avLst/>
          </a:prstGeom>
        </p:spPr>
      </p:pic>
      <p:sp>
        <p:nvSpPr>
          <p:cNvPr id="26" name="Shape 18"/>
          <p:cNvSpPr/>
          <p:nvPr/>
        </p:nvSpPr>
        <p:spPr>
          <a:xfrm>
            <a:off x="9219895" y="3629254"/>
            <a:ext cx="513893" cy="513893"/>
          </a:xfrm>
          <a:prstGeom prst="roundRect">
            <a:avLst>
              <a:gd name="adj" fmla="val 29715"/>
            </a:avLst>
          </a:prstGeom>
          <a:solidFill>
            <a:srgbClr val="BBDCC1"/>
          </a:solidFill>
          <a:ln w="12700">
            <a:solidFill>
              <a:srgbClr val="FFFFFF">
                <a:alpha val="0"/>
              </a:srgbClr>
            </a:solidFill>
            <a:prstDash val="solid"/>
          </a:ln>
        </p:spPr>
      </p:sp>
      <p:sp>
        <p:nvSpPr>
          <p:cNvPr id="27" name="Text 19"/>
          <p:cNvSpPr/>
          <p:nvPr/>
        </p:nvSpPr>
        <p:spPr>
          <a:xfrm>
            <a:off x="9219895" y="3629254"/>
            <a:ext cx="514807" cy="514807"/>
          </a:xfrm>
          <a:prstGeom prst="rect">
            <a:avLst/>
          </a:prstGeom>
          <a:solidFill>
            <a:srgbClr val="FFFFFF">
              <a:alpha val="0"/>
            </a:srgbClr>
          </a:solidFill>
          <a:ln>
            <a:solidFill>
              <a:srgbClr val="FFFFFF">
                <a:alpha val="0"/>
              </a:srgbClr>
            </a:solidFill>
          </a:ln>
        </p:spPr>
        <p:txBody>
          <a:bodyPr wrap="none" lIns="0" tIns="0" rIns="0" bIns="0" rtlCol="0" anchor="ctr"/>
          <a:lstStyle/>
          <a:p>
            <a:pPr algn="ctr" indent="0" marL="0">
              <a:buNone/>
            </a:pPr>
            <a:r>
              <a:rPr lang="en-US" sz="1650" b="1" dirty="0">
                <a:solidFill>
                  <a:srgbClr val="2C4252"/>
                </a:solidFill>
                <a:latin typeface="Nunito" pitchFamily="34" charset="0"/>
                <a:ea typeface="Nunito" pitchFamily="34" charset="-122"/>
                <a:cs typeface="Nunito" pitchFamily="34" charset="-120"/>
              </a:rPr>
              <a:t>03</a:t>
            </a:r>
            <a:endParaRPr lang="en-US" sz="1650" dirty="0"/>
          </a:p>
        </p:txBody>
      </p:sp>
      <p:sp>
        <p:nvSpPr>
          <p:cNvPr id="28" name="Text 20"/>
          <p:cNvSpPr txBox="1"/>
          <p:nvPr/>
        </p:nvSpPr>
        <p:spPr>
          <a:xfrm>
            <a:off x="9219895" y="4276649"/>
            <a:ext cx="3391510" cy="210312"/>
          </a:xfrm>
          <a:prstGeom prst="rect">
            <a:avLst/>
          </a:prstGeom>
          <a:noFill/>
          <a:ln/>
        </p:spPr>
        <p:txBody>
          <a:bodyPr wrap="none" lIns="0" tIns="0" rIns="0" bIns="0" rtlCol="0" anchor="ctr"/>
          <a:lstStyle/>
          <a:p>
            <a:pPr algn="l" indent="0" marL="0">
              <a:buNone/>
            </a:pPr>
            <a:r>
              <a:rPr lang="en-US" sz="1350" b="1" dirty="0">
                <a:solidFill>
                  <a:srgbClr val="2C4252"/>
                </a:solidFill>
                <a:latin typeface="Nunito" pitchFamily="34" charset="0"/>
                <a:ea typeface="Nunito" pitchFamily="34" charset="-122"/>
                <a:cs typeface="Nunito" pitchFamily="34" charset="-120"/>
              </a:rPr>
              <a:t>Then flip to red</a:t>
            </a:r>
            <a:endParaRPr lang="en-US" sz="1350" dirty="0"/>
          </a:p>
        </p:txBody>
      </p:sp>
      <p:sp>
        <p:nvSpPr>
          <p:cNvPr id="29" name="Text 21"/>
          <p:cNvSpPr txBox="1"/>
          <p:nvPr/>
        </p:nvSpPr>
        <p:spPr>
          <a:xfrm>
            <a:off x="9219895" y="4558284"/>
            <a:ext cx="3391510" cy="600761"/>
          </a:xfrm>
          <a:prstGeom prst="rect">
            <a:avLst/>
          </a:prstGeom>
          <a:noFill/>
          <a:ln/>
        </p:spPr>
        <p:txBody>
          <a:bodyPr wrap="square" lIns="0" tIns="0" rIns="0" bIns="0" rtlCol="0" anchor="ctr"/>
          <a:lstStyle/>
          <a:p>
            <a:pPr algn="l" indent="0" marL="0">
              <a:lnSpc>
                <a:spcPts val="1575"/>
              </a:lnSpc>
              <a:buNone/>
            </a:pPr>
            <a:r>
              <a:rPr lang="en-US" sz="1050" dirty="0">
                <a:solidFill>
                  <a:srgbClr val="3F5566"/>
                </a:solidFill>
                <a:latin typeface="Quicksand" pitchFamily="34" charset="0"/>
                <a:ea typeface="Quicksand" pitchFamily="34" charset="-122"/>
                <a:cs typeface="Quicksand" pitchFamily="34" charset="-120"/>
              </a:rPr>
              <a:t>Only when you've confirmed: name, DOB, discharge papers, and checked in with the law firm — flip the row to </a:t>
            </a:r>
            <a:pPr algn="l" indent="0" marL="0">
              <a:lnSpc>
                <a:spcPts val="1575"/>
              </a:lnSpc>
              <a:buNone/>
            </a:pPr>
            <a:r>
              <a:rPr lang="en-US" sz="1050" b="1" dirty="0">
                <a:solidFill>
                  <a:srgbClr val="C75C2E"/>
                </a:solidFill>
                <a:latin typeface="Quicksand" pitchFamily="34" charset="0"/>
                <a:ea typeface="Quicksand" pitchFamily="34" charset="-122"/>
                <a:cs typeface="Quicksand" pitchFamily="34" charset="-120"/>
              </a:rPr>
              <a:t>red</a:t>
            </a:r>
            <a:pPr algn="l" indent="0" marL="0">
              <a:lnSpc>
                <a:spcPts val="1575"/>
              </a:lnSpc>
              <a:buNone/>
            </a:pPr>
            <a:r>
              <a:rPr lang="en-US" sz="1050" dirty="0">
                <a:solidFill>
                  <a:srgbClr val="3F5566"/>
                </a:solidFill>
                <a:latin typeface="Quicksand" pitchFamily="34" charset="0"/>
                <a:ea typeface="Quicksand" pitchFamily="34" charset="-122"/>
                <a:cs typeface="Quicksand" pitchFamily="34" charset="-120"/>
              </a:rPr>
              <a:t> and add a final detailed note.</a:t>
            </a:r>
            <a:endParaRPr lang="en-US" sz="1050" dirty="0"/>
          </a:p>
        </p:txBody>
      </p:sp>
      <p:sp>
        <p:nvSpPr>
          <p:cNvPr id="30" name="Text 22"/>
          <p:cNvSpPr txBox="1"/>
          <p:nvPr/>
        </p:nvSpPr>
        <p:spPr>
          <a:xfrm>
            <a:off x="856793" y="7057339"/>
            <a:ext cx="4638751" cy="181051"/>
          </a:xfrm>
          <a:prstGeom prst="rect">
            <a:avLst/>
          </a:prstGeom>
          <a:noFill/>
          <a:ln/>
        </p:spPr>
        <p:txBody>
          <a:bodyPr wrap="none" lIns="0" tIns="0" rIns="0" bIns="0" rtlCol="0" anchor="ctr"/>
          <a:lstStyle/>
          <a:p>
            <a:pPr algn="l" indent="0" marL="0">
              <a:buNone/>
            </a:pPr>
            <a:r>
              <a:rPr lang="en-US" sz="1050" b="1" spc="189" kern="0" dirty="0">
                <a:solidFill>
                  <a:srgbClr val="3F5566"/>
                </a:solidFill>
                <a:latin typeface="Nunito" pitchFamily="34" charset="0"/>
                <a:ea typeface="Nunito" pitchFamily="34" charset="-122"/>
                <a:cs typeface="Nunito" pitchFamily="34" charset="-120"/>
              </a:rPr>
              <a:t>Never guess red — confirm everything first.</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7F2"/>
        </a:solidFill>
      </p:bgPr>
    </p:bg>
    <p:spTree>
      <p:nvGrpSpPr>
        <p:cNvPr id="1" name=""/>
        <p:cNvGrpSpPr/>
        <p:nvPr/>
      </p:nvGrpSpPr>
      <p:grpSpPr>
        <a:xfrm>
          <a:off x="0" y="0"/>
          <a:ext cx="0" cy="0"/>
          <a:chOff x="0" y="0"/>
          <a:chExt cx="0" cy="0"/>
        </a:xfrm>
      </p:grpSpPr>
      <p:pic>
        <p:nvPicPr>
          <p:cNvPr id="2" name="Image 0" descr="gen-dedup-8d02489ddc3a18db8186b15b96998366.png">    </p:cNvPr>
          <p:cNvPicPr>
            <a:picLocks noChangeAspect="1"/>
          </p:cNvPicPr>
          <p:nvPr/>
        </p:nvPicPr>
        <p:blipFill>
          <a:blip r:embed="rId1">
            <a:alphaModFix amt="50000"/>
          </a:blip>
          <a:srcRect l="0" r="0" t="0" b="0"/>
          <a:stretch/>
        </p:blipFill>
        <p:spPr>
          <a:xfrm>
            <a:off x="11810390" y="-1524305"/>
            <a:ext cx="3429000" cy="3429000"/>
          </a:xfrm>
          <a:prstGeom prst="rect">
            <a:avLst/>
          </a:prstGeom>
        </p:spPr>
      </p:pic>
      <p:pic>
        <p:nvPicPr>
          <p:cNvPr id="3" name="Image 1" descr="gen-dedup-b772c727692b4ebbacc9f8cc513c6330.png">    </p:cNvPr>
          <p:cNvPicPr>
            <a:picLocks noChangeAspect="1"/>
          </p:cNvPicPr>
          <p:nvPr/>
        </p:nvPicPr>
        <p:blipFill>
          <a:blip r:embed="rId2">
            <a:alphaModFix amt="55000"/>
          </a:blip>
          <a:srcRect l="0" r="0" t="0" b="0"/>
          <a:stretch/>
        </p:blipFill>
        <p:spPr>
          <a:xfrm>
            <a:off x="-1714500" y="5428793"/>
            <a:ext cx="4000500" cy="4000500"/>
          </a:xfrm>
          <a:prstGeom prst="rect">
            <a:avLst/>
          </a:prstGeom>
        </p:spPr>
      </p:pic>
      <p:sp>
        <p:nvSpPr>
          <p:cNvPr id="4" name="Shape 0"/>
          <p:cNvSpPr/>
          <p:nvPr/>
        </p:nvSpPr>
        <p:spPr>
          <a:xfrm>
            <a:off x="856793" y="705002"/>
            <a:ext cx="1600200" cy="323698"/>
          </a:xfrm>
          <a:prstGeom prst="roundRect">
            <a:avLst>
              <a:gd name="adj" fmla="val 50000"/>
            </a:avLst>
          </a:prstGeom>
          <a:solidFill>
            <a:srgbClr val="BBDCC1"/>
          </a:solidFill>
          <a:ln w="12700">
            <a:solidFill>
              <a:srgbClr val="FFFFFF">
                <a:alpha val="0"/>
              </a:srgbClr>
            </a:solidFill>
            <a:prstDash val="solid"/>
          </a:ln>
        </p:spPr>
      </p:sp>
      <p:sp>
        <p:nvSpPr>
          <p:cNvPr id="5" name="Text 1"/>
          <p:cNvSpPr/>
          <p:nvPr/>
        </p:nvSpPr>
        <p:spPr>
          <a:xfrm>
            <a:off x="856793" y="705002"/>
            <a:ext cx="1600200" cy="324612"/>
          </a:xfrm>
          <a:prstGeom prst="rect">
            <a:avLst/>
          </a:prstGeom>
          <a:solidFill>
            <a:srgbClr val="FFFFFF">
              <a:alpha val="0"/>
            </a:srgbClr>
          </a:solidFill>
          <a:ln>
            <a:solidFill>
              <a:srgbClr val="FFFFFF">
                <a:alpha val="0"/>
              </a:srgbClr>
            </a:solidFill>
          </a:ln>
        </p:spPr>
        <p:txBody>
          <a:bodyPr wrap="none" lIns="190500" tIns="76200" rIns="190500" bIns="76200" rtlCol="0" anchor="ctr"/>
          <a:lstStyle/>
          <a:p>
            <a:pPr algn="ctr" indent="0" marL="0">
              <a:buNone/>
            </a:pPr>
            <a:r>
              <a:rPr lang="en-US" sz="975" b="1" spc="214" kern="0" dirty="0">
                <a:solidFill>
                  <a:srgbClr val="2C4252"/>
                </a:solidFill>
                <a:latin typeface="Nunito" pitchFamily="34" charset="0"/>
                <a:ea typeface="Nunito" pitchFamily="34" charset="-122"/>
                <a:cs typeface="Nunito" pitchFamily="34" charset="-120"/>
              </a:rPr>
              <a:t>Special case</a:t>
            </a:r>
            <a:endParaRPr lang="en-US" sz="975" dirty="0"/>
          </a:p>
        </p:txBody>
      </p:sp>
      <p:sp>
        <p:nvSpPr>
          <p:cNvPr id="6" name="Text 2"/>
          <p:cNvSpPr txBox="1"/>
          <p:nvPr/>
        </p:nvSpPr>
        <p:spPr>
          <a:xfrm>
            <a:off x="856793" y="1238098"/>
            <a:ext cx="14096390" cy="600761"/>
          </a:xfrm>
          <a:prstGeom prst="rect">
            <a:avLst/>
          </a:prstGeom>
          <a:noFill/>
          <a:ln/>
        </p:spPr>
        <p:txBody>
          <a:bodyPr wrap="none" lIns="0" tIns="0" rIns="0" bIns="0" rtlCol="0" anchor="ctr"/>
          <a:lstStyle/>
          <a:p>
            <a:pPr algn="l" indent="0" marL="0">
              <a:buNone/>
            </a:pPr>
            <a:r>
              <a:rPr lang="en-US" sz="4500" b="1" spc="-90" kern="0" dirty="0">
                <a:solidFill>
                  <a:srgbClr val="2C4252"/>
                </a:solidFill>
                <a:latin typeface="Nunito" pitchFamily="34" charset="0"/>
                <a:ea typeface="Nunito" pitchFamily="34" charset="-122"/>
                <a:cs typeface="Nunito" pitchFamily="34" charset="-120"/>
              </a:rPr>
              <a:t>If the hospital didn't </a:t>
            </a:r>
            <a:pPr algn="l" indent="0" marL="0">
              <a:buNone/>
            </a:pPr>
            <a:r>
              <a:rPr lang="en-US" sz="4500" b="1" spc="-90" kern="0" dirty="0">
                <a:solidFill>
                  <a:srgbClr val="4B7FC2"/>
                </a:solidFill>
                <a:latin typeface="Nunito" pitchFamily="34" charset="0"/>
                <a:ea typeface="Nunito" pitchFamily="34" charset="-122"/>
                <a:cs typeface="Nunito" pitchFamily="34" charset="-120"/>
              </a:rPr>
              <a:t>receive</a:t>
            </a:r>
            <a:pPr algn="l" indent="0" marL="0">
              <a:buNone/>
            </a:pPr>
            <a:r>
              <a:rPr lang="en-US" sz="4500" b="1" spc="-90" kern="0" dirty="0">
                <a:solidFill>
                  <a:srgbClr val="2C4252"/>
                </a:solidFill>
                <a:latin typeface="Nunito" pitchFamily="34" charset="0"/>
                <a:ea typeface="Nunito" pitchFamily="34" charset="-122"/>
                <a:cs typeface="Nunito" pitchFamily="34" charset="-120"/>
              </a:rPr>
              <a:t> the request.</a:t>
            </a:r>
            <a:endParaRPr lang="en-US" sz="4500" dirty="0"/>
          </a:p>
        </p:txBody>
      </p:sp>
      <p:pic>
        <p:nvPicPr>
          <p:cNvPr id="7" name="Image 2" descr="gen-dedup-0606b83e7af6b153d0b8b77e1161d706.png">    </p:cNvPr>
          <p:cNvPicPr>
            <a:picLocks noChangeAspect="1"/>
          </p:cNvPicPr>
          <p:nvPr/>
        </p:nvPicPr>
        <p:blipFill>
          <a:blip r:embed="rId3"/>
          <a:srcRect l="-5" r="-5" t="0" b="0"/>
          <a:stretch/>
        </p:blipFill>
        <p:spPr>
          <a:xfrm>
            <a:off x="856793" y="2286000"/>
            <a:ext cx="5896051" cy="2316175"/>
          </a:xfrm>
          <a:prstGeom prst="rect">
            <a:avLst/>
          </a:prstGeom>
        </p:spPr>
      </p:pic>
      <p:sp>
        <p:nvSpPr>
          <p:cNvPr id="8" name="Shape 3"/>
          <p:cNvSpPr/>
          <p:nvPr/>
        </p:nvSpPr>
        <p:spPr>
          <a:xfrm>
            <a:off x="1143000" y="2553005"/>
            <a:ext cx="1324051" cy="267005"/>
          </a:xfrm>
          <a:prstGeom prst="roundRect">
            <a:avLst>
              <a:gd name="adj" fmla="val 28425"/>
            </a:avLst>
          </a:prstGeom>
          <a:solidFill>
            <a:srgbClr val="4B7FC2"/>
          </a:solidFill>
          <a:ln w="12700">
            <a:solidFill>
              <a:srgbClr val="FFFFFF">
                <a:alpha val="0"/>
              </a:srgbClr>
            </a:solidFill>
            <a:prstDash val="solid"/>
          </a:ln>
        </p:spPr>
      </p:sp>
      <p:sp>
        <p:nvSpPr>
          <p:cNvPr id="9" name="Text 4"/>
          <p:cNvSpPr txBox="1"/>
          <p:nvPr/>
        </p:nvSpPr>
        <p:spPr>
          <a:xfrm>
            <a:off x="1143000" y="2553005"/>
            <a:ext cx="1324051" cy="267005"/>
          </a:xfrm>
          <a:prstGeom prst="rect">
            <a:avLst/>
          </a:prstGeom>
          <a:solidFill>
            <a:srgbClr val="FFFFFF">
              <a:alpha val="0"/>
            </a:srgbClr>
          </a:solidFill>
          <a:ln>
            <a:solidFill>
              <a:srgbClr val="FFFFFF">
                <a:alpha val="0"/>
              </a:srgbClr>
            </a:solidFill>
          </a:ln>
        </p:spPr>
        <p:txBody>
          <a:bodyPr wrap="none" lIns="127000" tIns="50800" rIns="127000" bIns="50800" rtlCol="0" anchor="ctr"/>
          <a:lstStyle/>
          <a:p>
            <a:pPr algn="l" indent="0" marL="0">
              <a:buNone/>
            </a:pPr>
            <a:r>
              <a:rPr lang="en-US" sz="900" b="1" spc="198" kern="0" dirty="0">
                <a:solidFill>
                  <a:srgbClr val="FFFFFF"/>
                </a:solidFill>
                <a:latin typeface="Nunito" pitchFamily="34" charset="0"/>
                <a:ea typeface="Nunito" pitchFamily="34" charset="-122"/>
                <a:cs typeface="Nunito" pitchFamily="34" charset="-120"/>
              </a:rPr>
              <a:t>On the call</a:t>
            </a:r>
            <a:endParaRPr lang="en-US" sz="900" dirty="0"/>
          </a:p>
        </p:txBody>
      </p:sp>
      <p:sp>
        <p:nvSpPr>
          <p:cNvPr id="10" name="Text 5"/>
          <p:cNvSpPr txBox="1"/>
          <p:nvPr/>
        </p:nvSpPr>
        <p:spPr>
          <a:xfrm>
            <a:off x="1143000" y="2933395"/>
            <a:ext cx="5324551" cy="247802"/>
          </a:xfrm>
          <a:prstGeom prst="rect">
            <a:avLst/>
          </a:prstGeom>
          <a:noFill/>
          <a:ln/>
        </p:spPr>
        <p:txBody>
          <a:bodyPr wrap="none" lIns="0" tIns="0" rIns="0" bIns="0" rtlCol="0" anchor="ctr"/>
          <a:lstStyle/>
          <a:p>
            <a:pPr algn="l" indent="0" marL="0">
              <a:buNone/>
            </a:pPr>
            <a:r>
              <a:rPr lang="en-US" sz="1575" b="1" dirty="0">
                <a:solidFill>
                  <a:srgbClr val="2C4252"/>
                </a:solidFill>
                <a:latin typeface="Nunito" pitchFamily="34" charset="0"/>
                <a:ea typeface="Nunito" pitchFamily="34" charset="-122"/>
                <a:cs typeface="Nunito" pitchFamily="34" charset="-120"/>
              </a:rPr>
              <a:t>Confirm how to send it now</a:t>
            </a:r>
            <a:endParaRPr lang="en-US" sz="1575" dirty="0"/>
          </a:p>
        </p:txBody>
      </p:sp>
      <p:sp>
        <p:nvSpPr>
          <p:cNvPr id="11" name="Text 6"/>
          <p:cNvSpPr txBox="1"/>
          <p:nvPr/>
        </p:nvSpPr>
        <p:spPr>
          <a:xfrm>
            <a:off x="1143000" y="3287268"/>
            <a:ext cx="5324551" cy="838505"/>
          </a:xfrm>
          <a:prstGeom prst="rect">
            <a:avLst/>
          </a:prstGeom>
          <a:noFill/>
          <a:ln/>
        </p:spPr>
        <p:txBody>
          <a:bodyPr wrap="square" lIns="0" tIns="0" rIns="0" bIns="0" rtlCol="0" anchor="t"/>
          <a:lstStyle/>
          <a:p>
            <a:pPr algn="l" indent="0" marL="0">
              <a:buNone/>
            </a:pPr>
            <a:r>
              <a:rPr lang="en-US" sz="1200" dirty="0">
                <a:solidFill>
                  <a:srgbClr val="2C4252"/>
                </a:solidFill>
                <a:latin typeface="Quicksand" pitchFamily="34" charset="0"/>
                <a:ea typeface="Quicksand" pitchFamily="34" charset="-122"/>
                <a:cs typeface="Quicksand" pitchFamily="34" charset="-120"/>
              </a:rPr>
              <a:t>​</a:t>
            </a:r>
            <a:pPr algn="l" indent="0" marL="0">
              <a:buNone/>
            </a:pPr>
            <a:r>
              <a:rPr lang="en-US" sz="1125" b="1" dirty="0">
                <a:solidFill>
                  <a:srgbClr val="2C4252"/>
                </a:solidFill>
                <a:latin typeface="Quicksand" pitchFamily="34" charset="0"/>
                <a:ea typeface="Quicksand" pitchFamily="34" charset="-122"/>
                <a:cs typeface="Quicksand" pitchFamily="34" charset="-120"/>
              </a:rPr>
              <a:t>Confirm the </a:t>
            </a:r>
            <a:pPr algn="l" indent="0" marL="0">
              <a:buNone/>
            </a:pPr>
            <a:r>
              <a:rPr lang="en-US" sz="1125" b="1" dirty="0">
                <a:solidFill>
                  <a:srgbClr val="4B7FC2"/>
                </a:solidFill>
                <a:latin typeface="Quicksand" pitchFamily="34" charset="0"/>
                <a:ea typeface="Quicksand" pitchFamily="34" charset="-122"/>
                <a:cs typeface="Quicksand" pitchFamily="34" charset="-120"/>
              </a:rPr>
              <a:t>fax number</a:t>
            </a:r>
            <a:pPr algn="l" indent="0" marL="0">
              <a:buNone/>
            </a:pPr>
            <a:r>
              <a:rPr lang="en-US" sz="1125" b="1" dirty="0">
                <a:solidFill>
                  <a:srgbClr val="2C4252"/>
                </a:solidFill>
                <a:latin typeface="Quicksand" pitchFamily="34" charset="0"/>
                <a:ea typeface="Quicksand" pitchFamily="34" charset="-122"/>
                <a:cs typeface="Quicksand" pitchFamily="34" charset="-120"/>
              </a:rPr>
              <a:t> to send the request to.</a:t>
            </a:r>
            <a:pPr algn="l" indent="0" marL="0">
              <a:buNone/>
            </a:pPr>
            <a:endParaRPr lang="en-US" sz="1200" dirty="0"/>
          </a:p>
          <a:p>
            <a:pPr algn="l" indent="0" marL="0">
              <a:buNone/>
            </a:pPr>
            <a:r>
              <a:rPr lang="en-US" sz="1200" dirty="0">
                <a:solidFill>
                  <a:srgbClr val="2C4252"/>
                </a:solidFill>
                <a:latin typeface="Quicksand" pitchFamily="34" charset="0"/>
                <a:ea typeface="Quicksand" pitchFamily="34" charset="-122"/>
                <a:cs typeface="Quicksand" pitchFamily="34" charset="-120"/>
              </a:rPr>
              <a:t>​</a:t>
            </a:r>
            <a:pPr algn="l" indent="0" marL="0">
              <a:buNone/>
            </a:pPr>
            <a:r>
              <a:rPr lang="en-US" sz="1125" b="1" dirty="0">
                <a:solidFill>
                  <a:srgbClr val="2C4252"/>
                </a:solidFill>
                <a:latin typeface="Quicksand" pitchFamily="34" charset="0"/>
                <a:ea typeface="Quicksand" pitchFamily="34" charset="-122"/>
                <a:cs typeface="Quicksand" pitchFamily="34" charset="-120"/>
              </a:rPr>
              <a:t>Ask if they accept requests via </a:t>
            </a:r>
            <a:pPr algn="l" indent="0" marL="0">
              <a:buNone/>
            </a:pPr>
            <a:r>
              <a:rPr lang="en-US" sz="1125" b="1" dirty="0">
                <a:solidFill>
                  <a:srgbClr val="4B7FC2"/>
                </a:solidFill>
                <a:latin typeface="Quicksand" pitchFamily="34" charset="0"/>
                <a:ea typeface="Quicksand" pitchFamily="34" charset="-122"/>
                <a:cs typeface="Quicksand" pitchFamily="34" charset="-120"/>
              </a:rPr>
              <a:t>email</a:t>
            </a:r>
            <a:pPr algn="l" indent="0" marL="0">
              <a:buNone/>
            </a:pPr>
            <a:r>
              <a:rPr lang="en-US" sz="1125" b="1" dirty="0">
                <a:solidFill>
                  <a:srgbClr val="2C4252"/>
                </a:solidFill>
                <a:latin typeface="Quicksand" pitchFamily="34" charset="0"/>
                <a:ea typeface="Quicksand" pitchFamily="34" charset="-122"/>
                <a:cs typeface="Quicksand" pitchFamily="34" charset="-120"/>
              </a:rPr>
              <a:t> — get the email address.</a:t>
            </a:r>
            <a:pPr algn="l" indent="0" marL="0">
              <a:buNone/>
            </a:pPr>
            <a:endParaRPr lang="en-US" sz="1200" dirty="0"/>
          </a:p>
          <a:p>
            <a:pPr algn="l" indent="0" marL="0">
              <a:buNone/>
            </a:pPr>
            <a:r>
              <a:rPr lang="en-US" sz="1200" dirty="0">
                <a:solidFill>
                  <a:srgbClr val="2C4252"/>
                </a:solidFill>
                <a:latin typeface="Quicksand" pitchFamily="34" charset="0"/>
                <a:ea typeface="Quicksand" pitchFamily="34" charset="-122"/>
                <a:cs typeface="Quicksand" pitchFamily="34" charset="-120"/>
              </a:rPr>
              <a:t>​</a:t>
            </a:r>
            <a:pPr algn="l" indent="0" marL="0">
              <a:buNone/>
            </a:pPr>
            <a:r>
              <a:rPr lang="en-US" sz="1125" b="1" dirty="0">
                <a:solidFill>
                  <a:srgbClr val="2C4252"/>
                </a:solidFill>
                <a:latin typeface="Quicksand" pitchFamily="34" charset="0"/>
                <a:ea typeface="Quicksand" pitchFamily="34" charset="-122"/>
                <a:cs typeface="Quicksand" pitchFamily="34" charset="-120"/>
              </a:rPr>
              <a:t>Let them know we'll </a:t>
            </a:r>
            <a:pPr algn="l" indent="0" marL="0">
              <a:buNone/>
            </a:pPr>
            <a:r>
              <a:rPr lang="en-US" sz="1125" b="1" dirty="0">
                <a:solidFill>
                  <a:srgbClr val="4B7FC2"/>
                </a:solidFill>
                <a:latin typeface="Quicksand" pitchFamily="34" charset="0"/>
                <a:ea typeface="Quicksand" pitchFamily="34" charset="-122"/>
                <a:cs typeface="Quicksand" pitchFamily="34" charset="-120"/>
              </a:rPr>
              <a:t>resend now</a:t>
            </a:r>
            <a:pPr algn="l" indent="0" marL="0">
              <a:buNone/>
            </a:pPr>
            <a:r>
              <a:rPr lang="en-US" sz="1125" b="1" dirty="0">
                <a:solidFill>
                  <a:srgbClr val="2C4252"/>
                </a:solidFill>
                <a:latin typeface="Quicksand" pitchFamily="34" charset="0"/>
                <a:ea typeface="Quicksand" pitchFamily="34" charset="-122"/>
                <a:cs typeface="Quicksand" pitchFamily="34" charset="-120"/>
              </a:rPr>
              <a:t> and ask for a turnaround time.</a:t>
            </a:r>
            <a:endParaRPr lang="en-US" sz="1200" dirty="0"/>
          </a:p>
        </p:txBody>
      </p:sp>
      <p:pic>
        <p:nvPicPr>
          <p:cNvPr id="12" name="Image 3" descr="gen-dedup-2247853a1401dffdf6a11ceb392b1ed3.png">    </p:cNvPr>
          <p:cNvPicPr>
            <a:picLocks noChangeAspect="1"/>
          </p:cNvPicPr>
          <p:nvPr/>
        </p:nvPicPr>
        <p:blipFill>
          <a:blip r:embed="rId4"/>
          <a:srcRect l="-5" r="-5" t="0" b="0"/>
          <a:stretch/>
        </p:blipFill>
        <p:spPr>
          <a:xfrm>
            <a:off x="6962242" y="2286000"/>
            <a:ext cx="5896051" cy="2316175"/>
          </a:xfrm>
          <a:prstGeom prst="rect">
            <a:avLst/>
          </a:prstGeom>
        </p:spPr>
      </p:pic>
      <p:sp>
        <p:nvSpPr>
          <p:cNvPr id="13" name="Shape 7"/>
          <p:cNvSpPr/>
          <p:nvPr/>
        </p:nvSpPr>
        <p:spPr>
          <a:xfrm>
            <a:off x="7248449" y="2553005"/>
            <a:ext cx="1600200" cy="267005"/>
          </a:xfrm>
          <a:prstGeom prst="roundRect">
            <a:avLst>
              <a:gd name="adj" fmla="val 28425"/>
            </a:avLst>
          </a:prstGeom>
          <a:solidFill>
            <a:srgbClr val="BBDCC1"/>
          </a:solidFill>
          <a:ln w="12700">
            <a:solidFill>
              <a:srgbClr val="FFFFFF">
                <a:alpha val="0"/>
              </a:srgbClr>
            </a:solidFill>
            <a:prstDash val="solid"/>
          </a:ln>
        </p:spPr>
      </p:sp>
      <p:sp>
        <p:nvSpPr>
          <p:cNvPr id="14" name="Text 8"/>
          <p:cNvSpPr txBox="1"/>
          <p:nvPr/>
        </p:nvSpPr>
        <p:spPr>
          <a:xfrm>
            <a:off x="7248449" y="2553005"/>
            <a:ext cx="1600200" cy="267005"/>
          </a:xfrm>
          <a:prstGeom prst="rect">
            <a:avLst/>
          </a:prstGeom>
          <a:solidFill>
            <a:srgbClr val="FFFFFF">
              <a:alpha val="0"/>
            </a:srgbClr>
          </a:solidFill>
          <a:ln>
            <a:solidFill>
              <a:srgbClr val="FFFFFF">
                <a:alpha val="0"/>
              </a:srgbClr>
            </a:solidFill>
          </a:ln>
        </p:spPr>
        <p:txBody>
          <a:bodyPr wrap="none" lIns="127000" tIns="50800" rIns="127000" bIns="50800" rtlCol="0" anchor="ctr"/>
          <a:lstStyle/>
          <a:p>
            <a:pPr algn="l" indent="0" marL="0">
              <a:buNone/>
            </a:pPr>
            <a:r>
              <a:rPr lang="en-US" sz="900" b="1" spc="198" kern="0" dirty="0">
                <a:solidFill>
                  <a:srgbClr val="2C4252"/>
                </a:solidFill>
                <a:latin typeface="Nunito" pitchFamily="34" charset="0"/>
                <a:ea typeface="Nunito" pitchFamily="34" charset="-122"/>
                <a:cs typeface="Nunito" pitchFamily="34" charset="-120"/>
              </a:rPr>
              <a:t>After the call</a:t>
            </a:r>
            <a:endParaRPr lang="en-US" sz="900" dirty="0"/>
          </a:p>
        </p:txBody>
      </p:sp>
      <p:sp>
        <p:nvSpPr>
          <p:cNvPr id="15" name="Text 9"/>
          <p:cNvSpPr txBox="1"/>
          <p:nvPr/>
        </p:nvSpPr>
        <p:spPr>
          <a:xfrm>
            <a:off x="7248449" y="2933395"/>
            <a:ext cx="5324551" cy="247802"/>
          </a:xfrm>
          <a:prstGeom prst="rect">
            <a:avLst/>
          </a:prstGeom>
          <a:noFill/>
          <a:ln/>
        </p:spPr>
        <p:txBody>
          <a:bodyPr wrap="none" lIns="0" tIns="0" rIns="0" bIns="0" rtlCol="0" anchor="ctr"/>
          <a:lstStyle/>
          <a:p>
            <a:pPr algn="l" indent="0" marL="0">
              <a:buNone/>
            </a:pPr>
            <a:r>
              <a:rPr lang="en-US" sz="1575" b="1" dirty="0">
                <a:solidFill>
                  <a:srgbClr val="2C4252"/>
                </a:solidFill>
                <a:latin typeface="Nunito" pitchFamily="34" charset="0"/>
                <a:ea typeface="Nunito" pitchFamily="34" charset="-122"/>
                <a:cs typeface="Nunito" pitchFamily="34" charset="-120"/>
              </a:rPr>
              <a:t>Update the team</a:t>
            </a:r>
            <a:endParaRPr lang="en-US" sz="1575" dirty="0"/>
          </a:p>
        </p:txBody>
      </p:sp>
      <p:sp>
        <p:nvSpPr>
          <p:cNvPr id="16" name="Text 10"/>
          <p:cNvSpPr txBox="1"/>
          <p:nvPr/>
        </p:nvSpPr>
        <p:spPr>
          <a:xfrm>
            <a:off x="7248449" y="3287268"/>
            <a:ext cx="5324551" cy="1052474"/>
          </a:xfrm>
          <a:prstGeom prst="rect">
            <a:avLst/>
          </a:prstGeom>
          <a:noFill/>
          <a:ln/>
        </p:spPr>
        <p:txBody>
          <a:bodyPr wrap="square" lIns="0" tIns="0" rIns="0" bIns="0" rtlCol="0" anchor="t"/>
          <a:lstStyle/>
          <a:p>
            <a:pPr algn="l" indent="0" marL="0">
              <a:buNone/>
            </a:pPr>
            <a:r>
              <a:rPr lang="en-US" sz="1200" dirty="0">
                <a:solidFill>
                  <a:srgbClr val="2C4252"/>
                </a:solidFill>
                <a:latin typeface="Quicksand" pitchFamily="34" charset="0"/>
                <a:ea typeface="Quicksand" pitchFamily="34" charset="-122"/>
                <a:cs typeface="Quicksand" pitchFamily="34" charset="-120"/>
              </a:rPr>
              <a:t>​</a:t>
            </a:r>
            <a:pPr algn="l" indent="0" marL="0">
              <a:buNone/>
            </a:pPr>
            <a:r>
              <a:rPr lang="en-US" sz="1125" b="1" dirty="0">
                <a:solidFill>
                  <a:srgbClr val="2C4252"/>
                </a:solidFill>
                <a:latin typeface="Quicksand" pitchFamily="34" charset="0"/>
                <a:ea typeface="Quicksand" pitchFamily="34" charset="-122"/>
                <a:cs typeface="Quicksand" pitchFamily="34" charset="-120"/>
              </a:rPr>
              <a:t>Send a team chat to MR with the </a:t>
            </a:r>
            <a:pPr algn="l" indent="0" marL="0">
              <a:buNone/>
            </a:pPr>
            <a:r>
              <a:rPr lang="en-US" sz="1125" b="1" dirty="0">
                <a:solidFill>
                  <a:srgbClr val="2C4252"/>
                </a:solidFill>
                <a:latin typeface="Quicksand" pitchFamily="34" charset="0"/>
                <a:ea typeface="Quicksand" pitchFamily="34" charset="-122"/>
                <a:cs typeface="Quicksand" pitchFamily="34" charset="-120"/>
              </a:rPr>
              <a:t>patient name</a:t>
            </a:r>
            <a:pPr algn="l" indent="0" marL="0">
              <a:buNone/>
            </a:pPr>
            <a:r>
              <a:rPr lang="en-US" sz="1125" b="1" dirty="0">
                <a:solidFill>
                  <a:srgbClr val="2C4252"/>
                </a:solidFill>
                <a:latin typeface="Quicksand" pitchFamily="34" charset="0"/>
                <a:ea typeface="Quicksand" pitchFamily="34" charset="-122"/>
                <a:cs typeface="Quicksand" pitchFamily="34" charset="-120"/>
              </a:rPr>
              <a:t>, log month and line number.</a:t>
            </a:r>
            <a:pPr algn="l" indent="0" marL="0">
              <a:buNone/>
            </a:pPr>
            <a:endParaRPr lang="en-US" sz="1200" dirty="0"/>
          </a:p>
          <a:p>
            <a:pPr algn="l" indent="0" marL="0">
              <a:buNone/>
            </a:pPr>
            <a:r>
              <a:rPr lang="en-US" sz="1200" dirty="0">
                <a:solidFill>
                  <a:srgbClr val="2C4252"/>
                </a:solidFill>
                <a:latin typeface="Quicksand" pitchFamily="34" charset="0"/>
                <a:ea typeface="Quicksand" pitchFamily="34" charset="-122"/>
                <a:cs typeface="Quicksand" pitchFamily="34" charset="-120"/>
              </a:rPr>
              <a:t>​</a:t>
            </a:r>
            <a:pPr algn="l" indent="0" marL="0">
              <a:buNone/>
            </a:pPr>
            <a:r>
              <a:rPr lang="en-US" sz="1125" b="1" dirty="0">
                <a:solidFill>
                  <a:srgbClr val="2C4252"/>
                </a:solidFill>
                <a:latin typeface="Quicksand" pitchFamily="34" charset="0"/>
                <a:ea typeface="Quicksand" pitchFamily="34" charset="-122"/>
                <a:cs typeface="Quicksand" pitchFamily="34" charset="-120"/>
              </a:rPr>
              <a:t>Your notes will give updated info as to </a:t>
            </a:r>
            <a:pPr algn="l" indent="0" marL="0">
              <a:buNone/>
            </a:pPr>
            <a:r>
              <a:rPr lang="en-US" sz="1125" b="1" i="1" dirty="0">
                <a:solidFill>
                  <a:srgbClr val="2C4252"/>
                </a:solidFill>
                <a:latin typeface="Quicksand" pitchFamily="34" charset="0"/>
                <a:ea typeface="Quicksand" pitchFamily="34" charset="-122"/>
                <a:cs typeface="Quicksand" pitchFamily="34" charset="-120"/>
              </a:rPr>
              <a:t>where</a:t>
            </a:r>
            <a:pPr algn="l" indent="0" marL="0">
              <a:buNone/>
            </a:pPr>
            <a:r>
              <a:rPr lang="en-US" sz="1125" b="1" dirty="0">
                <a:solidFill>
                  <a:srgbClr val="2C4252"/>
                </a:solidFill>
                <a:latin typeface="Quicksand" pitchFamily="34" charset="0"/>
                <a:ea typeface="Quicksand" pitchFamily="34" charset="-122"/>
                <a:cs typeface="Quicksand" pitchFamily="34" charset="-120"/>
              </a:rPr>
              <a:t> to resend the MR request.</a:t>
            </a:r>
            <a:pPr algn="l" indent="0" marL="0">
              <a:buNone/>
            </a:pPr>
            <a:endParaRPr lang="en-US" sz="1200" dirty="0"/>
          </a:p>
          <a:p>
            <a:pPr algn="l" indent="0" marL="0">
              <a:buNone/>
            </a:pPr>
            <a:r>
              <a:rPr lang="en-US" sz="1200" dirty="0">
                <a:solidFill>
                  <a:srgbClr val="2C4252"/>
                </a:solidFill>
                <a:latin typeface="Quicksand" pitchFamily="34" charset="0"/>
                <a:ea typeface="Quicksand" pitchFamily="34" charset="-122"/>
                <a:cs typeface="Quicksand" pitchFamily="34" charset="-120"/>
              </a:rPr>
              <a:t>​</a:t>
            </a:r>
            <a:pPr algn="l" indent="0" marL="0">
              <a:buNone/>
            </a:pPr>
            <a:r>
              <a:rPr lang="en-US" sz="1125" b="1" dirty="0">
                <a:solidFill>
                  <a:srgbClr val="2C4252"/>
                </a:solidFill>
                <a:latin typeface="Quicksand" pitchFamily="34" charset="0"/>
                <a:ea typeface="Quicksand" pitchFamily="34" charset="-122"/>
                <a:cs typeface="Quicksand" pitchFamily="34" charset="-120"/>
              </a:rPr>
              <a:t>Make sure your notes have every detail — the team depends on them.</a:t>
            </a:r>
            <a:endParaRPr lang="en-US" sz="1200" dirty="0"/>
          </a:p>
        </p:txBody>
      </p:sp>
      <p:sp>
        <p:nvSpPr>
          <p:cNvPr id="17" name="Shape 11"/>
          <p:cNvSpPr/>
          <p:nvPr/>
        </p:nvSpPr>
        <p:spPr>
          <a:xfrm>
            <a:off x="856793" y="6457493"/>
            <a:ext cx="6105449" cy="780898"/>
          </a:xfrm>
          <a:prstGeom prst="roundRect">
            <a:avLst>
              <a:gd name="adj" fmla="val 21897"/>
            </a:avLst>
          </a:prstGeom>
          <a:solidFill>
            <a:srgbClr val="2C4252"/>
          </a:solidFill>
          <a:ln w="12700">
            <a:solidFill>
              <a:srgbClr val="FFFFFF">
                <a:alpha val="0"/>
              </a:srgbClr>
            </a:solidFill>
            <a:prstDash val="solid"/>
          </a:ln>
        </p:spPr>
      </p:sp>
      <p:sp>
        <p:nvSpPr>
          <p:cNvPr id="18" name="Shape 12"/>
          <p:cNvSpPr/>
          <p:nvPr/>
        </p:nvSpPr>
        <p:spPr>
          <a:xfrm>
            <a:off x="1085393" y="6629400"/>
            <a:ext cx="437998" cy="437998"/>
          </a:xfrm>
          <a:prstGeom prst="roundRect">
            <a:avLst>
              <a:gd name="adj" fmla="val 30480"/>
            </a:avLst>
          </a:prstGeom>
          <a:solidFill>
            <a:srgbClr val="BBDCC1"/>
          </a:solidFill>
          <a:ln w="12700">
            <a:solidFill>
              <a:srgbClr val="FFFFFF">
                <a:alpha val="0"/>
              </a:srgbClr>
            </a:solidFill>
            <a:prstDash val="solid"/>
          </a:ln>
        </p:spPr>
      </p:sp>
      <p:sp>
        <p:nvSpPr>
          <p:cNvPr id="19" name="Text 13"/>
          <p:cNvSpPr txBox="1"/>
          <p:nvPr/>
        </p:nvSpPr>
        <p:spPr>
          <a:xfrm>
            <a:off x="1085393" y="6629400"/>
            <a:ext cx="438912" cy="438912"/>
          </a:xfrm>
          <a:prstGeom prst="rect">
            <a:avLst/>
          </a:prstGeom>
          <a:solidFill>
            <a:srgbClr val="FFFFFF">
              <a:alpha val="0"/>
            </a:srgbClr>
          </a:solidFill>
          <a:ln>
            <a:solidFill>
              <a:srgbClr val="FFFFFF">
                <a:alpha val="0"/>
              </a:srgbClr>
            </a:solidFill>
          </a:ln>
        </p:spPr>
        <p:txBody>
          <a:bodyPr wrap="square" lIns="0" tIns="0" rIns="0" bIns="0" rtlCol="0" anchor="ctr"/>
          <a:lstStyle/>
          <a:p>
            <a:pPr algn="ctr" indent="0" marL="0">
              <a:buNone/>
            </a:pPr>
            <a:r>
              <a:rPr lang="en-US" sz="1650" b="1" dirty="0">
                <a:solidFill>
                  <a:srgbClr val="2C4252"/>
                </a:solidFill>
                <a:latin typeface="Nunito" pitchFamily="34" charset="0"/>
                <a:ea typeface="Nunito" pitchFamily="34" charset="-122"/>
                <a:cs typeface="Nunito" pitchFamily="34" charset="-120"/>
              </a:rPr>
              <a:t>↻</a:t>
            </a:r>
            <a:endParaRPr lang="en-US" sz="1650" dirty="0"/>
          </a:p>
        </p:txBody>
      </p:sp>
      <p:sp>
        <p:nvSpPr>
          <p:cNvPr id="20" name="Text 14"/>
          <p:cNvSpPr txBox="1"/>
          <p:nvPr/>
        </p:nvSpPr>
        <p:spPr>
          <a:xfrm>
            <a:off x="1695298" y="6656832"/>
            <a:ext cx="5039258" cy="191110"/>
          </a:xfrm>
          <a:prstGeom prst="rect">
            <a:avLst/>
          </a:prstGeom>
          <a:noFill/>
          <a:ln/>
        </p:spPr>
        <p:txBody>
          <a:bodyPr wrap="none" lIns="0" tIns="0" rIns="0" bIns="0" rtlCol="0" anchor="ctr"/>
          <a:lstStyle/>
          <a:p>
            <a:pPr algn="l" indent="0" marL="0">
              <a:buNone/>
            </a:pPr>
            <a:r>
              <a:rPr lang="en-US" sz="1125" b="1" dirty="0">
                <a:solidFill>
                  <a:srgbClr val="FFFFFF"/>
                </a:solidFill>
                <a:latin typeface="Nunito" pitchFamily="34" charset="0"/>
                <a:ea typeface="Nunito" pitchFamily="34" charset="-122"/>
                <a:cs typeface="Nunito" pitchFamily="34" charset="-120"/>
              </a:rPr>
              <a:t>Close the loop</a:t>
            </a:r>
            <a:endParaRPr lang="en-US" sz="1125" dirty="0"/>
          </a:p>
        </p:txBody>
      </p:sp>
      <p:sp>
        <p:nvSpPr>
          <p:cNvPr id="21" name="Text 15"/>
          <p:cNvSpPr txBox="1"/>
          <p:nvPr/>
        </p:nvSpPr>
        <p:spPr>
          <a:xfrm>
            <a:off x="1695298" y="6866230"/>
            <a:ext cx="5725058" cy="181051"/>
          </a:xfrm>
          <a:prstGeom prst="rect">
            <a:avLst/>
          </a:prstGeom>
          <a:noFill/>
          <a:ln/>
        </p:spPr>
        <p:txBody>
          <a:bodyPr wrap="none" lIns="0" tIns="0" rIns="0" bIns="0" rtlCol="0" anchor="ctr"/>
          <a:lstStyle/>
          <a:p>
            <a:pPr algn="l" indent="0" marL="0">
              <a:buNone/>
            </a:pPr>
            <a:r>
              <a:rPr lang="en-US" sz="975" dirty="0">
                <a:solidFill>
                  <a:srgbClr val="DDE6EF"/>
                </a:solidFill>
                <a:latin typeface="Quicksand" pitchFamily="34" charset="0"/>
                <a:ea typeface="Quicksand" pitchFamily="34" charset="-122"/>
                <a:cs typeface="Quicksand" pitchFamily="34" charset="-120"/>
              </a:rPr>
              <a:t>Repeat until records arrive and the request turns purple. Every day's progress matters.</a:t>
            </a:r>
            <a:endParaRPr lang="en-US" sz="975"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7F2"/>
        </a:solidFill>
      </p:bgPr>
    </p:bg>
    <p:spTree>
      <p:nvGrpSpPr>
        <p:cNvPr id="1" name=""/>
        <p:cNvGrpSpPr/>
        <p:nvPr/>
      </p:nvGrpSpPr>
      <p:grpSpPr>
        <a:xfrm>
          <a:off x="0" y="0"/>
          <a:ext cx="0" cy="0"/>
          <a:chOff x="0" y="0"/>
          <a:chExt cx="0" cy="0"/>
        </a:xfrm>
      </p:grpSpPr>
      <p:pic>
        <p:nvPicPr>
          <p:cNvPr id="2" name="Image 0" descr="gen-dedup-699271e46ebeb5059f846979a40dc16f.png">    </p:cNvPr>
          <p:cNvPicPr>
            <a:picLocks noChangeAspect="1"/>
          </p:cNvPicPr>
          <p:nvPr/>
        </p:nvPicPr>
        <p:blipFill>
          <a:blip r:embed="rId1">
            <a:alphaModFix amt="50000"/>
          </a:blip>
          <a:srcRect l="0" r="0" t="0" b="0"/>
          <a:stretch/>
        </p:blipFill>
        <p:spPr>
          <a:xfrm>
            <a:off x="-1524305" y="5618988"/>
            <a:ext cx="3619195" cy="3619195"/>
          </a:xfrm>
          <a:prstGeom prst="rect">
            <a:avLst/>
          </a:prstGeom>
        </p:spPr>
      </p:pic>
      <p:pic>
        <p:nvPicPr>
          <p:cNvPr id="3" name="Image 1" descr="gen-dedup-a8133abe1bed5af1233a083ee929ce61.png">    </p:cNvPr>
          <p:cNvPicPr>
            <a:picLocks noChangeAspect="1"/>
          </p:cNvPicPr>
          <p:nvPr/>
        </p:nvPicPr>
        <p:blipFill>
          <a:blip r:embed="rId2">
            <a:alphaModFix amt="55000"/>
          </a:blip>
          <a:srcRect l="0" r="0" t="0" b="0"/>
          <a:stretch/>
        </p:blipFill>
        <p:spPr>
          <a:xfrm>
            <a:off x="10857586" y="-1714500"/>
            <a:ext cx="4572000" cy="4572000"/>
          </a:xfrm>
          <a:prstGeom prst="rect">
            <a:avLst/>
          </a:prstGeom>
        </p:spPr>
      </p:pic>
      <p:sp>
        <p:nvSpPr>
          <p:cNvPr id="4" name="Shape 0"/>
          <p:cNvSpPr/>
          <p:nvPr/>
        </p:nvSpPr>
        <p:spPr>
          <a:xfrm>
            <a:off x="856793" y="705002"/>
            <a:ext cx="1990649" cy="323698"/>
          </a:xfrm>
          <a:prstGeom prst="roundRect">
            <a:avLst>
              <a:gd name="adj" fmla="val 50000"/>
            </a:avLst>
          </a:prstGeom>
          <a:solidFill>
            <a:srgbClr val="BBDCC1"/>
          </a:solidFill>
          <a:ln w="12700">
            <a:solidFill>
              <a:srgbClr val="FFFFFF">
                <a:alpha val="0"/>
              </a:srgbClr>
            </a:solidFill>
            <a:prstDash val="solid"/>
          </a:ln>
        </p:spPr>
      </p:sp>
      <p:sp>
        <p:nvSpPr>
          <p:cNvPr id="5" name="Text 1"/>
          <p:cNvSpPr/>
          <p:nvPr/>
        </p:nvSpPr>
        <p:spPr>
          <a:xfrm>
            <a:off x="856793" y="705002"/>
            <a:ext cx="1990649" cy="324612"/>
          </a:xfrm>
          <a:prstGeom prst="rect">
            <a:avLst/>
          </a:prstGeom>
          <a:solidFill>
            <a:srgbClr val="FFFFFF">
              <a:alpha val="0"/>
            </a:srgbClr>
          </a:solidFill>
          <a:ln>
            <a:solidFill>
              <a:srgbClr val="FFFFFF">
                <a:alpha val="0"/>
              </a:srgbClr>
            </a:solidFill>
          </a:ln>
        </p:spPr>
        <p:txBody>
          <a:bodyPr wrap="none" lIns="190500" tIns="76200" rIns="190500" bIns="76200" rtlCol="0" anchor="ctr"/>
          <a:lstStyle/>
          <a:p>
            <a:pPr algn="ctr" indent="0" marL="0">
              <a:buNone/>
            </a:pPr>
            <a:r>
              <a:rPr lang="en-US" sz="975" b="1" spc="214" kern="0" dirty="0">
                <a:solidFill>
                  <a:srgbClr val="2C4252"/>
                </a:solidFill>
                <a:latin typeface="Nunito" pitchFamily="34" charset="0"/>
                <a:ea typeface="Nunito" pitchFamily="34" charset="-122"/>
                <a:cs typeface="Nunito" pitchFamily="34" charset="-120"/>
              </a:rPr>
              <a:t>Close the month</a:t>
            </a:r>
            <a:endParaRPr lang="en-US" sz="975" dirty="0"/>
          </a:p>
        </p:txBody>
      </p:sp>
      <p:sp>
        <p:nvSpPr>
          <p:cNvPr id="6" name="Text 2"/>
          <p:cNvSpPr txBox="1"/>
          <p:nvPr/>
        </p:nvSpPr>
        <p:spPr>
          <a:xfrm>
            <a:off x="856793" y="1238098"/>
            <a:ext cx="11810390" cy="667512"/>
          </a:xfrm>
          <a:prstGeom prst="rect">
            <a:avLst/>
          </a:prstGeom>
          <a:noFill/>
          <a:ln/>
        </p:spPr>
        <p:txBody>
          <a:bodyPr wrap="none" lIns="0" tIns="0" rIns="0" bIns="0" rtlCol="0" anchor="ctr"/>
          <a:lstStyle/>
          <a:p>
            <a:pPr algn="l" indent="0" marL="0">
              <a:buNone/>
            </a:pPr>
            <a:r>
              <a:rPr lang="en-US" sz="4950" b="1" spc="-99" kern="0" dirty="0">
                <a:solidFill>
                  <a:srgbClr val="2C4252"/>
                </a:solidFill>
                <a:latin typeface="Nunito" pitchFamily="34" charset="0"/>
                <a:ea typeface="Nunito" pitchFamily="34" charset="-122"/>
                <a:cs typeface="Nunito" pitchFamily="34" charset="-120"/>
              </a:rPr>
              <a:t>Repeating steps </a:t>
            </a:r>
            <a:pPr algn="l" indent="0" marL="0">
              <a:buNone/>
            </a:pPr>
            <a:r>
              <a:rPr lang="en-US" sz="4950" b="1" spc="-99" kern="0" dirty="0">
                <a:solidFill>
                  <a:srgbClr val="4B7FC2"/>
                </a:solidFill>
                <a:latin typeface="Nunito" pitchFamily="34" charset="0"/>
                <a:ea typeface="Nunito" pitchFamily="34" charset="-122"/>
                <a:cs typeface="Nunito" pitchFamily="34" charset="-120"/>
              </a:rPr>
              <a:t>until purple</a:t>
            </a:r>
            <a:pPr algn="l" indent="0" marL="0">
              <a:buNone/>
            </a:pPr>
            <a:r>
              <a:rPr lang="en-US" sz="4950" b="1" spc="-99" kern="0" dirty="0">
                <a:solidFill>
                  <a:srgbClr val="2C4252"/>
                </a:solidFill>
                <a:latin typeface="Nunito" pitchFamily="34" charset="0"/>
                <a:ea typeface="Nunito" pitchFamily="34" charset="-122"/>
                <a:cs typeface="Nunito" pitchFamily="34" charset="-120"/>
              </a:rPr>
              <a:t>.</a:t>
            </a:r>
            <a:endParaRPr lang="en-US" sz="4950" dirty="0"/>
          </a:p>
        </p:txBody>
      </p:sp>
      <p:sp>
        <p:nvSpPr>
          <p:cNvPr id="7" name="Text 3"/>
          <p:cNvSpPr txBox="1"/>
          <p:nvPr/>
        </p:nvSpPr>
        <p:spPr>
          <a:xfrm>
            <a:off x="856793" y="2286000"/>
            <a:ext cx="8191195" cy="609905"/>
          </a:xfrm>
          <a:prstGeom prst="rect">
            <a:avLst/>
          </a:prstGeom>
          <a:noFill/>
          <a:ln/>
        </p:spPr>
        <p:txBody>
          <a:bodyPr wrap="square" lIns="0" tIns="0" rIns="0" bIns="0" rtlCol="0" anchor="ctr"/>
          <a:lstStyle/>
          <a:p>
            <a:pPr algn="l" indent="0" marL="0">
              <a:lnSpc>
                <a:spcPts val="2400"/>
              </a:lnSpc>
              <a:buNone/>
            </a:pPr>
            <a:r>
              <a:rPr lang="en-US" sz="1500" dirty="0">
                <a:solidFill>
                  <a:srgbClr val="3F5566"/>
                </a:solidFill>
                <a:latin typeface="Quicksand" pitchFamily="34" charset="0"/>
                <a:ea typeface="Quicksand" pitchFamily="34" charset="-122"/>
                <a:cs typeface="Quicksand" pitchFamily="34" charset="-120"/>
              </a:rPr>
              <a:t>All of these steps continue to repeat </a:t>
            </a:r>
            <a:pPr algn="l" indent="0" marL="0">
              <a:lnSpc>
                <a:spcPts val="2400"/>
              </a:lnSpc>
              <a:buNone/>
            </a:pPr>
            <a:r>
              <a:rPr lang="en-US" sz="1500" b="1" dirty="0">
                <a:solidFill>
                  <a:srgbClr val="2C4252"/>
                </a:solidFill>
                <a:latin typeface="Quicksand" pitchFamily="34" charset="0"/>
                <a:ea typeface="Quicksand" pitchFamily="34" charset="-122"/>
                <a:cs typeface="Quicksand" pitchFamily="34" charset="-120"/>
              </a:rPr>
              <a:t>until every record for the month has been retrieved</a:t>
            </a:r>
            <a:pPr algn="l" indent="0" marL="0">
              <a:lnSpc>
                <a:spcPts val="2400"/>
              </a:lnSpc>
              <a:buNone/>
            </a:pPr>
            <a:r>
              <a:rPr lang="en-US" sz="1500" dirty="0">
                <a:solidFill>
                  <a:srgbClr val="3F5566"/>
                </a:solidFill>
                <a:latin typeface="Quicksand" pitchFamily="34" charset="0"/>
                <a:ea typeface="Quicksand" pitchFamily="34" charset="-122"/>
                <a:cs typeface="Quicksand" pitchFamily="34" charset="-120"/>
              </a:rPr>
              <a:t> and the month is closed out.</a:t>
            </a:r>
            <a:endParaRPr lang="en-US" sz="1500" dirty="0"/>
          </a:p>
        </p:txBody>
      </p:sp>
      <p:sp>
        <p:nvSpPr>
          <p:cNvPr id="8" name="Text 4"/>
          <p:cNvSpPr txBox="1"/>
          <p:nvPr/>
        </p:nvSpPr>
        <p:spPr>
          <a:xfrm>
            <a:off x="856793" y="3047695"/>
            <a:ext cx="8876995" cy="305410"/>
          </a:xfrm>
          <a:prstGeom prst="rect">
            <a:avLst/>
          </a:prstGeom>
          <a:noFill/>
          <a:ln/>
        </p:spPr>
        <p:txBody>
          <a:bodyPr wrap="none" lIns="0" tIns="0" rIns="0" bIns="0" rtlCol="0" anchor="ctr"/>
          <a:lstStyle/>
          <a:p>
            <a:pPr algn="l" indent="0" marL="0">
              <a:buNone/>
            </a:pPr>
            <a:r>
              <a:rPr lang="en-US" sz="1500" dirty="0">
                <a:solidFill>
                  <a:srgbClr val="3F5566"/>
                </a:solidFill>
                <a:latin typeface="Quicksand" pitchFamily="34" charset="0"/>
                <a:ea typeface="Quicksand" pitchFamily="34" charset="-122"/>
                <a:cs typeface="Quicksand" pitchFamily="34" charset="-120"/>
              </a:rPr>
              <a:t>Closing months is easier than juggling several open ones. </a:t>
            </a:r>
            <a:pPr algn="l" indent="0" marL="0">
              <a:buNone/>
            </a:pPr>
            <a:r>
              <a:rPr lang="en-US" sz="1500" b="1" i="1" dirty="0">
                <a:solidFill>
                  <a:srgbClr val="4B7FC2"/>
                </a:solidFill>
                <a:latin typeface="Quicksand" pitchFamily="34" charset="0"/>
                <a:ea typeface="Quicksand" pitchFamily="34" charset="-122"/>
                <a:cs typeface="Quicksand" pitchFamily="34" charset="-120"/>
              </a:rPr>
              <a:t>Work one month at a time.</a:t>
            </a:r>
            <a:endParaRPr lang="en-US" sz="1500" dirty="0"/>
          </a:p>
        </p:txBody>
      </p:sp>
      <p:sp>
        <p:nvSpPr>
          <p:cNvPr id="9" name="Text 5"/>
          <p:cNvSpPr txBox="1"/>
          <p:nvPr/>
        </p:nvSpPr>
        <p:spPr>
          <a:xfrm>
            <a:off x="856793" y="3504895"/>
            <a:ext cx="8191195" cy="609905"/>
          </a:xfrm>
          <a:prstGeom prst="rect">
            <a:avLst/>
          </a:prstGeom>
          <a:noFill/>
          <a:ln/>
        </p:spPr>
        <p:txBody>
          <a:bodyPr wrap="square" lIns="0" tIns="0" rIns="0" bIns="0" rtlCol="0" anchor="ctr"/>
          <a:lstStyle/>
          <a:p>
            <a:pPr algn="l" indent="0" marL="0">
              <a:lnSpc>
                <a:spcPts val="2400"/>
              </a:lnSpc>
              <a:buNone/>
            </a:pPr>
            <a:r>
              <a:rPr lang="en-US" sz="1500" dirty="0">
                <a:solidFill>
                  <a:srgbClr val="3F5566"/>
                </a:solidFill>
                <a:latin typeface="Quicksand" pitchFamily="34" charset="0"/>
                <a:ea typeface="Quicksand" pitchFamily="34" charset="-122"/>
                <a:cs typeface="Quicksand" pitchFamily="34" charset="-120"/>
              </a:rPr>
              <a:t>Once records arrive, MR uploads to the portal or faxes to the facility, notes the log, and </a:t>
            </a:r>
            <a:pPr algn="l" indent="0" marL="0">
              <a:lnSpc>
                <a:spcPts val="2400"/>
              </a:lnSpc>
              <a:buNone/>
            </a:pPr>
            <a:r>
              <a:rPr lang="en-US" sz="1500" b="1" dirty="0">
                <a:solidFill>
                  <a:srgbClr val="7C5BFF"/>
                </a:solidFill>
                <a:latin typeface="Quicksand" pitchFamily="34" charset="0"/>
                <a:ea typeface="Quicksand" pitchFamily="34" charset="-122"/>
                <a:cs typeface="Quicksand" pitchFamily="34" charset="-120"/>
              </a:rPr>
              <a:t>highlights the request purple</a:t>
            </a:r>
            <a:pPr algn="l" indent="0" marL="0">
              <a:lnSpc>
                <a:spcPts val="2400"/>
              </a:lnSpc>
              <a:buNone/>
            </a:pPr>
            <a:r>
              <a:rPr lang="en-US" sz="1500" dirty="0">
                <a:solidFill>
                  <a:srgbClr val="3F5566"/>
                </a:solidFill>
                <a:latin typeface="Quicksand" pitchFamily="34" charset="0"/>
                <a:ea typeface="Quicksand" pitchFamily="34" charset="-122"/>
                <a:cs typeface="Quicksand" pitchFamily="34" charset="-120"/>
              </a:rPr>
              <a:t>: complete.</a:t>
            </a:r>
            <a:endParaRPr lang="en-US" sz="1500" dirty="0"/>
          </a:p>
        </p:txBody>
      </p:sp>
      <p:sp>
        <p:nvSpPr>
          <p:cNvPr id="10" name="Shape 6"/>
          <p:cNvSpPr/>
          <p:nvPr/>
        </p:nvSpPr>
        <p:spPr>
          <a:xfrm>
            <a:off x="8667598" y="2286000"/>
            <a:ext cx="4190695" cy="2695651"/>
          </a:xfrm>
          <a:prstGeom prst="roundRect">
            <a:avLst>
              <a:gd name="adj" fmla="val 8480"/>
            </a:avLst>
          </a:prstGeom>
          <a:solidFill>
            <a:srgbClr val="FFFFFF"/>
          </a:solidFill>
          <a:ln w="12700">
            <a:solidFill>
              <a:srgbClr val="FFFFFF">
                <a:alpha val="0"/>
              </a:srgbClr>
            </a:solidFill>
            <a:prstDash val="solid"/>
          </a:ln>
          <a:effectLst>
            <a:outerShdw sx="100000" sy="100000" kx="0" ky="0" algn="bl" rotWithShape="0" blurRad="457200" dist="177800" dir="16200000">
              <a:srgbClr val="2c4252">
                <a:alpha val="10000"/>
              </a:srgbClr>
            </a:outerShdw>
          </a:effectLst>
        </p:spPr>
      </p:sp>
      <p:sp>
        <p:nvSpPr>
          <p:cNvPr id="11" name="Text 7"/>
          <p:cNvSpPr txBox="1"/>
          <p:nvPr/>
        </p:nvSpPr>
        <p:spPr>
          <a:xfrm>
            <a:off x="8952890" y="2952598"/>
            <a:ext cx="3620110" cy="247802"/>
          </a:xfrm>
          <a:prstGeom prst="rect">
            <a:avLst/>
          </a:prstGeom>
          <a:noFill/>
          <a:ln/>
        </p:spPr>
        <p:txBody>
          <a:bodyPr wrap="none" lIns="0" tIns="0" rIns="0" bIns="0" rtlCol="0" anchor="ctr"/>
          <a:lstStyle/>
          <a:p>
            <a:pPr algn="l" indent="0" marL="0">
              <a:buNone/>
            </a:pPr>
            <a:r>
              <a:rPr lang="en-US" sz="1575" b="1" dirty="0">
                <a:solidFill>
                  <a:srgbClr val="2C4252"/>
                </a:solidFill>
                <a:latin typeface="Nunito" pitchFamily="34" charset="0"/>
                <a:ea typeface="Nunito" pitchFamily="34" charset="-122"/>
                <a:cs typeface="Nunito" pitchFamily="34" charset="-120"/>
              </a:rPr>
              <a:t>Your run of show</a:t>
            </a:r>
            <a:endParaRPr lang="en-US" sz="1575" dirty="0"/>
          </a:p>
        </p:txBody>
      </p:sp>
      <p:sp>
        <p:nvSpPr>
          <p:cNvPr id="12" name="Text 8"/>
          <p:cNvSpPr txBox="1"/>
          <p:nvPr/>
        </p:nvSpPr>
        <p:spPr>
          <a:xfrm>
            <a:off x="8952890" y="3325673"/>
            <a:ext cx="3620110" cy="1391717"/>
          </a:xfrm>
          <a:prstGeom prst="rect">
            <a:avLst/>
          </a:prstGeom>
          <a:noFill/>
          <a:ln/>
        </p:spPr>
        <p:txBody>
          <a:bodyPr wrap="square" lIns="0" tIns="0" rIns="0" bIns="0" rtlCol="0" anchor="t"/>
          <a:lstStyle/>
          <a:p>
            <a:pPr algn="l" indent="0" marL="0">
              <a:buNone/>
            </a:pPr>
            <a:r>
              <a:rPr lang="en-US" sz="1200" dirty="0">
                <a:solidFill>
                  <a:srgbClr val="2C4252"/>
                </a:solidFill>
                <a:latin typeface="Quicksand" pitchFamily="34" charset="0"/>
                <a:ea typeface="Quicksand" pitchFamily="34" charset="-122"/>
                <a:cs typeface="Quicksand" pitchFamily="34" charset="-120"/>
              </a:rPr>
              <a:t>​</a:t>
            </a:r>
            <a:pPr algn="l" indent="0" marL="0">
              <a:buNone/>
            </a:pPr>
            <a:r>
              <a:rPr lang="en-US" sz="1087" b="1" dirty="0">
                <a:solidFill>
                  <a:srgbClr val="2C4252"/>
                </a:solidFill>
                <a:latin typeface="Quicksand" pitchFamily="34" charset="0"/>
                <a:ea typeface="Quicksand" pitchFamily="34" charset="-122"/>
                <a:cs typeface="Quicksand" pitchFamily="34" charset="-120"/>
              </a:rPr>
              <a:t>Open the log — work the oldest pending rows first.</a:t>
            </a:r>
            <a:pPr algn="l" indent="0" marL="0">
              <a:buNone/>
            </a:pPr>
            <a:endParaRPr lang="en-US" sz="1200" dirty="0"/>
          </a:p>
          <a:p>
            <a:pPr algn="l" indent="0" marL="0">
              <a:buNone/>
            </a:pPr>
            <a:r>
              <a:rPr lang="en-US" sz="1200" dirty="0">
                <a:solidFill>
                  <a:srgbClr val="2C4252"/>
                </a:solidFill>
                <a:latin typeface="Quicksand" pitchFamily="34" charset="0"/>
                <a:ea typeface="Quicksand" pitchFamily="34" charset="-122"/>
                <a:cs typeface="Quicksand" pitchFamily="34" charset="-120"/>
              </a:rPr>
              <a:t>​</a:t>
            </a:r>
            <a:pPr algn="l" indent="0" marL="0">
              <a:buNone/>
            </a:pPr>
            <a:r>
              <a:rPr lang="en-US" sz="1087" b="1" dirty="0">
                <a:solidFill>
                  <a:srgbClr val="2C4252"/>
                </a:solidFill>
                <a:latin typeface="Quicksand" pitchFamily="34" charset="0"/>
                <a:ea typeface="Quicksand" pitchFamily="34" charset="-122"/>
                <a:cs typeface="Quicksand" pitchFamily="34" charset="-120"/>
              </a:rPr>
              <a:t>Call the facility with the script and identity info.</a:t>
            </a:r>
            <a:pPr algn="l" indent="0" marL="0">
              <a:buNone/>
            </a:pPr>
            <a:endParaRPr lang="en-US" sz="1200" dirty="0"/>
          </a:p>
          <a:p>
            <a:pPr algn="l" indent="0" marL="0">
              <a:buNone/>
            </a:pPr>
            <a:r>
              <a:rPr lang="en-US" sz="1200" dirty="0">
                <a:solidFill>
                  <a:srgbClr val="2C4252"/>
                </a:solidFill>
                <a:latin typeface="Quicksand" pitchFamily="34" charset="0"/>
                <a:ea typeface="Quicksand" pitchFamily="34" charset="-122"/>
                <a:cs typeface="Quicksand" pitchFamily="34" charset="-120"/>
              </a:rPr>
              <a:t>​</a:t>
            </a:r>
            <a:pPr algn="l" indent="0" marL="0">
              <a:buNone/>
            </a:pPr>
            <a:r>
              <a:rPr lang="en-US" sz="1087" b="1" dirty="0">
                <a:solidFill>
                  <a:srgbClr val="2C4252"/>
                </a:solidFill>
                <a:latin typeface="Quicksand" pitchFamily="34" charset="0"/>
                <a:ea typeface="Quicksand" pitchFamily="34" charset="-122"/>
                <a:cs typeface="Quicksand" pitchFamily="34" charset="-120"/>
              </a:rPr>
              <a:t>Add your notes (latest first, never delete).</a:t>
            </a:r>
            <a:pPr algn="l" indent="0" marL="0">
              <a:buNone/>
            </a:pPr>
            <a:endParaRPr lang="en-US" sz="1200" dirty="0"/>
          </a:p>
          <a:p>
            <a:pPr algn="l" indent="0" marL="0">
              <a:buNone/>
            </a:pPr>
            <a:r>
              <a:rPr lang="en-US" sz="1200" dirty="0">
                <a:solidFill>
                  <a:srgbClr val="2C4252"/>
                </a:solidFill>
                <a:latin typeface="Quicksand" pitchFamily="34" charset="0"/>
                <a:ea typeface="Quicksand" pitchFamily="34" charset="-122"/>
                <a:cs typeface="Quicksand" pitchFamily="34" charset="-120"/>
              </a:rPr>
              <a:t>​</a:t>
            </a:r>
            <a:pPr algn="l" indent="0" marL="0">
              <a:buNone/>
            </a:pPr>
            <a:r>
              <a:rPr lang="en-US" sz="1087" b="1" dirty="0">
                <a:solidFill>
                  <a:srgbClr val="2C4252"/>
                </a:solidFill>
                <a:latin typeface="Quicksand" pitchFamily="34" charset="0"/>
                <a:ea typeface="Quicksand" pitchFamily="34" charset="-122"/>
                <a:cs typeface="Quicksand" pitchFamily="34" charset="-120"/>
              </a:rPr>
              <a:t>Follow up until records arrive.</a:t>
            </a:r>
            <a:pPr algn="l" indent="0" marL="0">
              <a:buNone/>
            </a:pPr>
            <a:endParaRPr lang="en-US" sz="1200" dirty="0"/>
          </a:p>
          <a:p>
            <a:pPr algn="l" indent="0" marL="0">
              <a:buNone/>
            </a:pPr>
            <a:r>
              <a:rPr lang="en-US" sz="1200" dirty="0">
                <a:solidFill>
                  <a:srgbClr val="2C4252"/>
                </a:solidFill>
                <a:latin typeface="Quicksand" pitchFamily="34" charset="0"/>
                <a:ea typeface="Quicksand" pitchFamily="34" charset="-122"/>
                <a:cs typeface="Quicksand" pitchFamily="34" charset="-120"/>
              </a:rPr>
              <a:t>​</a:t>
            </a:r>
            <a:pPr algn="l" indent="0" marL="0">
              <a:buNone/>
            </a:pPr>
            <a:r>
              <a:rPr lang="en-US" sz="1087" b="1" dirty="0">
                <a:solidFill>
                  <a:srgbClr val="2C4252"/>
                </a:solidFill>
                <a:latin typeface="Quicksand" pitchFamily="34" charset="0"/>
                <a:ea typeface="Quicksand" pitchFamily="34" charset="-122"/>
                <a:cs typeface="Quicksand" pitchFamily="34" charset="-120"/>
              </a:rPr>
              <a:t>Close the month once everything is purple.</a:t>
            </a:r>
            <a:endParaRPr lang="en-US" sz="1200" dirty="0"/>
          </a:p>
        </p:txBody>
      </p:sp>
      <p:sp>
        <p:nvSpPr>
          <p:cNvPr id="13" name="Shape 9"/>
          <p:cNvSpPr/>
          <p:nvPr/>
        </p:nvSpPr>
        <p:spPr>
          <a:xfrm>
            <a:off x="8952890" y="2553005"/>
            <a:ext cx="1457554" cy="267005"/>
          </a:xfrm>
          <a:prstGeom prst="roundRect">
            <a:avLst>
              <a:gd name="adj" fmla="val 28425"/>
            </a:avLst>
          </a:prstGeom>
          <a:solidFill>
            <a:srgbClr val="BBDCC1"/>
          </a:solidFill>
          <a:ln w="12700">
            <a:solidFill>
              <a:srgbClr val="FFFFFF">
                <a:alpha val="0"/>
              </a:srgbClr>
            </a:solidFill>
            <a:prstDash val="solid"/>
          </a:ln>
        </p:spPr>
      </p:sp>
      <p:sp>
        <p:nvSpPr>
          <p:cNvPr id="14" name="Text 10"/>
          <p:cNvSpPr txBox="1"/>
          <p:nvPr/>
        </p:nvSpPr>
        <p:spPr>
          <a:xfrm>
            <a:off x="8952890" y="2553005"/>
            <a:ext cx="1457554" cy="267005"/>
          </a:xfrm>
          <a:prstGeom prst="rect">
            <a:avLst/>
          </a:prstGeom>
          <a:solidFill>
            <a:srgbClr val="FFFFFF">
              <a:alpha val="0"/>
            </a:srgbClr>
          </a:solidFill>
          <a:ln>
            <a:solidFill>
              <a:srgbClr val="FFFFFF">
                <a:alpha val="0"/>
              </a:srgbClr>
            </a:solidFill>
          </a:ln>
        </p:spPr>
        <p:txBody>
          <a:bodyPr wrap="none" lIns="127000" tIns="50800" rIns="127000" bIns="50800" rtlCol="0" anchor="ctr"/>
          <a:lstStyle/>
          <a:p>
            <a:pPr algn="l" indent="0" marL="0">
              <a:buNone/>
            </a:pPr>
            <a:r>
              <a:rPr lang="en-US" sz="900" b="1" spc="198" kern="0" dirty="0">
                <a:solidFill>
                  <a:srgbClr val="2C4252"/>
                </a:solidFill>
                <a:latin typeface="Nunito" pitchFamily="34" charset="0"/>
                <a:ea typeface="Nunito" pitchFamily="34" charset="-122"/>
                <a:cs typeface="Nunito" pitchFamily="34" charset="-120"/>
              </a:rPr>
              <a:t>Daily rhythm</a:t>
            </a:r>
            <a:endParaRPr lang="en-US" sz="900" dirty="0"/>
          </a:p>
        </p:txBody>
      </p:sp>
      <p:sp>
        <p:nvSpPr>
          <p:cNvPr id="15" name="Shape 11"/>
          <p:cNvSpPr/>
          <p:nvPr/>
        </p:nvSpPr>
        <p:spPr>
          <a:xfrm>
            <a:off x="856793" y="7052767"/>
            <a:ext cx="95098" cy="95098"/>
          </a:xfrm>
          <a:prstGeom prst="ellipse">
            <a:avLst/>
          </a:prstGeom>
          <a:solidFill>
            <a:srgbClr val="7C5BFF"/>
          </a:solidFill>
          <a:ln w="12700">
            <a:solidFill>
              <a:srgbClr val="FFFFFF">
                <a:alpha val="0"/>
              </a:srgbClr>
            </a:solidFill>
            <a:prstDash val="solid"/>
          </a:ln>
        </p:spPr>
      </p:sp>
      <p:sp>
        <p:nvSpPr>
          <p:cNvPr id="16" name="Text 12"/>
          <p:cNvSpPr txBox="1"/>
          <p:nvPr/>
        </p:nvSpPr>
        <p:spPr>
          <a:xfrm>
            <a:off x="1085393" y="7009790"/>
            <a:ext cx="4667098" cy="181051"/>
          </a:xfrm>
          <a:prstGeom prst="rect">
            <a:avLst/>
          </a:prstGeom>
          <a:noFill/>
          <a:ln/>
        </p:spPr>
        <p:txBody>
          <a:bodyPr wrap="none" lIns="0" tIns="0" rIns="0" bIns="0" rtlCol="0" anchor="ctr"/>
          <a:lstStyle/>
          <a:p>
            <a:pPr algn="l" indent="0" marL="0">
              <a:buNone/>
            </a:pPr>
            <a:r>
              <a:rPr lang="en-US" sz="1050" b="1" spc="189" kern="0" dirty="0">
                <a:solidFill>
                  <a:srgbClr val="3F5566"/>
                </a:solidFill>
                <a:latin typeface="Nunito" pitchFamily="34" charset="0"/>
                <a:ea typeface="Nunito" pitchFamily="34" charset="-122"/>
                <a:cs typeface="Nunito" pitchFamily="34" charset="-120"/>
              </a:rPr>
              <a:t>Purple is the goal — every row, every month.</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75895" y="75895"/>
            <a:ext cx="13715086" cy="7714793"/>
          </a:xfrm>
          <a:prstGeom prst="rect">
            <a:avLst/>
          </a:prstGeom>
          <a:solidFill>
            <a:srgbClr val="FAF7F2"/>
          </a:solidFill>
          <a:ln w="12700">
            <a:solidFill>
              <a:srgbClr val="FFFFFF">
                <a:alpha val="0"/>
              </a:srgbClr>
            </a:solidFill>
            <a:prstDash val="solid"/>
          </a:ln>
        </p:spPr>
      </p:sp>
      <p:pic>
        <p:nvPicPr>
          <p:cNvPr id="3" name="Image 0" descr="gen-dedup-bd2a6ee679b7a4a03ef37b21c4f2e64c.png">    </p:cNvPr>
          <p:cNvPicPr>
            <a:picLocks noChangeAspect="1"/>
          </p:cNvPicPr>
          <p:nvPr/>
        </p:nvPicPr>
        <p:blipFill>
          <a:blip r:embed="rId1">
            <a:alphaModFix amt="60000"/>
          </a:blip>
          <a:srcRect l="0" r="0" t="0" b="0"/>
          <a:stretch/>
        </p:blipFill>
        <p:spPr>
          <a:xfrm>
            <a:off x="-2400300" y="-2018995"/>
            <a:ext cx="5905195" cy="5905195"/>
          </a:xfrm>
          <a:prstGeom prst="rect">
            <a:avLst/>
          </a:prstGeom>
        </p:spPr>
      </p:pic>
      <p:pic>
        <p:nvPicPr>
          <p:cNvPr id="4" name="Image 1" descr="gen-dedup-77da4e29379767d97a15d1153193957c.png">    </p:cNvPr>
          <p:cNvPicPr>
            <a:picLocks noChangeAspect="1"/>
          </p:cNvPicPr>
          <p:nvPr/>
        </p:nvPicPr>
        <p:blipFill>
          <a:blip r:embed="rId2">
            <a:alphaModFix amt="50000"/>
          </a:blip>
          <a:srcRect l="0" r="0" t="0" b="0"/>
          <a:stretch/>
        </p:blipFill>
        <p:spPr>
          <a:xfrm>
            <a:off x="10553090" y="4742993"/>
            <a:ext cx="5143500" cy="5143500"/>
          </a:xfrm>
          <a:prstGeom prst="rect">
            <a:avLst/>
          </a:prstGeom>
        </p:spPr>
      </p:pic>
      <p:pic>
        <p:nvPicPr>
          <p:cNvPr id="5" name="Image 2" descr="gen-dedup-7ad7459cc32d491f7f5e7f82766900cd.png">    </p:cNvPr>
          <p:cNvPicPr>
            <a:picLocks noChangeAspect="1"/>
          </p:cNvPicPr>
          <p:nvPr/>
        </p:nvPicPr>
        <p:blipFill>
          <a:blip r:embed="rId3"/>
          <a:srcRect l="0" r="0" t="-400" b="-400"/>
          <a:stretch/>
        </p:blipFill>
        <p:spPr>
          <a:xfrm>
            <a:off x="933602" y="1104595"/>
            <a:ext cx="571500" cy="38405"/>
          </a:xfrm>
          <a:prstGeom prst="rect">
            <a:avLst/>
          </a:prstGeom>
        </p:spPr>
      </p:pic>
      <p:sp>
        <p:nvSpPr>
          <p:cNvPr id="6" name="Shape 1"/>
          <p:cNvSpPr/>
          <p:nvPr/>
        </p:nvSpPr>
        <p:spPr>
          <a:xfrm>
            <a:off x="933602" y="685800"/>
            <a:ext cx="1457554" cy="323698"/>
          </a:xfrm>
          <a:prstGeom prst="roundRect">
            <a:avLst>
              <a:gd name="adj" fmla="val 50000"/>
            </a:avLst>
          </a:prstGeom>
          <a:solidFill>
            <a:srgbClr val="BBDCC1"/>
          </a:solidFill>
          <a:ln w="12700">
            <a:solidFill>
              <a:srgbClr val="FFFFFF">
                <a:alpha val="0"/>
              </a:srgbClr>
            </a:solidFill>
            <a:prstDash val="solid"/>
          </a:ln>
        </p:spPr>
      </p:sp>
      <p:sp>
        <p:nvSpPr>
          <p:cNvPr id="7" name="Text 2"/>
          <p:cNvSpPr/>
          <p:nvPr/>
        </p:nvSpPr>
        <p:spPr>
          <a:xfrm>
            <a:off x="933602" y="685800"/>
            <a:ext cx="1457554" cy="324612"/>
          </a:xfrm>
          <a:prstGeom prst="rect">
            <a:avLst/>
          </a:prstGeom>
          <a:solidFill>
            <a:srgbClr val="FFFFFF">
              <a:alpha val="0"/>
            </a:srgbClr>
          </a:solidFill>
          <a:ln>
            <a:solidFill>
              <a:srgbClr val="FFFFFF">
                <a:alpha val="0"/>
              </a:srgbClr>
            </a:solidFill>
          </a:ln>
        </p:spPr>
        <p:txBody>
          <a:bodyPr wrap="none" lIns="190500" tIns="76200" rIns="190500" bIns="76200" rtlCol="0" anchor="ctr"/>
          <a:lstStyle/>
          <a:p>
            <a:pPr algn="ctr" indent="0" marL="0">
              <a:buNone/>
            </a:pPr>
            <a:r>
              <a:rPr lang="en-US" sz="975" b="1" spc="214" kern="0" dirty="0">
                <a:solidFill>
                  <a:srgbClr val="2C4252"/>
                </a:solidFill>
                <a:latin typeface="Nunito" pitchFamily="34" charset="0"/>
                <a:ea typeface="Nunito" pitchFamily="34" charset="-122"/>
                <a:cs typeface="Nunito" pitchFamily="34" charset="-120"/>
              </a:rPr>
              <a:t>Open floor</a:t>
            </a:r>
            <a:endParaRPr lang="en-US" sz="975" dirty="0"/>
          </a:p>
        </p:txBody>
      </p:sp>
      <p:sp>
        <p:nvSpPr>
          <p:cNvPr id="8" name="Text 3"/>
          <p:cNvSpPr txBox="1"/>
          <p:nvPr/>
        </p:nvSpPr>
        <p:spPr>
          <a:xfrm>
            <a:off x="933602" y="1552651"/>
            <a:ext cx="7429500" cy="848563"/>
          </a:xfrm>
          <a:prstGeom prst="rect">
            <a:avLst/>
          </a:prstGeom>
          <a:noFill/>
          <a:ln/>
        </p:spPr>
        <p:txBody>
          <a:bodyPr wrap="none" lIns="0" tIns="0" rIns="0" bIns="0" rtlCol="0" anchor="ctr"/>
          <a:lstStyle/>
          <a:p>
            <a:pPr algn="l" indent="0" marL="0">
              <a:buNone/>
            </a:pPr>
            <a:r>
              <a:rPr lang="en-US" sz="6300" b="1" spc="-252" kern="0" dirty="0">
                <a:solidFill>
                  <a:srgbClr val="2C4252"/>
                </a:solidFill>
                <a:latin typeface="Nunito" pitchFamily="34" charset="0"/>
                <a:ea typeface="Nunito" pitchFamily="34" charset="-122"/>
                <a:cs typeface="Nunito" pitchFamily="34" charset="-120"/>
              </a:rPr>
              <a:t>Do you have</a:t>
            </a:r>
            <a:endParaRPr lang="en-US" sz="6300" dirty="0"/>
          </a:p>
        </p:txBody>
      </p:sp>
      <p:sp>
        <p:nvSpPr>
          <p:cNvPr id="9" name="Text 4"/>
          <p:cNvSpPr txBox="1"/>
          <p:nvPr/>
        </p:nvSpPr>
        <p:spPr>
          <a:xfrm>
            <a:off x="933602" y="2468880"/>
            <a:ext cx="7429500" cy="848563"/>
          </a:xfrm>
          <a:prstGeom prst="rect">
            <a:avLst/>
          </a:prstGeom>
          <a:noFill/>
          <a:ln/>
        </p:spPr>
        <p:txBody>
          <a:bodyPr wrap="none" lIns="0" tIns="0" rIns="0" bIns="0" rtlCol="0" anchor="ctr"/>
          <a:lstStyle/>
          <a:p>
            <a:pPr algn="l" indent="0" marL="0">
              <a:buNone/>
            </a:pPr>
            <a:r>
              <a:rPr lang="en-US" sz="6300" b="1" spc="-252" kern="0" dirty="0">
                <a:solidFill>
                  <a:srgbClr val="4B7FC2"/>
                </a:solidFill>
                <a:latin typeface="Nunito" pitchFamily="34" charset="0"/>
                <a:ea typeface="Nunito" pitchFamily="34" charset="-122"/>
                <a:cs typeface="Nunito" pitchFamily="34" charset="-120"/>
              </a:rPr>
              <a:t>any </a:t>
            </a:r>
            <a:pPr algn="l" indent="0" marL="0">
              <a:buNone/>
            </a:pPr>
            <a:r>
              <a:rPr lang="en-US" sz="6300" b="1" spc="-252" kern="0" dirty="0">
                <a:solidFill>
                  <a:srgbClr val="7C5BFF"/>
                </a:solidFill>
                <a:latin typeface="Nunito" pitchFamily="34" charset="0"/>
                <a:ea typeface="Nunito" pitchFamily="34" charset="-122"/>
                <a:cs typeface="Nunito" pitchFamily="34" charset="-120"/>
              </a:rPr>
              <a:t>questions?</a:t>
            </a:r>
            <a:endParaRPr lang="en-US" sz="6300" dirty="0"/>
          </a:p>
        </p:txBody>
      </p:sp>
      <p:sp>
        <p:nvSpPr>
          <p:cNvPr id="10" name="Text 5"/>
          <p:cNvSpPr txBox="1"/>
          <p:nvPr/>
        </p:nvSpPr>
        <p:spPr>
          <a:xfrm>
            <a:off x="933602" y="4647895"/>
            <a:ext cx="7429500" cy="286207"/>
          </a:xfrm>
          <a:prstGeom prst="rect">
            <a:avLst/>
          </a:prstGeom>
          <a:noFill/>
          <a:ln/>
        </p:spPr>
        <p:txBody>
          <a:bodyPr wrap="none" lIns="0" tIns="0" rIns="0" bIns="0" rtlCol="0" anchor="ctr"/>
          <a:lstStyle/>
          <a:p>
            <a:pPr algn="l" indent="0" marL="0">
              <a:buNone/>
            </a:pPr>
            <a:r>
              <a:rPr lang="en-US" sz="1500" dirty="0">
                <a:solidFill>
                  <a:srgbClr val="3F5566"/>
                </a:solidFill>
                <a:latin typeface="Quicksand" pitchFamily="34" charset="0"/>
                <a:ea typeface="Quicksand" pitchFamily="34" charset="-122"/>
                <a:cs typeface="Quicksand" pitchFamily="34" charset="-120"/>
              </a:rPr>
              <a:t>No question is too small. We're a team — ask anything, anytime.</a:t>
            </a:r>
            <a:endParaRPr lang="en-US" sz="1500" dirty="0"/>
          </a:p>
        </p:txBody>
      </p:sp>
      <p:pic>
        <p:nvPicPr>
          <p:cNvPr id="11" name="Image 3" descr="gen-dedup-97b6d83ab971ad0f5f43296b3652d3f1.png">    </p:cNvPr>
          <p:cNvPicPr>
            <a:picLocks noChangeAspect="1"/>
          </p:cNvPicPr>
          <p:nvPr/>
        </p:nvPicPr>
        <p:blipFill>
          <a:blip r:embed="rId4"/>
          <a:srcRect l="0" r="0" t="-17" b="-17"/>
          <a:stretch/>
        </p:blipFill>
        <p:spPr>
          <a:xfrm>
            <a:off x="933602" y="5600700"/>
            <a:ext cx="1841602" cy="609905"/>
          </a:xfrm>
          <a:prstGeom prst="rect">
            <a:avLst/>
          </a:prstGeom>
        </p:spPr>
      </p:pic>
      <p:sp>
        <p:nvSpPr>
          <p:cNvPr id="12" name="Shape 6"/>
          <p:cNvSpPr/>
          <p:nvPr/>
        </p:nvSpPr>
        <p:spPr>
          <a:xfrm>
            <a:off x="1162202" y="5733288"/>
            <a:ext cx="342900" cy="342900"/>
          </a:xfrm>
          <a:prstGeom prst="ellipse">
            <a:avLst/>
          </a:prstGeom>
          <a:solidFill>
            <a:srgbClr val="4B7FC2"/>
          </a:solidFill>
          <a:ln w="12700">
            <a:solidFill>
              <a:srgbClr val="FFFFFF">
                <a:alpha val="0"/>
              </a:srgbClr>
            </a:solidFill>
            <a:prstDash val="solid"/>
          </a:ln>
        </p:spPr>
      </p:sp>
      <p:sp>
        <p:nvSpPr>
          <p:cNvPr id="13" name="Text 7"/>
          <p:cNvSpPr/>
          <p:nvPr/>
        </p:nvSpPr>
        <p:spPr>
          <a:xfrm>
            <a:off x="1162202" y="5733288"/>
            <a:ext cx="342900" cy="342900"/>
          </a:xfrm>
          <a:prstGeom prst="rect">
            <a:avLst/>
          </a:prstGeom>
          <a:solidFill>
            <a:srgbClr val="FFFFFF">
              <a:alpha val="0"/>
            </a:srgbClr>
          </a:solidFill>
          <a:ln>
            <a:solidFill>
              <a:srgbClr val="FFFFFF">
                <a:alpha val="0"/>
              </a:srgbClr>
            </a:solidFill>
          </a:ln>
        </p:spPr>
        <p:txBody>
          <a:bodyPr wrap="none" lIns="0" tIns="0" rIns="0" bIns="0" rtlCol="0" anchor="ctr"/>
          <a:lstStyle/>
          <a:p>
            <a:pPr algn="ctr" indent="0" marL="0">
              <a:buNone/>
            </a:pPr>
            <a:r>
              <a:rPr lang="en-US" sz="1350" b="1" dirty="0">
                <a:solidFill>
                  <a:srgbClr val="FFFFFF"/>
                </a:solidFill>
                <a:latin typeface="Nunito" pitchFamily="34" charset="0"/>
                <a:ea typeface="Nunito" pitchFamily="34" charset="-122"/>
                <a:cs typeface="Nunito" pitchFamily="34" charset="-120"/>
              </a:rPr>
              <a:t>C</a:t>
            </a:r>
            <a:endParaRPr lang="en-US" sz="1350" dirty="0"/>
          </a:p>
        </p:txBody>
      </p:sp>
      <p:sp>
        <p:nvSpPr>
          <p:cNvPr id="14" name="Text 8"/>
          <p:cNvSpPr txBox="1"/>
          <p:nvPr/>
        </p:nvSpPr>
        <p:spPr>
          <a:xfrm>
            <a:off x="1619402" y="5768950"/>
            <a:ext cx="933602" cy="152705"/>
          </a:xfrm>
          <a:prstGeom prst="rect">
            <a:avLst/>
          </a:prstGeom>
          <a:noFill/>
          <a:ln/>
        </p:spPr>
        <p:txBody>
          <a:bodyPr wrap="none" lIns="0" tIns="0" rIns="0" bIns="0" rtlCol="0" anchor="ctr"/>
          <a:lstStyle/>
          <a:p>
            <a:pPr algn="l" indent="0" marL="0">
              <a:buNone/>
            </a:pPr>
            <a:r>
              <a:rPr lang="en-US" sz="1050" b="1" dirty="0">
                <a:solidFill>
                  <a:srgbClr val="2C4252"/>
                </a:solidFill>
                <a:latin typeface="Nunito" pitchFamily="34" charset="0"/>
                <a:ea typeface="Nunito" pitchFamily="34" charset="-122"/>
                <a:cs typeface="Nunito" pitchFamily="34" charset="-120"/>
              </a:rPr>
              <a:t>Team chat</a:t>
            </a:r>
            <a:endParaRPr lang="en-US" sz="1050" dirty="0"/>
          </a:p>
        </p:txBody>
      </p:sp>
      <p:sp>
        <p:nvSpPr>
          <p:cNvPr id="15" name="Text 9"/>
          <p:cNvSpPr txBox="1"/>
          <p:nvPr/>
        </p:nvSpPr>
        <p:spPr>
          <a:xfrm>
            <a:off x="1619402" y="5915254"/>
            <a:ext cx="1112825" cy="133502"/>
          </a:xfrm>
          <a:prstGeom prst="rect">
            <a:avLst/>
          </a:prstGeom>
          <a:noFill/>
          <a:ln/>
        </p:spPr>
        <p:txBody>
          <a:bodyPr wrap="none" lIns="0" tIns="0" rIns="0" bIns="0" rtlCol="0" anchor="ctr"/>
          <a:lstStyle/>
          <a:p>
            <a:pPr algn="l" indent="0" marL="0">
              <a:buNone/>
            </a:pPr>
            <a:r>
              <a:rPr lang="en-US" sz="825" dirty="0">
                <a:solidFill>
                  <a:srgbClr val="5C6F7E"/>
                </a:solidFill>
                <a:latin typeface="Quicksand" pitchFamily="34" charset="0"/>
                <a:ea typeface="Quicksand" pitchFamily="34" charset="-122"/>
                <a:cs typeface="Quicksand" pitchFamily="34" charset="-120"/>
              </a:rPr>
              <a:t>Reach MR anytime</a:t>
            </a:r>
            <a:endParaRPr lang="en-US" sz="825" dirty="0"/>
          </a:p>
        </p:txBody>
      </p:sp>
      <p:pic>
        <p:nvPicPr>
          <p:cNvPr id="16" name="Image 4" descr="gen-dedup-a400da5d345e1b599dcb3ba40efe5994.png">    </p:cNvPr>
          <p:cNvPicPr>
            <a:picLocks noChangeAspect="1"/>
          </p:cNvPicPr>
          <p:nvPr/>
        </p:nvPicPr>
        <p:blipFill>
          <a:blip r:embed="rId5"/>
          <a:srcRect l="0" r="0" t="-37" b="-37"/>
          <a:stretch/>
        </p:blipFill>
        <p:spPr>
          <a:xfrm>
            <a:off x="2926994" y="5600700"/>
            <a:ext cx="1841602" cy="609905"/>
          </a:xfrm>
          <a:prstGeom prst="rect">
            <a:avLst/>
          </a:prstGeom>
        </p:spPr>
      </p:pic>
      <p:sp>
        <p:nvSpPr>
          <p:cNvPr id="17" name="Shape 10"/>
          <p:cNvSpPr/>
          <p:nvPr/>
        </p:nvSpPr>
        <p:spPr>
          <a:xfrm>
            <a:off x="3155594" y="5733288"/>
            <a:ext cx="342900" cy="342900"/>
          </a:xfrm>
          <a:prstGeom prst="ellipse">
            <a:avLst/>
          </a:prstGeom>
          <a:solidFill>
            <a:srgbClr val="BBDCC1"/>
          </a:solidFill>
          <a:ln w="12700">
            <a:solidFill>
              <a:srgbClr val="FFFFFF">
                <a:alpha val="0"/>
              </a:srgbClr>
            </a:solidFill>
            <a:prstDash val="solid"/>
          </a:ln>
        </p:spPr>
      </p:sp>
      <p:sp>
        <p:nvSpPr>
          <p:cNvPr id="18" name="Text 11"/>
          <p:cNvSpPr/>
          <p:nvPr/>
        </p:nvSpPr>
        <p:spPr>
          <a:xfrm>
            <a:off x="3155594" y="5733288"/>
            <a:ext cx="342900" cy="342900"/>
          </a:xfrm>
          <a:prstGeom prst="rect">
            <a:avLst/>
          </a:prstGeom>
          <a:solidFill>
            <a:srgbClr val="FFFFFF">
              <a:alpha val="0"/>
            </a:srgbClr>
          </a:solidFill>
          <a:ln>
            <a:solidFill>
              <a:srgbClr val="FFFFFF">
                <a:alpha val="0"/>
              </a:srgbClr>
            </a:solidFill>
          </a:ln>
        </p:spPr>
        <p:txBody>
          <a:bodyPr wrap="none" lIns="0" tIns="0" rIns="0" bIns="0" rtlCol="0" anchor="ctr"/>
          <a:lstStyle/>
          <a:p>
            <a:pPr algn="ctr" indent="0" marL="0">
              <a:buNone/>
            </a:pPr>
            <a:r>
              <a:rPr lang="en-US" sz="1350" b="1" dirty="0">
                <a:solidFill>
                  <a:srgbClr val="2C4252"/>
                </a:solidFill>
                <a:latin typeface="Nunito" pitchFamily="34" charset="0"/>
                <a:ea typeface="Nunito" pitchFamily="34" charset="-122"/>
                <a:cs typeface="Nunito" pitchFamily="34" charset="-120"/>
              </a:rPr>
              <a:t>L</a:t>
            </a:r>
            <a:endParaRPr lang="en-US" sz="1350" dirty="0"/>
          </a:p>
        </p:txBody>
      </p:sp>
      <p:sp>
        <p:nvSpPr>
          <p:cNvPr id="19" name="Text 12"/>
          <p:cNvSpPr txBox="1"/>
          <p:nvPr/>
        </p:nvSpPr>
        <p:spPr>
          <a:xfrm>
            <a:off x="3612794" y="5768950"/>
            <a:ext cx="933602" cy="152705"/>
          </a:xfrm>
          <a:prstGeom prst="rect">
            <a:avLst/>
          </a:prstGeom>
          <a:noFill/>
          <a:ln/>
        </p:spPr>
        <p:txBody>
          <a:bodyPr wrap="none" lIns="0" tIns="0" rIns="0" bIns="0" rtlCol="0" anchor="ctr"/>
          <a:lstStyle/>
          <a:p>
            <a:pPr algn="l" indent="0" marL="0">
              <a:buNone/>
            </a:pPr>
            <a:r>
              <a:rPr lang="en-US" sz="1050" b="1" dirty="0">
                <a:solidFill>
                  <a:srgbClr val="2C4252"/>
                </a:solidFill>
                <a:latin typeface="Nunito" pitchFamily="34" charset="0"/>
                <a:ea typeface="Nunito" pitchFamily="34" charset="-122"/>
                <a:cs typeface="Nunito" pitchFamily="34" charset="-120"/>
              </a:rPr>
              <a:t>The log</a:t>
            </a:r>
            <a:endParaRPr lang="en-US" sz="1050" dirty="0"/>
          </a:p>
        </p:txBody>
      </p:sp>
      <p:sp>
        <p:nvSpPr>
          <p:cNvPr id="20" name="Text 13"/>
          <p:cNvSpPr txBox="1"/>
          <p:nvPr/>
        </p:nvSpPr>
        <p:spPr>
          <a:xfrm>
            <a:off x="3612794" y="5915254"/>
            <a:ext cx="1234440" cy="133502"/>
          </a:xfrm>
          <a:prstGeom prst="rect">
            <a:avLst/>
          </a:prstGeom>
          <a:noFill/>
          <a:ln/>
        </p:spPr>
        <p:txBody>
          <a:bodyPr wrap="none" lIns="0" tIns="0" rIns="0" bIns="0" rtlCol="0" anchor="ctr"/>
          <a:lstStyle/>
          <a:p>
            <a:pPr algn="l" indent="0" marL="0">
              <a:buNone/>
            </a:pPr>
            <a:r>
              <a:rPr lang="en-US" sz="825" dirty="0">
                <a:solidFill>
                  <a:srgbClr val="5C6F7E"/>
                </a:solidFill>
                <a:latin typeface="Quicksand" pitchFamily="34" charset="0"/>
                <a:ea typeface="Quicksand" pitchFamily="34" charset="-122"/>
                <a:cs typeface="Quicksand" pitchFamily="34" charset="-120"/>
              </a:rPr>
              <a:t>Hospital / UC 2025</a:t>
            </a:r>
            <a:endParaRPr lang="en-US" sz="825" dirty="0"/>
          </a:p>
        </p:txBody>
      </p:sp>
      <p:pic>
        <p:nvPicPr>
          <p:cNvPr id="21" name="Image 5" descr="gen-dedup-39c08d11cc1d5fffa022ab0c5b784537.png">    </p:cNvPr>
          <p:cNvPicPr>
            <a:picLocks noChangeAspect="1"/>
          </p:cNvPicPr>
          <p:nvPr/>
        </p:nvPicPr>
        <p:blipFill>
          <a:blip r:embed="rId6"/>
          <a:srcRect l="0" r="0" t="-16" b="-16"/>
          <a:stretch/>
        </p:blipFill>
        <p:spPr>
          <a:xfrm>
            <a:off x="4921301" y="5600700"/>
            <a:ext cx="1682496" cy="609905"/>
          </a:xfrm>
          <a:prstGeom prst="rect">
            <a:avLst/>
          </a:prstGeom>
        </p:spPr>
      </p:pic>
      <p:sp>
        <p:nvSpPr>
          <p:cNvPr id="22" name="Shape 14"/>
          <p:cNvSpPr/>
          <p:nvPr/>
        </p:nvSpPr>
        <p:spPr>
          <a:xfrm>
            <a:off x="5149901" y="5733288"/>
            <a:ext cx="342900" cy="342900"/>
          </a:xfrm>
          <a:prstGeom prst="ellipse">
            <a:avLst/>
          </a:prstGeom>
          <a:solidFill>
            <a:srgbClr val="F4A78B"/>
          </a:solidFill>
          <a:ln w="12700">
            <a:solidFill>
              <a:srgbClr val="FFFFFF">
                <a:alpha val="0"/>
              </a:srgbClr>
            </a:solidFill>
            <a:prstDash val="solid"/>
          </a:ln>
        </p:spPr>
      </p:sp>
      <p:sp>
        <p:nvSpPr>
          <p:cNvPr id="23" name="Text 15"/>
          <p:cNvSpPr/>
          <p:nvPr/>
        </p:nvSpPr>
        <p:spPr>
          <a:xfrm>
            <a:off x="5149901" y="5733288"/>
            <a:ext cx="342900" cy="342900"/>
          </a:xfrm>
          <a:prstGeom prst="rect">
            <a:avLst/>
          </a:prstGeom>
          <a:solidFill>
            <a:srgbClr val="FFFFFF">
              <a:alpha val="0"/>
            </a:srgbClr>
          </a:solidFill>
          <a:ln>
            <a:solidFill>
              <a:srgbClr val="FFFFFF">
                <a:alpha val="0"/>
              </a:srgbClr>
            </a:solidFill>
          </a:ln>
        </p:spPr>
        <p:txBody>
          <a:bodyPr wrap="none" lIns="0" tIns="0" rIns="0" bIns="0" rtlCol="0" anchor="ctr"/>
          <a:lstStyle/>
          <a:p>
            <a:pPr algn="ctr" indent="0" marL="0">
              <a:buNone/>
            </a:pPr>
            <a:r>
              <a:rPr lang="en-US" sz="1350" b="1" dirty="0">
                <a:solidFill>
                  <a:srgbClr val="7A2E1A"/>
                </a:solidFill>
                <a:latin typeface="Nunito" pitchFamily="34" charset="0"/>
                <a:ea typeface="Nunito" pitchFamily="34" charset="-122"/>
                <a:cs typeface="Nunito" pitchFamily="34" charset="-120"/>
              </a:rPr>
              <a:t>M</a:t>
            </a:r>
            <a:endParaRPr lang="en-US" sz="1350" dirty="0"/>
          </a:p>
        </p:txBody>
      </p:sp>
      <p:sp>
        <p:nvSpPr>
          <p:cNvPr id="24" name="Text 16"/>
          <p:cNvSpPr txBox="1"/>
          <p:nvPr/>
        </p:nvSpPr>
        <p:spPr>
          <a:xfrm>
            <a:off x="5607101" y="5768950"/>
            <a:ext cx="771754" cy="152705"/>
          </a:xfrm>
          <a:prstGeom prst="rect">
            <a:avLst/>
          </a:prstGeom>
          <a:noFill/>
          <a:ln/>
        </p:spPr>
        <p:txBody>
          <a:bodyPr wrap="none" lIns="0" tIns="0" rIns="0" bIns="0" rtlCol="0" anchor="ctr"/>
          <a:lstStyle/>
          <a:p>
            <a:pPr algn="l" indent="0" marL="0">
              <a:buNone/>
            </a:pPr>
            <a:r>
              <a:rPr lang="en-US" sz="1050" b="1" dirty="0">
                <a:solidFill>
                  <a:srgbClr val="2C4252"/>
                </a:solidFill>
                <a:latin typeface="Nunito" pitchFamily="34" charset="0"/>
                <a:ea typeface="Nunito" pitchFamily="34" charset="-122"/>
                <a:cs typeface="Nunito" pitchFamily="34" charset="-120"/>
              </a:rPr>
              <a:t>Ask Maria</a:t>
            </a:r>
            <a:endParaRPr lang="en-US" sz="1050" dirty="0"/>
          </a:p>
        </p:txBody>
      </p:sp>
      <p:sp>
        <p:nvSpPr>
          <p:cNvPr id="25" name="Text 17"/>
          <p:cNvSpPr txBox="1"/>
          <p:nvPr/>
        </p:nvSpPr>
        <p:spPr>
          <a:xfrm>
            <a:off x="5607101" y="5915254"/>
            <a:ext cx="1027786" cy="133502"/>
          </a:xfrm>
          <a:prstGeom prst="rect">
            <a:avLst/>
          </a:prstGeom>
          <a:noFill/>
          <a:ln/>
        </p:spPr>
        <p:txBody>
          <a:bodyPr wrap="none" lIns="0" tIns="0" rIns="0" bIns="0" rtlCol="0" anchor="ctr"/>
          <a:lstStyle/>
          <a:p>
            <a:pPr algn="l" indent="0" marL="0">
              <a:buNone/>
            </a:pPr>
            <a:r>
              <a:rPr lang="en-US" sz="825" dirty="0">
                <a:solidFill>
                  <a:srgbClr val="5C6F7E"/>
                </a:solidFill>
                <a:latin typeface="Quicksand" pitchFamily="34" charset="0"/>
                <a:ea typeface="Quicksand" pitchFamily="34" charset="-122"/>
                <a:cs typeface="Quicksand" pitchFamily="34" charset="-120"/>
              </a:rPr>
              <a:t>Your supervisor</a:t>
            </a:r>
            <a:endParaRPr lang="en-US" sz="825" dirty="0"/>
          </a:p>
        </p:txBody>
      </p:sp>
      <p:sp>
        <p:nvSpPr>
          <p:cNvPr id="26" name="Text 18"/>
          <p:cNvSpPr txBox="1"/>
          <p:nvPr/>
        </p:nvSpPr>
        <p:spPr>
          <a:xfrm>
            <a:off x="10076688" y="5584241"/>
            <a:ext cx="2857500" cy="407822"/>
          </a:xfrm>
          <a:prstGeom prst="rect">
            <a:avLst/>
          </a:prstGeom>
          <a:noFill/>
          <a:ln/>
        </p:spPr>
        <p:txBody>
          <a:bodyPr wrap="square" lIns="0" tIns="0" rIns="0" bIns="0" rtlCol="0" anchor="t"/>
          <a:lstStyle/>
          <a:p>
            <a:pPr algn="ctr" indent="0" marL="0">
              <a:lnSpc>
                <a:spcPts val="1522"/>
              </a:lnSpc>
              <a:buNone/>
            </a:pPr>
            <a:r>
              <a:rPr lang="en-US" sz="1050" b="1" i="1" dirty="0">
                <a:solidFill>
                  <a:srgbClr val="3F5566"/>
                </a:solidFill>
                <a:latin typeface="Quicksand" pitchFamily="34" charset="0"/>
                <a:ea typeface="Quicksand" pitchFamily="34" charset="-122"/>
                <a:cs typeface="Quicksand" pitchFamily="34" charset="-120"/>
              </a:rPr>
              <a:t>"Curious is good.</a:t>
            </a:r>
            <a:pPr algn="ctr" indent="0" marL="0">
              <a:lnSpc>
                <a:spcPts val="1522"/>
              </a:lnSpc>
              <a:buNone/>
            </a:pPr>
            <a:endParaRPr lang="en-US" sz="1050" dirty="0"/>
          </a:p>
          <a:p>
            <a:pPr algn="ctr" indent="0" marL="0">
              <a:lnSpc>
                <a:spcPts val="1522"/>
              </a:lnSpc>
              <a:buNone/>
            </a:pPr>
            <a:r>
              <a:rPr lang="en-US" sz="1050" b="1" i="1" dirty="0">
                <a:solidFill>
                  <a:srgbClr val="3F5566"/>
                </a:solidFill>
                <a:latin typeface="Quicksand" pitchFamily="34" charset="0"/>
                <a:ea typeface="Quicksand" pitchFamily="34" charset="-122"/>
                <a:cs typeface="Quicksand" pitchFamily="34" charset="-120"/>
              </a:rPr>
              <a:t>Asking is how you learn."</a:t>
            </a:r>
            <a:endParaRPr lang="en-US" sz="1050" dirty="0"/>
          </a:p>
        </p:txBody>
      </p:sp>
      <p:sp>
        <p:nvSpPr>
          <p:cNvPr id="27" name="Text 19"/>
          <p:cNvSpPr txBox="1"/>
          <p:nvPr/>
        </p:nvSpPr>
        <p:spPr>
          <a:xfrm>
            <a:off x="933602" y="7295998"/>
            <a:ext cx="4453128" cy="171907"/>
          </a:xfrm>
          <a:prstGeom prst="rect">
            <a:avLst/>
          </a:prstGeom>
          <a:noFill/>
          <a:ln/>
        </p:spPr>
        <p:txBody>
          <a:bodyPr wrap="none" lIns="0" tIns="0" rIns="0" bIns="0" rtlCol="0" anchor="ctr"/>
          <a:lstStyle/>
          <a:p>
            <a:pPr algn="l" indent="0" marL="0">
              <a:buNone/>
            </a:pPr>
            <a:r>
              <a:rPr lang="en-US" sz="975" b="1" spc="214" kern="0" dirty="0">
                <a:solidFill>
                  <a:srgbClr val="5C6F7E"/>
                </a:solidFill>
                <a:latin typeface="Nunito" pitchFamily="34" charset="0"/>
                <a:ea typeface="Nunito" pitchFamily="34" charset="-122"/>
                <a:cs typeface="Nunito" pitchFamily="34" charset="-120"/>
              </a:rPr>
              <a:t>Active Physical Therapy · Records Team 2025</a:t>
            </a:r>
            <a:endParaRPr lang="en-US" sz="975"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7F2"/>
        </a:solidFill>
      </p:bgPr>
    </p:bg>
    <p:spTree>
      <p:nvGrpSpPr>
        <p:cNvPr id="1" name=""/>
        <p:cNvGrpSpPr/>
        <p:nvPr/>
      </p:nvGrpSpPr>
      <p:grpSpPr>
        <a:xfrm>
          <a:off x="0" y="0"/>
          <a:ext cx="0" cy="0"/>
          <a:chOff x="0" y="0"/>
          <a:chExt cx="0" cy="0"/>
        </a:xfrm>
      </p:grpSpPr>
      <p:pic>
        <p:nvPicPr>
          <p:cNvPr id="2" name="Image 0" descr="gen-dedup-25ecf035be2ea6b0a4b15601cd4c185f.jpg">    </p:cNvPr>
          <p:cNvPicPr>
            <a:picLocks noChangeAspect="1"/>
          </p:cNvPicPr>
          <p:nvPr/>
        </p:nvPicPr>
        <p:blipFill>
          <a:blip r:embed="rId1"/>
          <a:srcRect l="0" r="0" t="0" b="0"/>
          <a:stretch/>
        </p:blipFill>
        <p:spPr>
          <a:xfrm>
            <a:off x="0" y="0"/>
            <a:ext cx="13715086" cy="7714793"/>
          </a:xfrm>
          <a:prstGeom prst="rect">
            <a:avLst/>
          </a:prstGeom>
        </p:spPr>
      </p:pic>
      <p:pic>
        <p:nvPicPr>
          <p:cNvPr id="3" name="Image 1" descr="gen-dedup-aeafbac4c6f0bf8d0311e2f3c06cd1b1.png">    </p:cNvPr>
          <p:cNvPicPr>
            <a:picLocks noChangeAspect="1"/>
          </p:cNvPicPr>
          <p:nvPr/>
        </p:nvPicPr>
        <p:blipFill>
          <a:blip r:embed="rId2">
            <a:alphaModFix amt="60000"/>
          </a:blip>
          <a:srcRect l="0" r="0" t="0" b="0"/>
          <a:stretch/>
        </p:blipFill>
        <p:spPr>
          <a:xfrm>
            <a:off x="-1524305" y="-1524305"/>
            <a:ext cx="3619195" cy="3619195"/>
          </a:xfrm>
          <a:prstGeom prst="rect">
            <a:avLst/>
          </a:prstGeom>
        </p:spPr>
      </p:pic>
      <p:pic>
        <p:nvPicPr>
          <p:cNvPr id="4" name="Image 2" descr="gen-dedup-091477958c756cb4bc965a7a17597ddd.png">    </p:cNvPr>
          <p:cNvPicPr>
            <a:picLocks noChangeAspect="1"/>
          </p:cNvPicPr>
          <p:nvPr/>
        </p:nvPicPr>
        <p:blipFill>
          <a:blip r:embed="rId3">
            <a:alphaModFix amt="35000"/>
          </a:blip>
          <a:srcRect l="0" r="0" t="0" b="0"/>
          <a:stretch/>
        </p:blipFill>
        <p:spPr>
          <a:xfrm>
            <a:off x="10095890" y="4285793"/>
            <a:ext cx="5143500" cy="5143500"/>
          </a:xfrm>
          <a:prstGeom prst="rect">
            <a:avLst/>
          </a:prstGeom>
        </p:spPr>
      </p:pic>
      <p:sp>
        <p:nvSpPr>
          <p:cNvPr id="5" name="Text 0"/>
          <p:cNvSpPr txBox="1"/>
          <p:nvPr/>
        </p:nvSpPr>
        <p:spPr>
          <a:xfrm>
            <a:off x="1619402" y="2027225"/>
            <a:ext cx="10477195" cy="210312"/>
          </a:xfrm>
          <a:prstGeom prst="rect">
            <a:avLst/>
          </a:prstGeom>
          <a:noFill/>
          <a:ln/>
        </p:spPr>
        <p:txBody>
          <a:bodyPr wrap="none" lIns="0" tIns="0" rIns="0" bIns="0" rtlCol="0" anchor="ctr"/>
          <a:lstStyle/>
          <a:p>
            <a:pPr algn="ctr" indent="0" marL="0">
              <a:buNone/>
            </a:pPr>
            <a:r>
              <a:rPr lang="en-US" sz="1200" b="1" spc="384" kern="0" dirty="0">
                <a:solidFill>
                  <a:srgbClr val="4B7FC2"/>
                </a:solidFill>
                <a:latin typeface="Nunito" pitchFamily="34" charset="0"/>
                <a:ea typeface="Nunito" pitchFamily="34" charset="-122"/>
                <a:cs typeface="Nunito" pitchFamily="34" charset="-120"/>
              </a:rPr>
              <a:t>Welcome to the team</a:t>
            </a:r>
            <a:endParaRPr lang="en-US" sz="1200" dirty="0"/>
          </a:p>
        </p:txBody>
      </p:sp>
      <p:sp>
        <p:nvSpPr>
          <p:cNvPr id="6" name="Text 1"/>
          <p:cNvSpPr txBox="1"/>
          <p:nvPr/>
        </p:nvSpPr>
        <p:spPr>
          <a:xfrm>
            <a:off x="1619402" y="2407615"/>
            <a:ext cx="10477195" cy="1143000"/>
          </a:xfrm>
          <a:prstGeom prst="rect">
            <a:avLst/>
          </a:prstGeom>
          <a:noFill/>
          <a:ln/>
        </p:spPr>
        <p:txBody>
          <a:bodyPr wrap="none" lIns="0" tIns="0" rIns="0" bIns="0" rtlCol="0" anchor="ctr"/>
          <a:lstStyle/>
          <a:p>
            <a:pPr algn="ctr" indent="0" marL="0">
              <a:buNone/>
            </a:pPr>
            <a:r>
              <a:rPr lang="en-US" sz="8999" b="1" spc="-360" kern="0" dirty="0">
                <a:solidFill>
                  <a:srgbClr val="2C4252"/>
                </a:solidFill>
                <a:latin typeface="Nunito" pitchFamily="34" charset="0"/>
                <a:ea typeface="Nunito" pitchFamily="34" charset="-122"/>
                <a:cs typeface="Nunito" pitchFamily="34" charset="-120"/>
              </a:rPr>
              <a:t>Thank </a:t>
            </a:r>
            <a:pPr algn="ctr" indent="0" marL="0">
              <a:buNone/>
            </a:pPr>
            <a:r>
              <a:rPr lang="en-US" sz="8999" b="1" i="1" spc="-360" kern="0" dirty="0">
                <a:solidFill>
                  <a:srgbClr val="4B7FC2"/>
                </a:solidFill>
                <a:latin typeface="Nunito" pitchFamily="34" charset="0"/>
                <a:ea typeface="Nunito" pitchFamily="34" charset="-122"/>
                <a:cs typeface="Nunito" pitchFamily="34" charset="-120"/>
              </a:rPr>
              <a:t>you.</a:t>
            </a:r>
            <a:endParaRPr lang="en-US" sz="8999" dirty="0"/>
          </a:p>
        </p:txBody>
      </p:sp>
      <p:sp>
        <p:nvSpPr>
          <p:cNvPr id="7" name="Text 2"/>
          <p:cNvSpPr txBox="1"/>
          <p:nvPr/>
        </p:nvSpPr>
        <p:spPr>
          <a:xfrm>
            <a:off x="3237890" y="3779215"/>
            <a:ext cx="7239305" cy="676656"/>
          </a:xfrm>
          <a:prstGeom prst="rect">
            <a:avLst/>
          </a:prstGeom>
          <a:noFill/>
          <a:ln/>
        </p:spPr>
        <p:txBody>
          <a:bodyPr wrap="square" lIns="0" tIns="0" rIns="0" bIns="0" rtlCol="0" anchor="ctr"/>
          <a:lstStyle/>
          <a:p>
            <a:pPr algn="ctr" indent="0" marL="0">
              <a:lnSpc>
                <a:spcPts val="2640"/>
              </a:lnSpc>
              <a:buNone/>
            </a:pPr>
            <a:r>
              <a:rPr lang="en-US" sz="1650" dirty="0">
                <a:solidFill>
                  <a:srgbClr val="3F5566"/>
                </a:solidFill>
                <a:latin typeface="Quicksand" pitchFamily="34" charset="0"/>
                <a:ea typeface="Quicksand" pitchFamily="34" charset="-122"/>
                <a:cs typeface="Quicksand" pitchFamily="34" charset="-120"/>
              </a:rPr>
              <a:t>You're going to help real people get back to their everyday living — one record at a time. We're so glad you're here.</a:t>
            </a:r>
            <a:endParaRPr lang="en-US" sz="1650" dirty="0"/>
          </a:p>
        </p:txBody>
      </p:sp>
      <p:sp>
        <p:nvSpPr>
          <p:cNvPr id="8" name="Shape 3"/>
          <p:cNvSpPr/>
          <p:nvPr/>
        </p:nvSpPr>
        <p:spPr>
          <a:xfrm>
            <a:off x="5636362" y="5001768"/>
            <a:ext cx="513893" cy="513893"/>
          </a:xfrm>
          <a:prstGeom prst="roundRect">
            <a:avLst>
              <a:gd name="adj" fmla="val 29715"/>
            </a:avLst>
          </a:prstGeom>
          <a:solidFill>
            <a:srgbClr val="4B7FC2"/>
          </a:solidFill>
          <a:ln w="12700">
            <a:solidFill>
              <a:srgbClr val="FFFFFF">
                <a:alpha val="0"/>
              </a:srgbClr>
            </a:solidFill>
            <a:prstDash val="solid"/>
          </a:ln>
        </p:spPr>
      </p:sp>
      <p:sp>
        <p:nvSpPr>
          <p:cNvPr id="9" name="Text 4"/>
          <p:cNvSpPr/>
          <p:nvPr/>
        </p:nvSpPr>
        <p:spPr>
          <a:xfrm>
            <a:off x="5636362" y="5001768"/>
            <a:ext cx="514807" cy="514807"/>
          </a:xfrm>
          <a:prstGeom prst="rect">
            <a:avLst/>
          </a:prstGeom>
          <a:solidFill>
            <a:srgbClr val="FFFFFF">
              <a:alpha val="0"/>
            </a:srgbClr>
          </a:solidFill>
          <a:ln>
            <a:solidFill>
              <a:srgbClr val="FFFFFF">
                <a:alpha val="0"/>
              </a:srgbClr>
            </a:solidFill>
          </a:ln>
        </p:spPr>
        <p:txBody>
          <a:bodyPr wrap="none" lIns="0" tIns="0" rIns="0" bIns="0" rtlCol="0" anchor="ctr"/>
          <a:lstStyle/>
          <a:p>
            <a:pPr algn="ctr" indent="0" marL="0">
              <a:buNone/>
            </a:pPr>
            <a:r>
              <a:rPr lang="en-US" sz="1650" b="1" dirty="0">
                <a:solidFill>
                  <a:srgbClr val="FFFFFF"/>
                </a:solidFill>
                <a:latin typeface="Nunito" pitchFamily="34" charset="0"/>
                <a:ea typeface="Nunito" pitchFamily="34" charset="-122"/>
                <a:cs typeface="Nunito" pitchFamily="34" charset="-120"/>
              </a:rPr>
              <a:t>APT</a:t>
            </a:r>
            <a:endParaRPr lang="en-US" sz="1650" dirty="0"/>
          </a:p>
        </p:txBody>
      </p:sp>
      <p:sp>
        <p:nvSpPr>
          <p:cNvPr id="10" name="Text 5"/>
          <p:cNvSpPr txBox="1"/>
          <p:nvPr/>
        </p:nvSpPr>
        <p:spPr>
          <a:xfrm>
            <a:off x="6322162" y="5087722"/>
            <a:ext cx="2097634" cy="191110"/>
          </a:xfrm>
          <a:prstGeom prst="rect">
            <a:avLst/>
          </a:prstGeom>
          <a:noFill/>
          <a:ln/>
        </p:spPr>
        <p:txBody>
          <a:bodyPr wrap="none" lIns="0" tIns="0" rIns="0" bIns="0" rtlCol="0" anchor="ctr"/>
          <a:lstStyle/>
          <a:p>
            <a:pPr algn="l" indent="0" marL="0">
              <a:buNone/>
            </a:pPr>
            <a:r>
              <a:rPr lang="en-US" sz="1125" b="1" spc="45" kern="0" dirty="0">
                <a:solidFill>
                  <a:srgbClr val="2C4252"/>
                </a:solidFill>
                <a:latin typeface="Nunito" pitchFamily="34" charset="0"/>
                <a:ea typeface="Nunito" pitchFamily="34" charset="-122"/>
                <a:cs typeface="Nunito" pitchFamily="34" charset="-120"/>
              </a:rPr>
              <a:t>Active Physical Therapy</a:t>
            </a:r>
            <a:endParaRPr lang="en-US" sz="1125" dirty="0"/>
          </a:p>
        </p:txBody>
      </p:sp>
      <p:sp>
        <p:nvSpPr>
          <p:cNvPr id="11" name="Text 6"/>
          <p:cNvSpPr txBox="1"/>
          <p:nvPr/>
        </p:nvSpPr>
        <p:spPr>
          <a:xfrm>
            <a:off x="6322162" y="5277917"/>
            <a:ext cx="1762049" cy="152705"/>
          </a:xfrm>
          <a:prstGeom prst="rect">
            <a:avLst/>
          </a:prstGeom>
          <a:noFill/>
          <a:ln/>
        </p:spPr>
        <p:txBody>
          <a:bodyPr wrap="none" lIns="0" tIns="0" rIns="0" bIns="0" rtlCol="0" anchor="ctr"/>
          <a:lstStyle/>
          <a:p>
            <a:pPr algn="l" indent="0" marL="0">
              <a:buNone/>
            </a:pPr>
            <a:r>
              <a:rPr lang="en-US" sz="975" dirty="0">
                <a:solidFill>
                  <a:srgbClr val="5C6F7E"/>
                </a:solidFill>
                <a:latin typeface="Quicksand" pitchFamily="34" charset="0"/>
                <a:ea typeface="Quicksand" pitchFamily="34" charset="-122"/>
                <a:cs typeface="Quicksand" pitchFamily="34" charset="-120"/>
              </a:rPr>
              <a:t>Records Team — 2025</a:t>
            </a:r>
            <a:endParaRPr lang="en-US" sz="975" dirty="0"/>
          </a:p>
        </p:txBody>
      </p:sp>
      <p:pic>
        <p:nvPicPr>
          <p:cNvPr id="12" name="Image 3" descr="gen-dedup-2af70ff3ec893b8c4e59e53fbb051030.png">    </p:cNvPr>
          <p:cNvPicPr>
            <a:picLocks noChangeAspect="1"/>
          </p:cNvPicPr>
          <p:nvPr/>
        </p:nvPicPr>
        <p:blipFill>
          <a:blip r:embed="rId4"/>
          <a:srcRect l="-18" r="-18" t="0" b="0"/>
          <a:stretch/>
        </p:blipFill>
        <p:spPr>
          <a:xfrm>
            <a:off x="5388559" y="4830775"/>
            <a:ext cx="2937053" cy="856793"/>
          </a:xfrm>
          <a:prstGeom prst="rect">
            <a:avLst/>
          </a:prstGeom>
        </p:spPr>
      </p:pic>
      <p:sp>
        <p:nvSpPr>
          <p:cNvPr id="13" name="Shape 7"/>
          <p:cNvSpPr/>
          <p:nvPr/>
        </p:nvSpPr>
        <p:spPr>
          <a:xfrm>
            <a:off x="5063033" y="6828739"/>
            <a:ext cx="809244" cy="362102"/>
          </a:xfrm>
          <a:prstGeom prst="roundRect">
            <a:avLst>
              <a:gd name="adj" fmla="val 50000"/>
            </a:avLst>
          </a:prstGeom>
          <a:solidFill>
            <a:srgbClr val="FFFFFF"/>
          </a:solidFill>
          <a:ln w="12700">
            <a:solidFill>
              <a:srgbClr val="FFFFFF">
                <a:alpha val="0"/>
              </a:srgbClr>
            </a:solidFill>
            <a:prstDash val="solid"/>
          </a:ln>
        </p:spPr>
      </p:sp>
      <p:sp>
        <p:nvSpPr>
          <p:cNvPr id="14" name="Text 8"/>
          <p:cNvSpPr/>
          <p:nvPr/>
        </p:nvSpPr>
        <p:spPr>
          <a:xfrm>
            <a:off x="5063033" y="6828739"/>
            <a:ext cx="810158" cy="362102"/>
          </a:xfrm>
          <a:prstGeom prst="rect">
            <a:avLst/>
          </a:prstGeom>
          <a:solidFill>
            <a:srgbClr val="FFFFFF">
              <a:alpha val="0"/>
            </a:srgbClr>
          </a:solidFill>
          <a:ln>
            <a:solidFill>
              <a:srgbClr val="FFFFFF">
                <a:alpha val="0"/>
              </a:srgbClr>
            </a:solidFill>
          </a:ln>
        </p:spPr>
        <p:txBody>
          <a:bodyPr wrap="none" lIns="190500" tIns="88900" rIns="190500" bIns="88900" rtlCol="0" anchor="ctr"/>
          <a:lstStyle/>
          <a:p>
            <a:pPr algn="ctr" indent="0" marL="0">
              <a:buNone/>
            </a:pPr>
            <a:r>
              <a:rPr lang="en-US" sz="975" b="1" spc="175" kern="0" dirty="0">
                <a:solidFill>
                  <a:srgbClr val="2C4252"/>
                </a:solidFill>
                <a:latin typeface="Nunito" pitchFamily="34" charset="0"/>
                <a:ea typeface="Nunito" pitchFamily="34" charset="-122"/>
                <a:cs typeface="Nunito" pitchFamily="34" charset="-120"/>
              </a:rPr>
              <a:t>CARE</a:t>
            </a:r>
            <a:endParaRPr lang="en-US" sz="975" dirty="0"/>
          </a:p>
        </p:txBody>
      </p:sp>
      <p:sp>
        <p:nvSpPr>
          <p:cNvPr id="15" name="Shape 9"/>
          <p:cNvSpPr/>
          <p:nvPr/>
        </p:nvSpPr>
        <p:spPr>
          <a:xfrm>
            <a:off x="5981090" y="6828739"/>
            <a:ext cx="1057046" cy="362102"/>
          </a:xfrm>
          <a:prstGeom prst="roundRect">
            <a:avLst>
              <a:gd name="adj" fmla="val 50000"/>
            </a:avLst>
          </a:prstGeom>
          <a:solidFill>
            <a:srgbClr val="FFFFFF"/>
          </a:solidFill>
          <a:ln w="12700">
            <a:solidFill>
              <a:srgbClr val="FFFFFF">
                <a:alpha val="0"/>
              </a:srgbClr>
            </a:solidFill>
            <a:prstDash val="solid"/>
          </a:ln>
        </p:spPr>
      </p:sp>
      <p:sp>
        <p:nvSpPr>
          <p:cNvPr id="16" name="Text 10"/>
          <p:cNvSpPr/>
          <p:nvPr/>
        </p:nvSpPr>
        <p:spPr>
          <a:xfrm>
            <a:off x="5981090" y="6828739"/>
            <a:ext cx="1057961" cy="362102"/>
          </a:xfrm>
          <a:prstGeom prst="rect">
            <a:avLst/>
          </a:prstGeom>
          <a:solidFill>
            <a:srgbClr val="FFFFFF">
              <a:alpha val="0"/>
            </a:srgbClr>
          </a:solidFill>
          <a:ln>
            <a:solidFill>
              <a:srgbClr val="FFFFFF">
                <a:alpha val="0"/>
              </a:srgbClr>
            </a:solidFill>
          </a:ln>
        </p:spPr>
        <p:txBody>
          <a:bodyPr wrap="none" lIns="190500" tIns="88900" rIns="190500" bIns="88900" rtlCol="0" anchor="ctr"/>
          <a:lstStyle/>
          <a:p>
            <a:pPr algn="ctr" indent="0" marL="0">
              <a:buNone/>
            </a:pPr>
            <a:r>
              <a:rPr lang="en-US" sz="975" b="1" spc="175" kern="0" dirty="0">
                <a:solidFill>
                  <a:srgbClr val="2C4252"/>
                </a:solidFill>
                <a:latin typeface="Nunito" pitchFamily="34" charset="0"/>
                <a:ea typeface="Nunito" pitchFamily="34" charset="-122"/>
                <a:cs typeface="Nunito" pitchFamily="34" charset="-120"/>
              </a:rPr>
              <a:t>CLARITY</a:t>
            </a:r>
            <a:endParaRPr lang="en-US" sz="975" dirty="0"/>
          </a:p>
        </p:txBody>
      </p:sp>
      <p:sp>
        <p:nvSpPr>
          <p:cNvPr id="17" name="Shape 11"/>
          <p:cNvSpPr/>
          <p:nvPr/>
        </p:nvSpPr>
        <p:spPr>
          <a:xfrm>
            <a:off x="7151522" y="6828739"/>
            <a:ext cx="1505102" cy="362102"/>
          </a:xfrm>
          <a:prstGeom prst="roundRect">
            <a:avLst>
              <a:gd name="adj" fmla="val 50000"/>
            </a:avLst>
          </a:prstGeom>
          <a:solidFill>
            <a:srgbClr val="4B7FC2"/>
          </a:solidFill>
          <a:ln w="12700">
            <a:solidFill>
              <a:srgbClr val="FFFFFF">
                <a:alpha val="0"/>
              </a:srgbClr>
            </a:solidFill>
            <a:prstDash val="solid"/>
          </a:ln>
        </p:spPr>
      </p:sp>
      <p:sp>
        <p:nvSpPr>
          <p:cNvPr id="18" name="Text 12"/>
          <p:cNvSpPr/>
          <p:nvPr/>
        </p:nvSpPr>
        <p:spPr>
          <a:xfrm>
            <a:off x="7151522" y="6828739"/>
            <a:ext cx="1505102" cy="362102"/>
          </a:xfrm>
          <a:prstGeom prst="rect">
            <a:avLst/>
          </a:prstGeom>
          <a:solidFill>
            <a:srgbClr val="FFFFFF">
              <a:alpha val="0"/>
            </a:srgbClr>
          </a:solidFill>
          <a:ln>
            <a:solidFill>
              <a:srgbClr val="FFFFFF">
                <a:alpha val="0"/>
              </a:srgbClr>
            </a:solidFill>
          </a:ln>
        </p:spPr>
        <p:txBody>
          <a:bodyPr wrap="none" lIns="190500" tIns="88900" rIns="190500" bIns="88900" rtlCol="0" anchor="ctr"/>
          <a:lstStyle/>
          <a:p>
            <a:pPr algn="ctr" indent="0" marL="0">
              <a:buNone/>
            </a:pPr>
            <a:r>
              <a:rPr lang="en-US" sz="975" b="1" spc="175" kern="0" dirty="0">
                <a:solidFill>
                  <a:srgbClr val="FFFFFF"/>
                </a:solidFill>
                <a:latin typeface="Nunito" pitchFamily="34" charset="0"/>
                <a:ea typeface="Nunito" pitchFamily="34" charset="-122"/>
                <a:cs typeface="Nunito" pitchFamily="34" charset="-120"/>
              </a:rPr>
              <a:t>CONSISTENCY</a:t>
            </a:r>
            <a:endParaRPr lang="en-US" sz="97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Generated by Gen-Spark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Multi-page HTML Content</dc:title>
  <dc:subject>PptxGenJS Presentation</dc:subject>
  <dc:creator>Visual Extract to PPTX Converter</dc:creator>
  <cp:lastModifiedBy>Visual Extract to PPTX Converter</cp:lastModifiedBy>
  <cp:revision>1</cp:revision>
  <dcterms:created xsi:type="dcterms:W3CDTF">2026-08-25T17:34:37Z</dcterms:created>
  <dcterms:modified xsi:type="dcterms:W3CDTF">2026-08-25T17:34:37Z</dcterms:modified>
</cp:coreProperties>
</file>